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02" y="-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123B66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9966958" y="-1737362"/>
            <a:ext cx="3840484" cy="3840484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" name="Shape 2"/>
          <p:cNvSpPr/>
          <p:nvPr/>
        </p:nvSpPr>
        <p:spPr>
          <a:xfrm>
            <a:off x="-1188721" y="5120640"/>
            <a:ext cx="2377444" cy="237744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3" name="Text 3"/>
          <p:cNvSpPr txBox="1"/>
          <p:nvPr/>
        </p:nvSpPr>
        <p:spPr>
          <a:xfrm>
            <a:off x="502919" y="625278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150">
                <a:solidFill>
                  <a:srgbClr val="1E88E5"/>
                </a:solidFill>
              </a:defRPr>
            </a:lvl1pPr>
          </a:lstStyle>
          <a:p>
            <a:r>
              <a:t>AWS INNOVATION CHALLENGE 2026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502919" y="1795343"/>
            <a:ext cx="10515601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200" b="1">
                <a:solidFill>
                  <a:srgbClr val="123B66"/>
                </a:solidFill>
              </a:defRPr>
            </a:lvl1pPr>
          </a:lstStyle>
          <a:p>
            <a:r>
              <a:rPr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JIVA:</a:t>
            </a:r>
            <a:r>
              <a:rPr sz="4000" dirty="0"/>
              <a:t> Real-Time Healthcare Coordination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502919" y="2517609"/>
            <a:ext cx="1051560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 b="1">
                <a:solidFill>
                  <a:srgbClr val="1E88E5"/>
                </a:solidFill>
              </a:defRPr>
            </a:lvl1pPr>
          </a:lstStyle>
          <a:p>
            <a:r>
              <a:rPr lang="en-IN" dirty="0"/>
              <a:t>Team Name: </a:t>
            </a:r>
            <a:r>
              <a:rPr lang="en-IN" dirty="0">
                <a:solidFill>
                  <a:schemeClr val="tx1"/>
                </a:solidFill>
              </a:rPr>
              <a:t>M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</a:t>
            </a:r>
            <a:r>
              <a:rPr lang="en-IN" dirty="0">
                <a:solidFill>
                  <a:schemeClr val="tx1"/>
                </a:solidFill>
              </a:rPr>
              <a:t>n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</a:t>
            </a:r>
            <a:r>
              <a:rPr lang="en-IN" dirty="0">
                <a:solidFill>
                  <a:schemeClr val="tx1"/>
                </a:solidFill>
              </a:rPr>
              <a:t>c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</a:t>
            </a:r>
            <a:r>
              <a:rPr lang="en-IN" dirty="0">
                <a:solidFill>
                  <a:schemeClr val="tx1"/>
                </a:solidFill>
              </a:rPr>
              <a:t>r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</a:t>
            </a:r>
            <a:r>
              <a:rPr lang="en-IN" dirty="0">
                <a:solidFill>
                  <a:schemeClr val="tx1"/>
                </a:solidFill>
              </a:rPr>
              <a:t>m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Shape 7"/>
          <p:cNvSpPr/>
          <p:nvPr/>
        </p:nvSpPr>
        <p:spPr>
          <a:xfrm>
            <a:off x="502919" y="3108960"/>
            <a:ext cx="10149842" cy="960122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" name="Text 8"/>
          <p:cNvSpPr txBox="1"/>
          <p:nvPr/>
        </p:nvSpPr>
        <p:spPr>
          <a:xfrm>
            <a:off x="777240" y="3269024"/>
            <a:ext cx="96012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E88E5"/>
                </a:solidFill>
              </a:defRPr>
            </a:lvl1pPr>
          </a:lstStyle>
          <a:p>
            <a:r>
              <a:rPr dirty="0"/>
              <a:t>ONE-LINE SOLUTION STATEMENT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777240" y="3560000"/>
            <a:ext cx="9601201" cy="4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500" i="1">
                <a:solidFill>
                  <a:srgbClr val="17202A"/>
                </a:solidFill>
              </a:defRPr>
            </a:lvl1pPr>
          </a:lstStyle>
          <a:p>
            <a:r>
              <a:rPr sz="1300" dirty="0"/>
              <a:t>An event-driven layer that keeps a shared, timestamped care state for patients, ambulances and hospitals, and routes an ambulance using a hospital's explicit acceptance response, re-deciding when that state changes.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502918" y="4402880"/>
            <a:ext cx="36576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23B66"/>
                </a:solidFill>
              </a:defRPr>
            </a:lvl1pPr>
          </a:lstStyle>
          <a:p>
            <a:r>
              <a:t>TEAM MEMBERS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502919" y="4692878"/>
            <a:ext cx="1051560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i="1">
                <a:solidFill>
                  <a:srgbClr val="17202A"/>
                </a:solidFill>
              </a:defRPr>
            </a:lvl1pPr>
          </a:lstStyle>
          <a:p>
            <a:r>
              <a:rPr lang="en-IN" dirty="0"/>
              <a:t>Yukith M Joseph  </a:t>
            </a:r>
            <a:r>
              <a:rPr dirty="0"/>
              <a:t>•   </a:t>
            </a:r>
            <a:r>
              <a:rPr lang="en-IN" dirty="0"/>
              <a:t>Pranathi Nagabhushana</a:t>
            </a:r>
            <a:endParaRPr dirty="0"/>
          </a:p>
        </p:txBody>
      </p:sp>
      <p:sp>
        <p:nvSpPr>
          <p:cNvPr id="31" name="Shape 12"/>
          <p:cNvSpPr/>
          <p:nvPr/>
        </p:nvSpPr>
        <p:spPr>
          <a:xfrm>
            <a:off x="502918" y="5256021"/>
            <a:ext cx="10149844" cy="12701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2" name="Text 15"/>
          <p:cNvSpPr txBox="1"/>
          <p:nvPr/>
        </p:nvSpPr>
        <p:spPr>
          <a:xfrm>
            <a:off x="502919" y="6332263"/>
            <a:ext cx="10515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667085"/>
                </a:solidFill>
              </a:defRPr>
            </a:lvl1pPr>
          </a:lstStyle>
          <a:p>
            <a:r>
              <a:t>Prototype draft: working local demo on synthetic data; AWS architecture designed (CDK), not deployed.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5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100">
                <a:solidFill>
                  <a:srgbClr val="1E88E5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36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23B66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37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23B66"/>
                </a:solidFill>
              </a:defRPr>
            </a:lvl1pPr>
          </a:lstStyle>
          <a:p>
            <a:r>
              <a:rPr dirty="0"/>
              <a:t>15 POINTS</a:t>
            </a:r>
          </a:p>
        </p:txBody>
      </p:sp>
      <p:sp>
        <p:nvSpPr>
          <p:cNvPr id="39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0" name="Text 6"/>
          <p:cNvSpPr txBox="1"/>
          <p:nvPr/>
        </p:nvSpPr>
        <p:spPr>
          <a:xfrm>
            <a:off x="502920" y="1569641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THE PROBLEM</a:t>
            </a:r>
          </a:p>
        </p:txBody>
      </p:sp>
      <p:sp>
        <p:nvSpPr>
          <p:cNvPr id="41" name="Text 7"/>
          <p:cNvSpPr txBox="1"/>
          <p:nvPr/>
        </p:nvSpPr>
        <p:spPr>
          <a:xfrm>
            <a:off x="502920" y="1783078"/>
            <a:ext cx="8378646" cy="4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t>Emergency care involves several parties, each holding a partial view that is updated at different times. No shared, current picture of the case exists.</a:t>
            </a:r>
          </a:p>
        </p:txBody>
      </p:sp>
      <p:sp>
        <p:nvSpPr>
          <p:cNvPr id="42" name="Text 8"/>
          <p:cNvSpPr txBox="1"/>
          <p:nvPr/>
        </p:nvSpPr>
        <p:spPr>
          <a:xfrm>
            <a:off x="502920" y="2415462"/>
            <a:ext cx="837864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rPr dirty="0"/>
              <a:t>TARGET USERS</a:t>
            </a:r>
          </a:p>
        </p:txBody>
      </p:sp>
      <p:sp>
        <p:nvSpPr>
          <p:cNvPr id="43" name="Text 9"/>
          <p:cNvSpPr txBox="1"/>
          <p:nvPr/>
        </p:nvSpPr>
        <p:spPr>
          <a:xfrm>
            <a:off x="502920" y="2628899"/>
            <a:ext cx="8378646" cy="2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rPr dirty="0"/>
              <a:t>Patients and families  ·  ambulance teams  ·  hospital emergency teams  ·  emergency / care coordinators</a:t>
            </a:r>
          </a:p>
        </p:txBody>
      </p:sp>
      <p:sp>
        <p:nvSpPr>
          <p:cNvPr id="44" name="Text 10"/>
          <p:cNvSpPr txBox="1"/>
          <p:nvPr/>
        </p:nvSpPr>
        <p:spPr>
          <a:xfrm>
            <a:off x="502920" y="3261281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CURRENT SITUATION</a:t>
            </a:r>
          </a:p>
        </p:txBody>
      </p:sp>
      <p:sp>
        <p:nvSpPr>
          <p:cNvPr id="45" name="Text 11"/>
          <p:cNvSpPr txBox="1"/>
          <p:nvPr/>
        </p:nvSpPr>
        <p:spPr>
          <a:xfrm>
            <a:off x="502920" y="3474720"/>
            <a:ext cx="8378646" cy="4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rPr dirty="0"/>
              <a:t>Coordination depends on disconnected, point-in-time updates. A hospital's listed capability or bed count does not confirm that it can accept this patient now.</a:t>
            </a:r>
          </a:p>
        </p:txBody>
      </p:sp>
      <p:sp>
        <p:nvSpPr>
          <p:cNvPr id="46" name="Text 12"/>
          <p:cNvSpPr txBox="1"/>
          <p:nvPr/>
        </p:nvSpPr>
        <p:spPr>
          <a:xfrm>
            <a:off x="502920" y="3974767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KEY GAPS</a:t>
            </a:r>
          </a:p>
        </p:txBody>
      </p:sp>
      <p:sp>
        <p:nvSpPr>
          <p:cNvPr id="47" name="Text 13"/>
          <p:cNvSpPr txBox="1"/>
          <p:nvPr/>
        </p:nvSpPr>
        <p:spPr>
          <a:xfrm>
            <a:off x="502920" y="4188205"/>
            <a:ext cx="8378646" cy="4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t>Stale information  ·  fragmented systems  ·  uncertain hospital acceptance</a:t>
            </a:r>
          </a:p>
          <a:p>
            <a:r>
              <a:t>No shared real-time care state  ·  hard to respond when conditions change en route</a:t>
            </a:r>
          </a:p>
        </p:txBody>
      </p:sp>
      <p:sp>
        <p:nvSpPr>
          <p:cNvPr id="48" name="Shape 14"/>
          <p:cNvSpPr/>
          <p:nvPr/>
        </p:nvSpPr>
        <p:spPr>
          <a:xfrm>
            <a:off x="502919" y="4937759"/>
            <a:ext cx="8378649" cy="77724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das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Text 15"/>
          <p:cNvSpPr txBox="1"/>
          <p:nvPr/>
        </p:nvSpPr>
        <p:spPr>
          <a:xfrm>
            <a:off x="777239" y="5090000"/>
            <a:ext cx="7830009" cy="5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 algn="ctr">
              <a:defRPr sz="1100" i="1">
                <a:solidFill>
                  <a:srgbClr val="667085"/>
                </a:solidFill>
              </a:defRPr>
            </a:lvl1pPr>
          </a:lstStyle>
          <a:p>
            <a:r>
              <a:rPr sz="1100" dirty="0"/>
              <a:t>Evidence from our own data work: public hospital directories (Govt. of Karnataka, BBMP) list facilities but not live capacity, so JIVA marks their operational state UNKNOWN. [TEAM: add a sourced external statistic here if available]</a:t>
            </a:r>
          </a:p>
        </p:txBody>
      </p:sp>
      <p:sp>
        <p:nvSpPr>
          <p:cNvPr id="57" name="Shape 23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8" name="Text 24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r>
              <a:t>AWS INNOVATION CHALLENGE  |   ONLINE SHORTLISTING   |   2026</a:t>
            </a:r>
          </a:p>
        </p:txBody>
      </p:sp>
      <p:sp>
        <p:nvSpPr>
          <p:cNvPr id="59" name="Text 25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2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100">
                <a:solidFill>
                  <a:srgbClr val="1E88E5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63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23B66"/>
                </a:solidFill>
              </a:defRPr>
            </a:lvl1pPr>
          </a:lstStyle>
          <a:p>
            <a:r>
              <a:t>PROPOSED SOLUTION</a:t>
            </a:r>
          </a:p>
        </p:txBody>
      </p:sp>
      <p:sp>
        <p:nvSpPr>
          <p:cNvPr id="64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5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23B66"/>
                </a:solidFill>
              </a:defRPr>
            </a:lvl1pPr>
          </a:lstStyle>
          <a:p>
            <a:r>
              <a:t>20 POINTS</a:t>
            </a:r>
          </a:p>
        </p:txBody>
      </p:sp>
      <p:sp>
        <p:nvSpPr>
          <p:cNvPr id="66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7" name="Text 6"/>
          <p:cNvSpPr txBox="1"/>
          <p:nvPr/>
        </p:nvSpPr>
        <p:spPr>
          <a:xfrm>
            <a:off x="502920" y="1569641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OUR SOLUTION</a:t>
            </a:r>
          </a:p>
        </p:txBody>
      </p:sp>
      <p:sp>
        <p:nvSpPr>
          <p:cNvPr id="68" name="Text 7"/>
          <p:cNvSpPr txBox="1"/>
          <p:nvPr/>
        </p:nvSpPr>
        <p:spPr>
          <a:xfrm>
            <a:off x="502920" y="1783078"/>
            <a:ext cx="8378646" cy="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rPr sz="1050" dirty="0"/>
              <a:t>JIVA is an event-driven coordination layer: each patient, ambulance and hospital update becomes a validated event that updates a shared, timestamped care state. Rather than assuming a hospital is available, JIVA sends a case-specific acceptance request and routes the ambulance using the hospital's actual response, re-deciding when that state changes.</a:t>
            </a:r>
          </a:p>
        </p:txBody>
      </p:sp>
      <p:sp>
        <p:nvSpPr>
          <p:cNvPr id="69" name="Text 8"/>
          <p:cNvSpPr txBox="1"/>
          <p:nvPr/>
        </p:nvSpPr>
        <p:spPr>
          <a:xfrm>
            <a:off x="502918" y="2346881"/>
            <a:ext cx="45720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HOW IT WORKS</a:t>
            </a:r>
          </a:p>
        </p:txBody>
      </p:sp>
      <p:sp>
        <p:nvSpPr>
          <p:cNvPr id="70" name="Shape 9"/>
          <p:cNvSpPr/>
          <p:nvPr/>
        </p:nvSpPr>
        <p:spPr>
          <a:xfrm>
            <a:off x="502919" y="2587750"/>
            <a:ext cx="8378649" cy="1965962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3EAF2"/>
            </a:solidFill>
            <a:prstDash val="das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2" name="Text 11"/>
          <p:cNvSpPr txBox="1"/>
          <p:nvPr/>
        </p:nvSpPr>
        <p:spPr>
          <a:xfrm>
            <a:off x="502918" y="4815761"/>
            <a:ext cx="45720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KEY FEATURES</a:t>
            </a:r>
          </a:p>
        </p:txBody>
      </p:sp>
      <p:sp>
        <p:nvSpPr>
          <p:cNvPr id="73" name="Text 12"/>
          <p:cNvSpPr txBox="1"/>
          <p:nvPr/>
        </p:nvSpPr>
        <p:spPr>
          <a:xfrm>
            <a:off x="502919" y="5240000"/>
            <a:ext cx="5943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88E5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74" name="Text 13"/>
          <p:cNvSpPr txBox="1"/>
          <p:nvPr/>
        </p:nvSpPr>
        <p:spPr>
          <a:xfrm>
            <a:off x="1051560" y="5240000"/>
            <a:ext cx="2200000" cy="105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200" b="1" i="1">
                <a:solidFill>
                  <a:srgbClr val="17202A"/>
                </a:solidFill>
              </a:defRPr>
            </a:lvl1pPr>
          </a:lstStyle>
          <a:p>
            <a:pPr>
              <a:spcAft>
                <a:spcPts val="200"/>
              </a:spcAft>
            </a:pPr>
            <a:r>
              <a:rPr sz="1200" b="1"/>
              <a:t>Closed-loop hospital acceptance</a:t>
            </a:r>
          </a:p>
          <a:p>
            <a:r>
              <a:rPr sz="1000" b="0" i="0">
                <a:solidFill>
                  <a:srgbClr val="1F2937"/>
                </a:solidFill>
              </a:rPr>
              <a:t>A hospital must answer a case-specific request; an unanswered request expires to UNKNOWN.</a:t>
            </a:r>
          </a:p>
        </p:txBody>
      </p:sp>
      <p:sp>
        <p:nvSpPr>
          <p:cNvPr id="75" name="Text 14"/>
          <p:cNvSpPr txBox="1"/>
          <p:nvPr/>
        </p:nvSpPr>
        <p:spPr>
          <a:xfrm>
            <a:off x="3387242" y="5240000"/>
            <a:ext cx="5943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88E5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76" name="Text 15"/>
          <p:cNvSpPr txBox="1"/>
          <p:nvPr/>
        </p:nvSpPr>
        <p:spPr>
          <a:xfrm>
            <a:off x="3935881" y="5240000"/>
            <a:ext cx="2200000" cy="105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200" b="1" i="1">
                <a:solidFill>
                  <a:srgbClr val="17202A"/>
                </a:solidFill>
              </a:defRPr>
            </a:lvl1pPr>
          </a:lstStyle>
          <a:p>
            <a:pPr>
              <a:spcAft>
                <a:spcPts val="200"/>
              </a:spcAft>
            </a:pPr>
            <a:r>
              <a:rPr sz="1200" b="1"/>
              <a:t>Continuously updated care state</a:t>
            </a:r>
          </a:p>
          <a:p>
            <a:r>
              <a:rPr sz="1000" b="0" i="0">
                <a:solidFill>
                  <a:srgbClr val="1F2937"/>
                </a:solidFill>
              </a:rPr>
              <a:t>Validated events update patient, hospital and ambulance state, with freshness and provenance.</a:t>
            </a:r>
          </a:p>
        </p:txBody>
      </p:sp>
      <p:sp>
        <p:nvSpPr>
          <p:cNvPr id="77" name="Text 16"/>
          <p:cNvSpPr txBox="1"/>
          <p:nvPr/>
        </p:nvSpPr>
        <p:spPr>
          <a:xfrm>
            <a:off x="6271564" y="5240000"/>
            <a:ext cx="5943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1E88E5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78" name="Text 17"/>
          <p:cNvSpPr txBox="1"/>
          <p:nvPr/>
        </p:nvSpPr>
        <p:spPr>
          <a:xfrm>
            <a:off x="6820203" y="5240000"/>
            <a:ext cx="2200000" cy="105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200" b="1" i="1">
                <a:solidFill>
                  <a:srgbClr val="17202A"/>
                </a:solidFill>
              </a:defRPr>
            </a:lvl1pPr>
          </a:lstStyle>
          <a:p>
            <a:pPr>
              <a:spcAft>
                <a:spcPts val="200"/>
              </a:spcAft>
            </a:pPr>
            <a:r>
              <a:rPr sz="1200" b="1"/>
              <a:t>Event-driven dynamic rerouting</a:t>
            </a:r>
          </a:p>
          <a:p>
            <a:r>
              <a:rPr sz="1000" b="0" i="0">
                <a:solidFill>
                  <a:srgbClr val="1F2937"/>
                </a:solidFill>
              </a:rPr>
              <a:t>Rejection, unavailability or expiry events trigger a new destination decision.</a:t>
            </a:r>
          </a:p>
        </p:txBody>
      </p:sp>
      <p:sp>
        <p:nvSpPr>
          <p:cNvPr id="86" name="Shape 25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87" name="Text 26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r>
              <a:t>AWS INNOVATION CHALLENGE  |   ONLINE SHORTLISTING   |   2026</a:t>
            </a:r>
          </a:p>
        </p:txBody>
      </p:sp>
      <p:sp>
        <p:nvSpPr>
          <p:cNvPr id="88" name="Text 27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2648" y="2679192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1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Healthcare event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1828800" y="2907792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006193" y="2679192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2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Event ingestion + validation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3222345" y="2907792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3399739" y="2679192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3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Canonical event</a:t>
            </a:r>
          </a:p>
        </p:txBody>
      </p:sp>
      <p:sp>
        <p:nvSpPr>
          <p:cNvPr id="94" name="Right Arrow 93"/>
          <p:cNvSpPr/>
          <p:nvPr/>
        </p:nvSpPr>
        <p:spPr>
          <a:xfrm>
            <a:off x="4615891" y="2907792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4793284" y="2679192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4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State update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6009436" y="2907792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186830" y="2679192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5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Care requirement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7402982" y="2907792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580376" y="2679192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6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Hospital candidate</a:t>
            </a:r>
          </a:p>
        </p:txBody>
      </p:sp>
      <p:sp>
        <p:nvSpPr>
          <p:cNvPr id="100" name="Down Arrow 99"/>
          <p:cNvSpPr/>
          <p:nvPr/>
        </p:nvSpPr>
        <p:spPr>
          <a:xfrm>
            <a:off x="8092440" y="3328416"/>
            <a:ext cx="164592" cy="182879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7580376" y="3538728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7</a:t>
            </a:r>
          </a:p>
          <a:p>
            <a:pPr algn="ctr"/>
            <a:r>
              <a:rPr sz="1000" b="1" i="0" dirty="0">
                <a:solidFill>
                  <a:srgbClr val="FFFFFF"/>
                </a:solidFill>
              </a:rPr>
              <a:t>Acceptance request</a:t>
            </a:r>
          </a:p>
        </p:txBody>
      </p:sp>
      <p:sp>
        <p:nvSpPr>
          <p:cNvPr id="102" name="Left Arrow 101"/>
          <p:cNvSpPr/>
          <p:nvPr/>
        </p:nvSpPr>
        <p:spPr>
          <a:xfrm>
            <a:off x="7402982" y="3767328"/>
            <a:ext cx="149961" cy="164592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186830" y="3538728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8</a:t>
            </a:r>
          </a:p>
          <a:p>
            <a:pPr algn="ctr"/>
            <a:r>
              <a:rPr sz="1000" b="1" i="0" dirty="0">
                <a:solidFill>
                  <a:srgbClr val="FFFFFF"/>
                </a:solidFill>
              </a:rPr>
              <a:t>Hospital response</a:t>
            </a:r>
          </a:p>
        </p:txBody>
      </p:sp>
      <p:sp>
        <p:nvSpPr>
          <p:cNvPr id="104" name="Left Arrow 103"/>
          <p:cNvSpPr/>
          <p:nvPr/>
        </p:nvSpPr>
        <p:spPr>
          <a:xfrm>
            <a:off x="6009436" y="3767328"/>
            <a:ext cx="149961" cy="164592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4793284" y="3538728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9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Ambulance destination</a:t>
            </a:r>
          </a:p>
        </p:txBody>
      </p:sp>
      <p:sp>
        <p:nvSpPr>
          <p:cNvPr id="106" name="Left Arrow 105"/>
          <p:cNvSpPr/>
          <p:nvPr/>
        </p:nvSpPr>
        <p:spPr>
          <a:xfrm>
            <a:off x="4615891" y="3767328"/>
            <a:ext cx="149961" cy="164592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3399739" y="3538728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 dirty="0">
                <a:solidFill>
                  <a:srgbClr val="1E88E5"/>
                </a:solidFill>
              </a:rPr>
              <a:t>10</a:t>
            </a:r>
          </a:p>
          <a:p>
            <a:pPr algn="ctr"/>
            <a:r>
              <a:rPr sz="1000" b="0" i="0" dirty="0">
                <a:solidFill>
                  <a:srgbClr val="123B66"/>
                </a:solidFill>
              </a:rPr>
              <a:t>Realtime state changes</a:t>
            </a:r>
          </a:p>
        </p:txBody>
      </p:sp>
      <p:sp>
        <p:nvSpPr>
          <p:cNvPr id="108" name="Left Arrow 107"/>
          <p:cNvSpPr/>
          <p:nvPr/>
        </p:nvSpPr>
        <p:spPr>
          <a:xfrm>
            <a:off x="3222345" y="3767328"/>
            <a:ext cx="149961" cy="164592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2006193" y="3538728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Reroute / continue care</a:t>
            </a:r>
          </a:p>
        </p:txBody>
      </p:sp>
      <p:sp>
        <p:nvSpPr>
          <p:cNvPr id="110" name="Left Arrow 109"/>
          <p:cNvSpPr/>
          <p:nvPr/>
        </p:nvSpPr>
        <p:spPr>
          <a:xfrm>
            <a:off x="1828800" y="3767328"/>
            <a:ext cx="149961" cy="164592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612648" y="3538728"/>
            <a:ext cx="1188720" cy="621792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9FB3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0" i="1" dirty="0">
                <a:solidFill>
                  <a:srgbClr val="667085"/>
                </a:solidFill>
              </a:rPr>
              <a:t>Repeats on every new event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2648" y="4206240"/>
            <a:ext cx="8156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Hospital response: PENDING → ACCEPTED · LIMITED · REJECTED · UNAVAILABLE · EXPIRED · UNKNOWN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91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100">
                <a:solidFill>
                  <a:srgbClr val="1E88E5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92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23B66"/>
                </a:solidFill>
              </a:defRPr>
            </a:lvl1pPr>
          </a:lstStyle>
          <a:p>
            <a:r>
              <a:t>INNOVATION &amp; DIFFERENTIATION</a:t>
            </a:r>
          </a:p>
        </p:txBody>
      </p:sp>
      <p:sp>
        <p:nvSpPr>
          <p:cNvPr id="93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94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23B66"/>
                </a:solidFill>
              </a:defRPr>
            </a:lvl1pPr>
          </a:lstStyle>
          <a:p>
            <a:r>
              <a:t>15 POINTS</a:t>
            </a:r>
          </a:p>
        </p:txBody>
      </p:sp>
      <p:sp>
        <p:nvSpPr>
          <p:cNvPr id="95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96" name="Shape 6"/>
          <p:cNvSpPr/>
          <p:nvPr/>
        </p:nvSpPr>
        <p:spPr>
          <a:xfrm>
            <a:off x="502919" y="1508760"/>
            <a:ext cx="4052166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97" name="Text 7"/>
          <p:cNvSpPr txBox="1"/>
          <p:nvPr/>
        </p:nvSpPr>
        <p:spPr>
          <a:xfrm>
            <a:off x="758950" y="1768655"/>
            <a:ext cx="35401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667085"/>
                </a:solidFill>
              </a:defRPr>
            </a:lvl1pPr>
          </a:lstStyle>
          <a:p>
            <a:r>
              <a:t>EXISTING APPROACH</a:t>
            </a:r>
          </a:p>
        </p:txBody>
      </p:sp>
      <p:sp>
        <p:nvSpPr>
          <p:cNvPr id="98" name="Text 8"/>
          <p:cNvSpPr txBox="1"/>
          <p:nvPr/>
        </p:nvSpPr>
        <p:spPr>
          <a:xfrm>
            <a:off x="758950" y="2200000"/>
            <a:ext cx="3540101" cy="1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pPr marL="171450" indent="-171450">
              <a:spcAft>
                <a:spcPts val="500"/>
              </a:spcAft>
              <a:buChar char="•"/>
            </a:pPr>
            <a:r>
              <a:rPr sz="1200" b="0" i="0">
                <a:solidFill>
                  <a:srgbClr val="1F2937"/>
                </a:solidFill>
              </a:rPr>
              <a:t>Fragmented lists and one-way updates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>
                <a:solidFill>
                  <a:srgbClr val="1F2937"/>
                </a:solidFill>
              </a:rPr>
              <a:t>Availability assumed from static listings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>
                <a:solidFill>
                  <a:srgbClr val="1F2937"/>
                </a:solidFill>
              </a:rPr>
              <a:t>Route chosen once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>
                <a:solidFill>
                  <a:srgbClr val="1F2937"/>
                </a:solidFill>
              </a:rPr>
              <a:t>Data of unknown age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>
                <a:solidFill>
                  <a:srgbClr val="1F2937"/>
                </a:solidFill>
              </a:rPr>
              <a:t>Systems and roles work in isolation</a:t>
            </a:r>
          </a:p>
        </p:txBody>
      </p:sp>
      <p:sp>
        <p:nvSpPr>
          <p:cNvPr id="99" name="Shape 9"/>
          <p:cNvSpPr/>
          <p:nvPr/>
        </p:nvSpPr>
        <p:spPr>
          <a:xfrm>
            <a:off x="4829404" y="1508760"/>
            <a:ext cx="4052164" cy="2377440"/>
          </a:xfrm>
          <a:prstGeom prst="roundRect">
            <a:avLst>
              <a:gd name="adj" fmla="val 1923"/>
            </a:avLst>
          </a:prstGeom>
          <a:solidFill>
            <a:srgbClr val="EAF3FA"/>
          </a:solidFill>
          <a:ln w="12700">
            <a:solidFill>
              <a:srgbClr val="1E88E5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0" name="Text 10"/>
          <p:cNvSpPr txBox="1"/>
          <p:nvPr/>
        </p:nvSpPr>
        <p:spPr>
          <a:xfrm>
            <a:off x="5085436" y="1768655"/>
            <a:ext cx="35401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23B66"/>
                </a:solidFill>
              </a:defRPr>
            </a:lvl1pPr>
          </a:lstStyle>
          <a:p>
            <a:r>
              <a:t>OUR APPROACH</a:t>
            </a:r>
          </a:p>
        </p:txBody>
      </p:sp>
      <p:sp>
        <p:nvSpPr>
          <p:cNvPr id="101" name="Text 11"/>
          <p:cNvSpPr txBox="1"/>
          <p:nvPr/>
        </p:nvSpPr>
        <p:spPr>
          <a:xfrm>
            <a:off x="5085436" y="2200000"/>
            <a:ext cx="3540101" cy="1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17202A"/>
                </a:solidFill>
              </a:defRPr>
            </a:lvl1pPr>
          </a:lstStyle>
          <a:p>
            <a:pPr marL="171450" indent="-171450">
              <a:spcAft>
                <a:spcPts val="500"/>
              </a:spcAft>
              <a:buChar char="•"/>
            </a:pPr>
            <a:r>
              <a:rPr sz="1200" b="0" i="0" dirty="0">
                <a:solidFill>
                  <a:srgbClr val="1F2937"/>
                </a:solidFill>
              </a:rPr>
              <a:t>Events update one shared care state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 dirty="0">
                <a:solidFill>
                  <a:srgbClr val="1F2937"/>
                </a:solidFill>
              </a:rPr>
              <a:t>Hospital must respond to the case request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 dirty="0">
                <a:solidFill>
                  <a:srgbClr val="1F2937"/>
                </a:solidFill>
              </a:rPr>
              <a:t>Re-decided when a relevant event arrives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 dirty="0">
                <a:solidFill>
                  <a:srgbClr val="1F2937"/>
                </a:solidFill>
              </a:rPr>
              <a:t>Timestamps, freshness and provenance kept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sz="1200" b="0" i="0" dirty="0">
                <a:solidFill>
                  <a:srgbClr val="1F2937"/>
                </a:solidFill>
              </a:rPr>
              <a:t>Four role-scoped views of one state</a:t>
            </a:r>
          </a:p>
        </p:txBody>
      </p:sp>
      <p:sp>
        <p:nvSpPr>
          <p:cNvPr id="102" name="Shape 12"/>
          <p:cNvSpPr/>
          <p:nvPr/>
        </p:nvSpPr>
        <p:spPr>
          <a:xfrm>
            <a:off x="502919" y="4160520"/>
            <a:ext cx="8378649" cy="1097282"/>
          </a:xfrm>
          <a:prstGeom prst="roundRect">
            <a:avLst>
              <a:gd name="adj" fmla="val 4167"/>
            </a:avLst>
          </a:prstGeom>
          <a:solidFill>
            <a:srgbClr val="123B66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3" name="Text 13"/>
          <p:cNvSpPr txBox="1"/>
          <p:nvPr/>
        </p:nvSpPr>
        <p:spPr>
          <a:xfrm>
            <a:off x="777239" y="4385993"/>
            <a:ext cx="783000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00">
                <a:solidFill>
                  <a:srgbClr val="A9C6E8"/>
                </a:solidFill>
              </a:defRPr>
            </a:lvl1pPr>
          </a:lstStyle>
          <a:p>
            <a:r>
              <a:t>KEY DIFFERENTIATOR</a:t>
            </a:r>
          </a:p>
        </p:txBody>
      </p:sp>
      <p:sp>
        <p:nvSpPr>
          <p:cNvPr id="104" name="Text 14"/>
          <p:cNvSpPr txBox="1"/>
          <p:nvPr/>
        </p:nvSpPr>
        <p:spPr>
          <a:xfrm>
            <a:off x="777239" y="4640000"/>
            <a:ext cx="7830009" cy="5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200" i="1">
                <a:solidFill>
                  <a:srgbClr val="FFFFFF"/>
                </a:solidFill>
              </a:defRPr>
            </a:lvl1pPr>
          </a:lstStyle>
          <a:p>
            <a:pPr>
              <a:spcAft>
                <a:spcPts val="400"/>
              </a:spcAft>
            </a:pPr>
            <a:r>
              <a:rPr sz="1300" b="1" i="0"/>
              <a:t>EVENT STATE  +  HOSPITAL CONFIRMATION  +  FRESHNESS  +  DYNAMIC RESPONSE</a:t>
            </a:r>
          </a:p>
          <a:p>
            <a:r>
              <a:rPr sz="1100" b="0" i="0"/>
              <a:t>Acceptance is an explicit, time-limited state, not an assumption; any change to it triggers a new destination decision.</a:t>
            </a:r>
          </a:p>
        </p:txBody>
      </p:sp>
      <p:sp>
        <p:nvSpPr>
          <p:cNvPr id="112" name="Shape 22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3" name="Text 23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r>
              <a:t>AWS INNOVATION CHALLENGE  |   ONLINE SHORTLISTING   |   2026</a:t>
            </a:r>
          </a:p>
        </p:txBody>
      </p:sp>
      <p:sp>
        <p:nvSpPr>
          <p:cNvPr id="114" name="Text 24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7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100">
                <a:solidFill>
                  <a:srgbClr val="1E88E5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118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23B66"/>
                </a:solidFill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19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0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23B66"/>
                </a:solidFill>
              </a:defRPr>
            </a:lvl1pPr>
          </a:lstStyle>
          <a:p>
            <a:r>
              <a:t>15 POINTS</a:t>
            </a:r>
          </a:p>
        </p:txBody>
      </p:sp>
      <p:sp>
        <p:nvSpPr>
          <p:cNvPr id="121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2" name="Text 6"/>
          <p:cNvSpPr txBox="1"/>
          <p:nvPr/>
        </p:nvSpPr>
        <p:spPr>
          <a:xfrm>
            <a:off x="502918" y="1569641"/>
            <a:ext cx="45720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rPr dirty="0"/>
              <a:t>SYSTEM ARCHITECTURE</a:t>
            </a:r>
          </a:p>
        </p:txBody>
      </p:sp>
      <p:sp>
        <p:nvSpPr>
          <p:cNvPr id="123" name="Shape 7"/>
          <p:cNvSpPr/>
          <p:nvPr/>
        </p:nvSpPr>
        <p:spPr>
          <a:xfrm>
            <a:off x="502919" y="1810511"/>
            <a:ext cx="8378649" cy="2331723"/>
          </a:xfrm>
          <a:prstGeom prst="roundRect">
            <a:avLst>
              <a:gd name="adj" fmla="val 1961"/>
            </a:avLst>
          </a:prstGeom>
          <a:solidFill>
            <a:srgbClr val="F7F9FC"/>
          </a:solidFill>
          <a:ln w="12700">
            <a:solidFill>
              <a:srgbClr val="E3EAF2"/>
            </a:solidFill>
            <a:prstDash val="dash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5" name="Text 9"/>
          <p:cNvSpPr txBox="1"/>
          <p:nvPr/>
        </p:nvSpPr>
        <p:spPr>
          <a:xfrm>
            <a:off x="502918" y="4459146"/>
            <a:ext cx="45720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TECHNOLOGY STACK</a:t>
            </a:r>
          </a:p>
        </p:txBody>
      </p:sp>
      <p:sp>
        <p:nvSpPr>
          <p:cNvPr id="126" name="Text 10"/>
          <p:cNvSpPr txBox="1"/>
          <p:nvPr/>
        </p:nvSpPr>
        <p:spPr>
          <a:xfrm>
            <a:off x="502918" y="4760000"/>
            <a:ext cx="276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defRPr sz="1100" b="1">
                <a:solidFill>
                  <a:srgbClr val="123B66"/>
                </a:solidFill>
              </a:defRPr>
            </a:pPr>
            <a:r>
              <a:rPr sz="1100" b="1"/>
              <a:t>Frontend:</a:t>
            </a:r>
            <a:r>
              <a:rPr sz="1050" b="0" i="0">
                <a:solidFill>
                  <a:srgbClr val="1F2937"/>
                </a:solidFill>
              </a:rPr>
              <a:t>  React / Vite</a:t>
            </a:r>
          </a:p>
        </p:txBody>
      </p:sp>
      <p:sp>
        <p:nvSpPr>
          <p:cNvPr id="127" name="Text 11"/>
          <p:cNvSpPr txBox="1"/>
          <p:nvPr/>
        </p:nvSpPr>
        <p:spPr>
          <a:xfrm>
            <a:off x="3387242" y="4760000"/>
            <a:ext cx="276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defRPr sz="1100" b="1">
                <a:solidFill>
                  <a:srgbClr val="123B66"/>
                </a:solidFill>
              </a:defRPr>
            </a:pPr>
            <a:r>
              <a:rPr sz="1100" b="1"/>
              <a:t>Backend:</a:t>
            </a:r>
            <a:r>
              <a:rPr sz="1050" b="0" i="0">
                <a:solidFill>
                  <a:srgbClr val="1F2937"/>
                </a:solidFill>
              </a:rPr>
              <a:t>  Node.js / TypeScript / Zod</a:t>
            </a:r>
          </a:p>
        </p:txBody>
      </p:sp>
      <p:sp>
        <p:nvSpPr>
          <p:cNvPr id="128" name="Text 12"/>
          <p:cNvSpPr txBox="1"/>
          <p:nvPr/>
        </p:nvSpPr>
        <p:spPr>
          <a:xfrm>
            <a:off x="6271564" y="4760000"/>
            <a:ext cx="276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defRPr sz="1100" b="1">
                <a:solidFill>
                  <a:srgbClr val="123B66"/>
                </a:solidFill>
              </a:defRPr>
            </a:pPr>
            <a:r>
              <a:rPr sz="1100" b="1"/>
              <a:t>Database:</a:t>
            </a:r>
            <a:r>
              <a:rPr sz="1050" b="0" i="0">
                <a:solidFill>
                  <a:srgbClr val="1F2937"/>
                </a:solidFill>
              </a:rPr>
              <a:t>  DynamoDB (AWS architecture)</a:t>
            </a:r>
          </a:p>
        </p:txBody>
      </p:sp>
      <p:sp>
        <p:nvSpPr>
          <p:cNvPr id="129" name="Text 13"/>
          <p:cNvSpPr txBox="1"/>
          <p:nvPr/>
        </p:nvSpPr>
        <p:spPr>
          <a:xfrm>
            <a:off x="502918" y="5170000"/>
            <a:ext cx="276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defRPr sz="1100" b="1">
                <a:solidFill>
                  <a:srgbClr val="123B66"/>
                </a:solidFill>
              </a:defRPr>
            </a:pPr>
            <a:r>
              <a:rPr sz="1100" b="1"/>
              <a:t>AI / ML:</a:t>
            </a:r>
            <a:r>
              <a:rPr sz="1050" b="0" i="0">
                <a:solidFill>
                  <a:srgbClr val="1F2937"/>
                </a:solidFill>
              </a:rPr>
              <a:t>  Amazon Bedrock (advisory)</a:t>
            </a:r>
          </a:p>
        </p:txBody>
      </p:sp>
      <p:sp>
        <p:nvSpPr>
          <p:cNvPr id="130" name="Text 14"/>
          <p:cNvSpPr txBox="1"/>
          <p:nvPr/>
        </p:nvSpPr>
        <p:spPr>
          <a:xfrm>
            <a:off x="3387242" y="5170000"/>
            <a:ext cx="276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defRPr sz="1100" b="1">
                <a:solidFill>
                  <a:srgbClr val="123B66"/>
                </a:solidFill>
              </a:defRPr>
            </a:pPr>
            <a:r>
              <a:rPr sz="1100" b="1"/>
              <a:t>APIs / Services:</a:t>
            </a:r>
            <a:r>
              <a:rPr sz="1050" b="0" i="0">
                <a:solidFill>
                  <a:srgbClr val="1F2937"/>
                </a:solidFill>
              </a:rPr>
              <a:t>  API Gateway · EventBridge · Lambda · Socket.IO</a:t>
            </a:r>
          </a:p>
        </p:txBody>
      </p:sp>
      <p:sp>
        <p:nvSpPr>
          <p:cNvPr id="131" name="Text 15"/>
          <p:cNvSpPr txBox="1"/>
          <p:nvPr/>
        </p:nvSpPr>
        <p:spPr>
          <a:xfrm>
            <a:off x="6271564" y="5170000"/>
            <a:ext cx="276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defRPr sz="1100" b="1">
                <a:solidFill>
                  <a:srgbClr val="123B66"/>
                </a:solidFill>
              </a:defRPr>
            </a:pPr>
            <a:r>
              <a:rPr sz="1100" b="1"/>
              <a:t>Hardware:</a:t>
            </a:r>
            <a:r>
              <a:rPr sz="1050" b="0" i="0">
                <a:solidFill>
                  <a:srgbClr val="1F2937"/>
                </a:solidFill>
              </a:rPr>
              <a:t>  None required (core prototype)</a:t>
            </a:r>
          </a:p>
        </p:txBody>
      </p:sp>
      <p:sp>
        <p:nvSpPr>
          <p:cNvPr id="132" name="Text 16"/>
          <p:cNvSpPr txBox="1"/>
          <p:nvPr/>
        </p:nvSpPr>
        <p:spPr>
          <a:xfrm>
            <a:off x="502920" y="5602146"/>
            <a:ext cx="837864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FEASIBILITY</a:t>
            </a:r>
          </a:p>
        </p:txBody>
      </p:sp>
      <p:sp>
        <p:nvSpPr>
          <p:cNvPr id="133" name="Text 17"/>
          <p:cNvSpPr txBox="1"/>
          <p:nvPr/>
        </p:nvSpPr>
        <p:spPr>
          <a:xfrm>
            <a:off x="502920" y="5800000"/>
            <a:ext cx="8378646" cy="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rPr sz="1100"/>
              <a:t>The core emergency coordination workflow is implemented locally and runs without cloud dependency at the offline hackathon. The event-driven components are designed to map to AWS managed services (defined in CDK) for later cloud deployment.</a:t>
            </a:r>
          </a:p>
        </p:txBody>
      </p:sp>
      <p:sp>
        <p:nvSpPr>
          <p:cNvPr id="138" name="Shape 22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39" name="Text 23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r>
              <a:t>AWS INNOVATION CHALLENGE  |   ONLINE SHORTLISTING   |   2026</a:t>
            </a:r>
          </a:p>
        </p:txBody>
      </p:sp>
      <p:sp>
        <p:nvSpPr>
          <p:cNvPr id="140" name="Text 24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2648" y="1837943"/>
            <a:ext cx="8156448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000" b="1" i="0">
                <a:solidFill>
                  <a:srgbClr val="1E88E5"/>
                </a:solidFill>
              </a:rPr>
              <a:t>AWS DEPLOYMENT ARCHITECTURE  ·  defined in CDK, not deployed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12648" y="2075688"/>
            <a:ext cx="1463040" cy="62179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C9D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Participants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Patient · Ambulance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Hospital · Management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2103120" y="2304288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2280513" y="2075688"/>
            <a:ext cx="10058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API Gateway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REST ingestion</a:t>
            </a:r>
          </a:p>
          <a:p>
            <a:pPr algn="ctr"/>
            <a:r>
              <a:rPr sz="1000" b="0" i="0">
                <a:solidFill>
                  <a:srgbClr val="667085"/>
                </a:solidFill>
              </a:rPr>
              <a:t>Cognito auth</a:t>
            </a:r>
          </a:p>
        </p:txBody>
      </p:sp>
      <p:sp>
        <p:nvSpPr>
          <p:cNvPr id="145" name="Right Arrow 144"/>
          <p:cNvSpPr/>
          <p:nvPr/>
        </p:nvSpPr>
        <p:spPr>
          <a:xfrm>
            <a:off x="3313785" y="2304288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3491179" y="2075688"/>
            <a:ext cx="10972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EventBridge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JIVA event bus</a:t>
            </a:r>
          </a:p>
        </p:txBody>
      </p:sp>
      <p:sp>
        <p:nvSpPr>
          <p:cNvPr id="147" name="Right Arrow 146"/>
          <p:cNvSpPr/>
          <p:nvPr/>
        </p:nvSpPr>
        <p:spPr>
          <a:xfrm>
            <a:off x="4615891" y="2304288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793284" y="2075688"/>
            <a:ext cx="1371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Lambda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Emergency · Hospital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acceptance · Routing</a:t>
            </a:r>
          </a:p>
        </p:txBody>
      </p:sp>
      <p:sp>
        <p:nvSpPr>
          <p:cNvPr id="149" name="Right Arrow 148"/>
          <p:cNvSpPr/>
          <p:nvPr/>
        </p:nvSpPr>
        <p:spPr>
          <a:xfrm>
            <a:off x="6192316" y="2304288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6369710" y="2075688"/>
            <a:ext cx="1188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DynamoDB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(application state)</a:t>
            </a:r>
          </a:p>
        </p:txBody>
      </p:sp>
      <p:sp>
        <p:nvSpPr>
          <p:cNvPr id="151" name="Right Arrow 150"/>
          <p:cNvSpPr/>
          <p:nvPr/>
        </p:nvSpPr>
        <p:spPr>
          <a:xfrm>
            <a:off x="7585862" y="2304288"/>
            <a:ext cx="149961" cy="164592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763256" y="2075688"/>
            <a:ext cx="10058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API Gateway WebSockets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→ clients</a:t>
            </a:r>
          </a:p>
        </p:txBody>
      </p:sp>
      <p:sp>
        <p:nvSpPr>
          <p:cNvPr id="153" name="Down Arrow 152"/>
          <p:cNvSpPr/>
          <p:nvPr/>
        </p:nvSpPr>
        <p:spPr>
          <a:xfrm>
            <a:off x="3957523" y="2724912"/>
            <a:ext cx="164592" cy="182880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12648" y="2898648"/>
            <a:ext cx="2582265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JIVA DOMAIN LOGIC (deterministic)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Decides eligibility, acceptance, destination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399739" y="2898648"/>
            <a:ext cx="2582265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E88E5"/>
                </a:solidFill>
              </a:rPr>
              <a:t>Amazon Bedrock — Advisory AI</a:t>
            </a:r>
          </a:p>
          <a:p>
            <a:pPr algn="ctr"/>
            <a:r>
              <a:rPr sz="1000" b="1" i="0">
                <a:solidFill>
                  <a:srgbClr val="1E88E5"/>
                </a:solidFill>
              </a:rPr>
              <a:t>(CDK-defined; not live-tested)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Summaries; never routes, dispatches or changes state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186830" y="2898648"/>
            <a:ext cx="2582265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123B66"/>
                </a:solidFill>
              </a:rPr>
              <a:t>MAPS / ROUTING</a:t>
            </a:r>
          </a:p>
          <a:p>
            <a:pPr algn="ctr"/>
            <a:r>
              <a:rPr sz="1000" b="0" i="0">
                <a:solidFill>
                  <a:srgbClr val="1F2937"/>
                </a:solidFill>
              </a:rPr>
              <a:t>MapLibre + OSM; Valhalla / OSRM / mock: route data only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12648" y="3712463"/>
            <a:ext cx="8156448" cy="38404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1000" b="1" i="0">
                <a:solidFill>
                  <a:srgbClr val="123B66"/>
                </a:solidFill>
              </a:rPr>
              <a:t>LOCAL PROTOTYPE (runs offline for the hackathon)</a:t>
            </a:r>
          </a:p>
          <a:p>
            <a:pPr algn="l"/>
            <a:r>
              <a:rPr sz="1000" b="0" i="0">
                <a:solidFill>
                  <a:srgbClr val="1F2937"/>
                </a:solidFill>
              </a:rPr>
              <a:t>React / Vite  →  Node.js API  →  local event bus  →  in-memory state  →  Socket.IO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174174" y="1810511"/>
            <a:ext cx="2514602" cy="1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1000">
                <a:solidFill>
                  <a:srgbClr val="123B66"/>
                </a:solidFill>
              </a:rPr>
              <a:t>THIRD-PARTY ATTRIBUTION</a:t>
            </a:r>
          </a:p>
          <a:p>
            <a:pPr>
              <a:spcAft>
                <a:spcPts val="300"/>
              </a:spcAft>
            </a:pPr>
            <a:r>
              <a:rPr b="0" sz="950">
                <a:solidFill>
                  <a:srgbClr val="667085"/>
                </a:solidFill>
              </a:rPr>
              <a:t>Map data © OpenStreetMap contributors; MapLibre GL; Valhalla and OSRM routing engines (not verified live); hospital list from public Govt. of Karnataka / BBMP directories; Amazon Bedrock (AI, unverified).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3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100">
                <a:solidFill>
                  <a:srgbClr val="1E88E5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144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23B66"/>
                </a:solidFill>
              </a:defRPr>
            </a:lvl1pPr>
          </a:lstStyle>
          <a:p>
            <a:r>
              <a:t>IMPACT &amp; IMPLEMENTATION</a:t>
            </a:r>
          </a:p>
        </p:txBody>
      </p:sp>
      <p:sp>
        <p:nvSpPr>
          <p:cNvPr id="145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23B66"/>
                </a:solidFill>
              </a:defRPr>
            </a:lvl1pPr>
          </a:lstStyle>
          <a:p>
            <a:r>
              <a:t>25 POINTS TOTAL</a:t>
            </a:r>
          </a:p>
        </p:txBody>
      </p:sp>
      <p:sp>
        <p:nvSpPr>
          <p:cNvPr id="147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8" name="Shape 6"/>
          <p:cNvSpPr/>
          <p:nvPr/>
        </p:nvSpPr>
        <p:spPr>
          <a:xfrm>
            <a:off x="502919" y="1508760"/>
            <a:ext cx="1691641" cy="347474"/>
          </a:xfrm>
          <a:prstGeom prst="roundRect">
            <a:avLst>
              <a:gd name="adj" fmla="val 50000"/>
            </a:avLst>
          </a:prstGeom>
          <a:solidFill>
            <a:srgbClr val="123B66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9" name="Text 7"/>
          <p:cNvSpPr txBox="1"/>
          <p:nvPr/>
        </p:nvSpPr>
        <p:spPr>
          <a:xfrm>
            <a:off x="502920" y="1613960"/>
            <a:ext cx="16916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/>
              <a:t>15 POINTS</a:t>
            </a:r>
          </a:p>
        </p:txBody>
      </p:sp>
      <p:sp>
        <p:nvSpPr>
          <p:cNvPr id="150" name="Text 8"/>
          <p:cNvSpPr txBox="1"/>
          <p:nvPr/>
        </p:nvSpPr>
        <p:spPr>
          <a:xfrm>
            <a:off x="510998" y="2240017"/>
            <a:ext cx="32004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23B66"/>
                </a:solidFill>
              </a:defRPr>
            </a:lvl1pPr>
          </a:lstStyle>
          <a:p>
            <a:r>
              <a:rPr dirty="0"/>
              <a:t>A. EXPECTED IMPACT</a:t>
            </a:r>
          </a:p>
        </p:txBody>
      </p:sp>
      <p:sp>
        <p:nvSpPr>
          <p:cNvPr id="151" name="Text 9"/>
          <p:cNvSpPr txBox="1"/>
          <p:nvPr/>
        </p:nvSpPr>
        <p:spPr>
          <a:xfrm>
            <a:off x="502919" y="2889314"/>
            <a:ext cx="54100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WHO BENEFITS?</a:t>
            </a:r>
          </a:p>
        </p:txBody>
      </p:sp>
      <p:sp>
        <p:nvSpPr>
          <p:cNvPr id="152" name="Text 10"/>
          <p:cNvSpPr txBox="1"/>
          <p:nvPr/>
        </p:nvSpPr>
        <p:spPr>
          <a:xfrm>
            <a:off x="502919" y="3102751"/>
            <a:ext cx="5410051" cy="2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t>Patients  ·  ambulance teams  ·  hospital emergency teams  ·  care coordinators</a:t>
            </a:r>
          </a:p>
        </p:txBody>
      </p:sp>
      <p:sp>
        <p:nvSpPr>
          <p:cNvPr id="153" name="Text 11"/>
          <p:cNvSpPr txBox="1"/>
          <p:nvPr/>
        </p:nvSpPr>
        <p:spPr>
          <a:xfrm>
            <a:off x="502919" y="3556826"/>
            <a:ext cx="54100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EXPECTED OUTCOME</a:t>
            </a:r>
          </a:p>
        </p:txBody>
      </p:sp>
      <p:sp>
        <p:nvSpPr>
          <p:cNvPr id="154" name="Text 12"/>
          <p:cNvSpPr txBox="1"/>
          <p:nvPr/>
        </p:nvSpPr>
        <p:spPr>
          <a:xfrm>
            <a:off x="502919" y="3770263"/>
            <a:ext cx="5410051" cy="48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t>Hospital acceptance becomes an explicit, timestamped step, and a changed hospital status triggers a new destination decision. Measured in simulation; no clinical outcome is claimed.</a:t>
            </a:r>
          </a:p>
        </p:txBody>
      </p:sp>
      <p:sp>
        <p:nvSpPr>
          <p:cNvPr id="155" name="Text 13"/>
          <p:cNvSpPr txBox="1"/>
          <p:nvPr/>
        </p:nvSpPr>
        <p:spPr>
          <a:xfrm>
            <a:off x="502918" y="4306633"/>
            <a:ext cx="36576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SUCCESS METRICS</a:t>
            </a:r>
          </a:p>
        </p:txBody>
      </p:sp>
      <p:sp>
        <p:nvSpPr>
          <p:cNvPr id="156" name="Shape 14"/>
          <p:cNvSpPr/>
          <p:nvPr/>
        </p:nvSpPr>
        <p:spPr>
          <a:xfrm>
            <a:off x="502919" y="4538360"/>
            <a:ext cx="1681430" cy="777242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7" name="Text 15"/>
          <p:cNvSpPr txBox="1"/>
          <p:nvPr/>
        </p:nvSpPr>
        <p:spPr>
          <a:xfrm>
            <a:off x="576071" y="4578360"/>
            <a:ext cx="1535128" cy="69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defRPr sz="1000" b="1" i="1">
                <a:solidFill>
                  <a:srgbClr val="1E88E5"/>
                </a:solidFill>
              </a:defRPr>
            </a:lvl1pPr>
          </a:lstStyle>
          <a:p>
            <a:r>
              <a:rPr sz="1100"/>
              <a:t>Time from acceptance request to hospital response</a:t>
            </a:r>
          </a:p>
        </p:txBody>
      </p:sp>
      <p:sp>
        <p:nvSpPr>
          <p:cNvPr id="158" name="Shape 16"/>
          <p:cNvSpPr/>
          <p:nvPr/>
        </p:nvSpPr>
        <p:spPr>
          <a:xfrm>
            <a:off x="2367227" y="4538360"/>
            <a:ext cx="1681431" cy="777242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9" name="Text 17"/>
          <p:cNvSpPr txBox="1"/>
          <p:nvPr/>
        </p:nvSpPr>
        <p:spPr>
          <a:xfrm>
            <a:off x="2440381" y="4578360"/>
            <a:ext cx="1535127" cy="69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defRPr sz="1000" b="1" i="1">
                <a:solidFill>
                  <a:srgbClr val="1E88E5"/>
                </a:solidFill>
              </a:defRPr>
            </a:lvl1pPr>
          </a:lstStyle>
          <a:p>
            <a:r>
              <a:rPr sz="1100"/>
              <a:t>% of simulated flows ending in a confirmed destination</a:t>
            </a:r>
          </a:p>
        </p:txBody>
      </p:sp>
      <p:sp>
        <p:nvSpPr>
          <p:cNvPr id="160" name="Shape 18"/>
          <p:cNvSpPr/>
          <p:nvPr/>
        </p:nvSpPr>
        <p:spPr>
          <a:xfrm>
            <a:off x="4231537" y="4538360"/>
            <a:ext cx="1681430" cy="777242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1" name="Text 19"/>
          <p:cNvSpPr txBox="1"/>
          <p:nvPr/>
        </p:nvSpPr>
        <p:spPr>
          <a:xfrm>
            <a:off x="4304689" y="4578360"/>
            <a:ext cx="1535127" cy="69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defRPr sz="1000" b="1" i="1">
                <a:solidFill>
                  <a:srgbClr val="1E88E5"/>
                </a:solidFill>
              </a:defRPr>
            </a:lvl1pPr>
          </a:lstStyle>
          <a:p>
            <a:r>
              <a:rPr sz="1100"/>
              <a:t>Time from status change to reroute decision</a:t>
            </a:r>
          </a:p>
        </p:txBody>
      </p:sp>
      <p:sp>
        <p:nvSpPr>
          <p:cNvPr id="166" name="Shape 24"/>
          <p:cNvSpPr/>
          <p:nvPr/>
        </p:nvSpPr>
        <p:spPr>
          <a:xfrm>
            <a:off x="6278726" y="1508760"/>
            <a:ext cx="1691642" cy="347474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7" name="Text 25"/>
          <p:cNvSpPr txBox="1"/>
          <p:nvPr/>
        </p:nvSpPr>
        <p:spPr>
          <a:xfrm>
            <a:off x="6278728" y="1613960"/>
            <a:ext cx="16916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10 POINTS</a:t>
            </a:r>
          </a:p>
        </p:txBody>
      </p:sp>
      <p:sp>
        <p:nvSpPr>
          <p:cNvPr id="168" name="Text 26"/>
          <p:cNvSpPr txBox="1"/>
          <p:nvPr/>
        </p:nvSpPr>
        <p:spPr>
          <a:xfrm>
            <a:off x="6494979" y="2240017"/>
            <a:ext cx="32004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23B66"/>
                </a:solidFill>
              </a:defRPr>
            </a:lvl1pPr>
          </a:lstStyle>
          <a:p>
            <a:r>
              <a:rPr dirty="0"/>
              <a:t>B. HACKATHON PLAN</a:t>
            </a:r>
          </a:p>
        </p:txBody>
      </p:sp>
      <p:sp>
        <p:nvSpPr>
          <p:cNvPr id="169" name="Shape 27"/>
          <p:cNvSpPr/>
          <p:nvPr/>
        </p:nvSpPr>
        <p:spPr>
          <a:xfrm>
            <a:off x="6494979" y="2885868"/>
            <a:ext cx="5410051" cy="4572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0" name="Text 28"/>
          <p:cNvSpPr txBox="1"/>
          <p:nvPr/>
        </p:nvSpPr>
        <p:spPr>
          <a:xfrm>
            <a:off x="6677860" y="3019787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1E88E5"/>
                </a:solidFill>
              </a:defRPr>
            </a:lvl1pPr>
          </a:lstStyle>
          <a:p>
            <a:r>
              <a:t>01</a:t>
            </a:r>
          </a:p>
        </p:txBody>
      </p:sp>
      <p:sp>
        <p:nvSpPr>
          <p:cNvPr id="171" name="Text 29"/>
          <p:cNvSpPr txBox="1"/>
          <p:nvPr/>
        </p:nvSpPr>
        <p:spPr>
          <a:xfrm>
            <a:off x="7180781" y="2885868"/>
            <a:ext cx="4541370" cy="457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1200" b="1" i="1">
                <a:solidFill>
                  <a:srgbClr val="17202A"/>
                </a:solidFill>
              </a:defRPr>
            </a:lvl1pPr>
          </a:lstStyle>
          <a:p>
            <a:r>
              <a:rPr sz="1100" b="1" i="0" dirty="0">
                <a:solidFill>
                  <a:srgbClr val="123B66"/>
                </a:solidFill>
              </a:rPr>
              <a:t>H0–8  ·  Core event-driven workflow: ingestion, canonical events, patient / hospital / ambulance state</a:t>
            </a:r>
          </a:p>
        </p:txBody>
      </p:sp>
      <p:sp>
        <p:nvSpPr>
          <p:cNvPr id="172" name="Shape 30"/>
          <p:cNvSpPr/>
          <p:nvPr/>
        </p:nvSpPr>
        <p:spPr>
          <a:xfrm>
            <a:off x="6494979" y="3452795"/>
            <a:ext cx="5410051" cy="45720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3" name="Text 31"/>
          <p:cNvSpPr txBox="1"/>
          <p:nvPr/>
        </p:nvSpPr>
        <p:spPr>
          <a:xfrm>
            <a:off x="6677860" y="3586715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1E88E5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174" name="Text 32"/>
          <p:cNvSpPr txBox="1"/>
          <p:nvPr/>
        </p:nvSpPr>
        <p:spPr>
          <a:xfrm>
            <a:off x="7180781" y="3452795"/>
            <a:ext cx="4541370" cy="457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1200" b="1" i="1">
                <a:solidFill>
                  <a:srgbClr val="17202A"/>
                </a:solidFill>
              </a:defRPr>
            </a:lvl1pPr>
          </a:lstStyle>
          <a:p>
            <a:r>
              <a:rPr sz="1100" b="1" i="0" dirty="0">
                <a:solidFill>
                  <a:srgbClr val="123B66"/>
                </a:solidFill>
              </a:rPr>
              <a:t>H8–16  ·  Hospital acceptance protocol + coordination: request, response states, expiry</a:t>
            </a:r>
          </a:p>
        </p:txBody>
      </p:sp>
      <p:sp>
        <p:nvSpPr>
          <p:cNvPr id="175" name="Shape 33"/>
          <p:cNvSpPr/>
          <p:nvPr/>
        </p:nvSpPr>
        <p:spPr>
          <a:xfrm>
            <a:off x="6494979" y="4019723"/>
            <a:ext cx="5410051" cy="45720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6" name="Text 34"/>
          <p:cNvSpPr txBox="1"/>
          <p:nvPr/>
        </p:nvSpPr>
        <p:spPr>
          <a:xfrm>
            <a:off x="6677860" y="4153644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1E88E5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177" name="Text 35"/>
          <p:cNvSpPr txBox="1"/>
          <p:nvPr/>
        </p:nvSpPr>
        <p:spPr>
          <a:xfrm>
            <a:off x="7180781" y="4019723"/>
            <a:ext cx="4541370" cy="457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1200" b="1" i="1">
                <a:solidFill>
                  <a:srgbClr val="17202A"/>
                </a:solidFill>
              </a:defRPr>
            </a:lvl1pPr>
          </a:lstStyle>
          <a:p>
            <a:r>
              <a:rPr sz="1100" b="1" i="0" dirty="0">
                <a:solidFill>
                  <a:srgbClr val="123B66"/>
                </a:solidFill>
              </a:rPr>
              <a:t>H16–24  ·  Realtime routing / rerouting + integration testing</a:t>
            </a:r>
          </a:p>
        </p:txBody>
      </p:sp>
      <p:sp>
        <p:nvSpPr>
          <p:cNvPr id="178" name="Shape 36"/>
          <p:cNvSpPr/>
          <p:nvPr/>
        </p:nvSpPr>
        <p:spPr>
          <a:xfrm>
            <a:off x="6494979" y="4586652"/>
            <a:ext cx="5410051" cy="45720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9" name="Text 37"/>
          <p:cNvSpPr txBox="1"/>
          <p:nvPr/>
        </p:nvSpPr>
        <p:spPr>
          <a:xfrm>
            <a:off x="6677860" y="4720571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rgbClr val="1E88E5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180" name="Text 38"/>
          <p:cNvSpPr txBox="1"/>
          <p:nvPr/>
        </p:nvSpPr>
        <p:spPr>
          <a:xfrm>
            <a:off x="7180781" y="4586652"/>
            <a:ext cx="4541370" cy="457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1200" b="1" i="1">
                <a:solidFill>
                  <a:srgbClr val="17202A"/>
                </a:solidFill>
              </a:defRPr>
            </a:lvl1pPr>
          </a:lstStyle>
          <a:p>
            <a:r>
              <a:rPr sz="1100" b="1" i="0" dirty="0">
                <a:solidFill>
                  <a:srgbClr val="123B66"/>
                </a:solidFill>
              </a:rPr>
              <a:t>H24–30  ·  Final integrated demo: deterministic scenario, rehearsal, submission</a:t>
            </a:r>
          </a:p>
        </p:txBody>
      </p:sp>
      <p:sp>
        <p:nvSpPr>
          <p:cNvPr id="185" name="Shape 43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86" name="Text 44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r>
              <a:t>AWS INNOVATION CHALLENGE  |   ONLINE SHORTLISTING   |   2026</a:t>
            </a:r>
          </a:p>
        </p:txBody>
      </p:sp>
      <p:sp>
        <p:nvSpPr>
          <p:cNvPr id="187" name="Text 45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90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 spc="100">
                <a:solidFill>
                  <a:srgbClr val="1E88E5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 b="1">
                <a:solidFill>
                  <a:srgbClr val="123B66"/>
                </a:solidFill>
              </a:defRPr>
            </a:lvl1pPr>
          </a:lstStyle>
          <a:p>
            <a:r>
              <a:t>TEAM &amp; EXECUTION READINESS</a:t>
            </a:r>
          </a:p>
        </p:txBody>
      </p:sp>
      <p:sp>
        <p:nvSpPr>
          <p:cNvPr id="192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93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123B66"/>
                </a:solidFill>
              </a:defRPr>
            </a:lvl1pPr>
          </a:lstStyle>
          <a:p>
            <a:r>
              <a:t>5 POINTS</a:t>
            </a:r>
          </a:p>
        </p:txBody>
      </p:sp>
      <p:sp>
        <p:nvSpPr>
          <p:cNvPr id="194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195" name="Table 0"/>
          <p:cNvGraphicFramePr/>
          <p:nvPr>
            <p:extLst>
              <p:ext uri="{D42A27DB-BD31-4B8C-83A1-F6EECF244321}">
                <p14:modId xmlns:p14="http://schemas.microsoft.com/office/powerpoint/2010/main" val="719819221"/>
              </p:ext>
            </p:extLst>
          </p:nvPr>
        </p:nvGraphicFramePr>
        <p:xfrm>
          <a:off x="502919" y="1735654"/>
          <a:ext cx="8378647" cy="135346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79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solidFill>
                      <a:srgbClr val="123B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solidFill>
                      <a:srgbClr val="123B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RELEVANT SKILLS</a:t>
                      </a: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solidFill>
                      <a:srgbClr val="123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2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050" i="1" dirty="0">
                          <a:solidFill>
                            <a:srgbClr val="667085"/>
                          </a:solidFill>
                        </a:rPr>
                        <a:t>Yukith M Joseph</a:t>
                      </a:r>
                      <a:endParaRPr sz="1050" i="1" dirty="0">
                        <a:solidFill>
                          <a:srgbClr val="667085"/>
                        </a:solidFill>
                      </a:endParaRP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050" i="1" dirty="0">
                          <a:solidFill>
                            <a:srgbClr val="667085"/>
                          </a:solidFill>
                        </a:rPr>
                        <a:t>System &amp; Full-Stack Lead</a:t>
                      </a:r>
                      <a:endParaRPr sz="1050" i="1" dirty="0">
                        <a:solidFill>
                          <a:srgbClr val="667085"/>
                        </a:solidFill>
                      </a:endParaRP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050" i="1">
                          <a:solidFill>
                            <a:srgbClr val="667085"/>
                          </a:solidFill>
                        </a:rPr>
                        <a:t>TypeScript/Zod,Node.js,event-driven architecture,AWS CDK, MapLibre, React/Vite, UI Integration</a:t>
                      </a:r>
                      <a:endParaRPr sz="1050" i="1" dirty="0">
                        <a:solidFill>
                          <a:srgbClr val="667085"/>
                        </a:solidFill>
                      </a:endParaRP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32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050" i="1" dirty="0">
                          <a:solidFill>
                            <a:srgbClr val="667085"/>
                          </a:solidFill>
                        </a:rPr>
                        <a:t>Pranathi Nagabhushana</a:t>
                      </a:r>
                      <a:endParaRPr sz="1050" i="1" dirty="0">
                        <a:solidFill>
                          <a:srgbClr val="667085"/>
                        </a:solidFill>
                      </a:endParaRP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050" i="1" dirty="0">
                          <a:solidFill>
                            <a:srgbClr val="667085"/>
                          </a:solidFill>
                        </a:rPr>
                        <a:t>Healthcare workflow and API &amp; Demo Integration</a:t>
                      </a:r>
                      <a:endParaRPr sz="1050" i="1" dirty="0">
                        <a:solidFill>
                          <a:srgbClr val="667085"/>
                        </a:solidFill>
                      </a:endParaRP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050" i="1" dirty="0">
                          <a:solidFill>
                            <a:srgbClr val="667085"/>
                          </a:solidFill>
                        </a:rPr>
                        <a:t>Healthcare workflow design , API Basics, Socket.IO, Realtime event handling, testing &amp; Documentation</a:t>
                      </a:r>
                      <a:endParaRPr sz="1050" i="1" dirty="0">
                        <a:solidFill>
                          <a:srgbClr val="667085"/>
                        </a:solidFill>
                      </a:endParaRPr>
                    </a:p>
                  </a:txBody>
                  <a:tcPr marL="76200" marR="76200" marT="76200" marB="76200" anchor="ctr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6" name="Text 6"/>
          <p:cNvSpPr txBox="1"/>
          <p:nvPr/>
        </p:nvSpPr>
        <p:spPr>
          <a:xfrm>
            <a:off x="502920" y="3830000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>
                <a:solidFill>
                  <a:srgbClr val="123B66"/>
                </a:solidFill>
              </a:defRPr>
            </a:lvl1pPr>
          </a:lstStyle>
          <a:p>
            <a:r>
              <a:t>WHY THIS TEAM?</a:t>
            </a:r>
          </a:p>
        </p:txBody>
      </p:sp>
      <p:sp>
        <p:nvSpPr>
          <p:cNvPr id="197" name="Text 7"/>
          <p:cNvSpPr txBox="1"/>
          <p:nvPr/>
        </p:nvSpPr>
        <p:spPr>
          <a:xfrm>
            <a:off x="502920" y="4045000"/>
            <a:ext cx="8378646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defRPr sz="1100" i="1">
                <a:solidFill>
                  <a:srgbClr val="667085"/>
                </a:solidFill>
              </a:defRPr>
            </a:lvl1pPr>
          </a:lstStyle>
          <a:p>
            <a:r>
              <a:rPr lang="en-IN" dirty="0"/>
              <a:t>Our team combines a proven technical stack (</a:t>
            </a:r>
            <a:r>
              <a:rPr lang="en-IN" b="1" dirty="0"/>
              <a:t>TypeScript/Zod, Node.js + Socket.IO, React/Vite, MapLibre, AWS CDK</a:t>
            </a:r>
            <a:r>
              <a:rPr lang="en-IN" dirty="0"/>
              <a:t>) with high-impact problem awareness and seamless execution synergy. We rapidly iterate in parallel without friction, making us uniquely equipped to deliver this solution.</a:t>
            </a:r>
            <a:endParaRPr sz="1100" dirty="0"/>
          </a:p>
        </p:txBody>
      </p:sp>
      <p:sp>
        <p:nvSpPr>
          <p:cNvPr id="200" name="Text 10"/>
          <p:cNvSpPr txBox="1"/>
          <p:nvPr/>
        </p:nvSpPr>
        <p:spPr>
          <a:xfrm>
            <a:off x="731520" y="5010725"/>
            <a:ext cx="173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r>
              <a:t>OPTIONAL — NOT REQUIRED</a:t>
            </a:r>
          </a:p>
        </p:txBody>
      </p:sp>
      <p:sp>
        <p:nvSpPr>
          <p:cNvPr id="207" name="Shape 17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8" name="Text 18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r>
              <a:t>AWS INNOVATION CHALLENGE  |   ONLINE SHORTLISTING   |   2026</a:t>
            </a:r>
          </a:p>
        </p:txBody>
      </p:sp>
      <p:sp>
        <p:nvSpPr>
          <p:cNvPr id="209" name="Text 19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Widescreen</PresentationFormat>
  <Paragraphs>166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Yukith Joseph</cp:lastModifiedBy>
  <cp:revision>1</cp:revision>
  <dcterms:modified xsi:type="dcterms:W3CDTF">2026-09-26T19:29:40Z</dcterms:modified>
</cp:coreProperties>
</file>