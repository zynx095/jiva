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731520" y="648614"/>
            <a:ext cx="10725912" cy="1752600"/>
          </a:xfrm>
        </p:spPr>
        <p:txBody>
          <a:bodyPr/>
          <a:lstStyle/>
          <a:p>
            <a:pPr>
              <a:defRPr sz="2800" b="1">
                <a:solidFill>
                  <a:srgbClr val="0070C0"/>
                </a:solidFill>
                <a:latin typeface="Times New Roman"/>
              </a:defRPr>
            </a:pPr>
            <a:r>
              <a:t>JIVA: REAL-TIME HEALTHCARE COORDINATION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Garamond"/>
              </a:defRPr>
            </a:pPr>
            <a:r>
              <a:t>IDE BOOTCAMP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Rounded Rectangle 37"/>
          <p:cNvSpPr/>
          <p:nvPr/>
        </p:nvSpPr>
        <p:spPr>
          <a:xfrm>
            <a:off x="548640" y="1920240"/>
            <a:ext cx="512064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91440"/>
          <a:lstStyle/>
          <a:p>
            <a:pPr algn="ctr">
              <a:buNone/>
            </a:pPr>
            <a:r>
              <a:rPr sz="1150" b="1">
                <a:solidFill>
                  <a:srgbClr val="003366"/>
                </a:solidFill>
                <a:latin typeface="Arial"/>
              </a:rPr>
              <a:t>PROJECT IDENTIFICATION &amp; CORE THESIS
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Problem Statement Title: </a:t>
            </a:r>
            <a:r>
              <a:rPr sz="900" b="0">
                <a:solidFill>
                  <a:srgbClr val="1F2937"/>
                </a:solidFill>
                <a:latin typeface="Arial"/>
              </a:rPr>
              <a:t>Real-Time Emergency Healthcare Coordination &amp; Dynamic Hospital Routing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Theme: </a:t>
            </a:r>
            <a:r>
              <a:rPr sz="900" b="0">
                <a:solidFill>
                  <a:srgbClr val="1F2937"/>
                </a:solidFill>
                <a:latin typeface="Arial"/>
              </a:rPr>
              <a:t>Healthcare &amp; MedTech / Cloud-Native Emergency Mesh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PS Category: </a:t>
            </a:r>
            <a:r>
              <a:rPr sz="900" b="0">
                <a:solidFill>
                  <a:srgbClr val="1F2937"/>
                </a:solidFill>
                <a:latin typeface="Arial"/>
              </a:rPr>
              <a:t>Software (Event-Driven Healthcare Mesh)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Team Name: </a:t>
            </a:r>
            <a:r>
              <a:rPr sz="900" b="0">
                <a:solidFill>
                  <a:srgbClr val="1F2937"/>
                </a:solidFill>
                <a:latin typeface="Arial"/>
              </a:rPr>
              <a:t>Monochrome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Team Members: </a:t>
            </a:r>
            <a:r>
              <a:rPr sz="900" b="0">
                <a:solidFill>
                  <a:srgbClr val="1F2937"/>
                </a:solidFill>
                <a:latin typeface="Arial"/>
              </a:rPr>
              <a:t>Yukith M Joseph  •  Pranathi Nagabhushana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Solution Summary: </a:t>
            </a:r>
            <a:r>
              <a:rPr sz="900" b="0">
                <a:solidFill>
                  <a:srgbClr val="1F2937"/>
                </a:solidFill>
                <a:latin typeface="Arial"/>
              </a:rPr>
              <a:t>An event-driven layer maintaining a shared, timestamped care state for patients, ambulances, and hospitals, routing via explicit hospital acceptance and dynamically rerouting when state changes.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Verification Status: </a:t>
            </a:r>
            <a:r>
              <a:rPr sz="900" b="0">
                <a:solidFill>
                  <a:srgbClr val="1F2937"/>
                </a:solidFill>
                <a:latin typeface="Arial"/>
              </a:rPr>
              <a:t>Fully functional local prototype verified on synthetic Bengaluru data (124/124 checks pass). AWS architecture modeled in CDK (not deployed).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JIVA: CLOSED-LOOP HEALTHCARE COORDINATION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3" name="Rounded Rectangle 15362"/>
          <p:cNvSpPr/>
          <p:nvPr/>
        </p:nvSpPr>
        <p:spPr>
          <a:xfrm>
            <a:off x="548640" y="1143000"/>
            <a:ext cx="11091672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PROPOSED SOLUTION: The Closed-Loop Hospital Acceptance &amp; Dynamic Rerouting Engine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731520" y="1600200"/>
            <a:ext cx="1874519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1. Emergency Intake
</a:t>
            </a:r>
            <a:r>
              <a:rPr sz="950">
                <a:solidFill>
                  <a:srgbClr val="4B5563"/>
                </a:solidFill>
                <a:latin typeface="Arial"/>
              </a:rPr>
              <a:t>Patient / Paramedic logs incident
Clinical requirements tagged
Canonical event ingested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2880360" y="1600200"/>
            <a:ext cx="1874519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2. Feasibility Gate
</a:t>
            </a:r>
            <a:r>
              <a:rPr sz="950">
                <a:solidFill>
                  <a:srgbClr val="4B5563"/>
                </a:solidFill>
                <a:latin typeface="Arial"/>
              </a:rPr>
              <a:t>Candidate hospitals evaluated
Determinism &amp; freshness check
Identifies eligible facilities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029200" y="1600200"/>
            <a:ext cx="1874519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3. Acceptance SLA
</a:t>
            </a:r>
            <a:r>
              <a:rPr sz="950">
                <a:solidFill>
                  <a:srgbClr val="4B5563"/>
                </a:solidFill>
                <a:latin typeface="Arial"/>
              </a:rPr>
              <a:t>Targeted request dispatched
Case-scoped confirmation query
Strict timeout countdown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7178040" y="1600200"/>
            <a:ext cx="1874519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4. Explicit Response
</a:t>
            </a:r>
            <a:r>
              <a:rPr sz="950">
                <a:solidFill>
                  <a:srgbClr val="4B5563"/>
                </a:solidFill>
                <a:latin typeface="Arial"/>
              </a:rPr>
              <a:t>Mandatory active confirmation:
[ACCEPTED]  [LIMITED]
[REJECTED]  [UNAVAILABLE]
Silence expires to UNKNOWN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9326880" y="1600200"/>
            <a:ext cx="1874519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5. Dynamic Reroute
</a:t>
            </a:r>
            <a:r>
              <a:rPr sz="950">
                <a:solidFill>
                  <a:srgbClr val="4B5563"/>
                </a:solidFill>
                <a:latin typeface="Arial"/>
              </a:rPr>
              <a:t>Confirmed unit dispatched
Real-time GPS telemetry sync
Reroutes if hospital degrades</a:t>
            </a:r>
          </a:p>
        </p:txBody>
      </p:sp>
      <p:sp>
        <p:nvSpPr>
          <p:cNvPr id="15370" name="Right Arrow 15369"/>
          <p:cNvSpPr/>
          <p:nvPr/>
        </p:nvSpPr>
        <p:spPr>
          <a:xfrm>
            <a:off x="2651760" y="2331720"/>
            <a:ext cx="182880" cy="20116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ight Arrow 15370"/>
          <p:cNvSpPr/>
          <p:nvPr/>
        </p:nvSpPr>
        <p:spPr>
          <a:xfrm>
            <a:off x="4800600" y="2331720"/>
            <a:ext cx="182880" cy="20116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ight Arrow 15371"/>
          <p:cNvSpPr/>
          <p:nvPr/>
        </p:nvSpPr>
        <p:spPr>
          <a:xfrm>
            <a:off x="6949440" y="2331720"/>
            <a:ext cx="182880" cy="20116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Right Arrow 15372"/>
          <p:cNvSpPr/>
          <p:nvPr/>
        </p:nvSpPr>
        <p:spPr>
          <a:xfrm>
            <a:off x="9098280" y="2331720"/>
            <a:ext cx="182880" cy="20116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548640" y="3611880"/>
            <a:ext cx="54406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buNone/>
            </a:pPr>
            <a:r>
              <a:rPr sz="1250" b="1">
                <a:solidFill>
                  <a:srgbClr val="B91C1C"/>
                </a:solidFill>
                <a:latin typeface="Arial"/>
              </a:rPr>
              <a:t>❌  EXISTING REALITY: Static &amp; Unverified Assumptions
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Assumed Readiness: </a:t>
            </a:r>
            <a:r>
              <a:rPr sz="950">
                <a:solidFill>
                  <a:srgbClr val="4B5563"/>
                </a:solidFill>
                <a:latin typeface="Arial"/>
              </a:rPr>
              <a:t>Directory listings prove a hospital exists, not that an ICU bed or specialist is free right now.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Fragmented Phone Calls: </a:t>
            </a:r>
            <a:r>
              <a:rPr sz="950">
                <a:solidFill>
                  <a:srgbClr val="4B5563"/>
                </a:solidFill>
                <a:latin typeface="Arial"/>
              </a:rPr>
              <a:t>Paramedics negotiate en-route over phone; no shared timestamped picture.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Fatal ER Diversion: </a:t>
            </a:r>
            <a:r>
              <a:rPr sz="950">
                <a:solidFill>
                  <a:srgbClr val="4B5563"/>
                </a:solidFill>
                <a:latin typeface="Arial"/>
              </a:rPr>
              <a:t>Ambulance arrives unannounced at saturated emergency room → turned away at the door.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Static Destination Lock: </a:t>
            </a:r>
            <a:r>
              <a:rPr sz="950">
                <a:solidFill>
                  <a:srgbClr val="4B5563"/>
                </a:solidFill>
                <a:latin typeface="Arial"/>
              </a:rPr>
              <a:t>Destination is chosen once at dispatch; zero awareness if conditions degrade en-route.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6199632" y="3611880"/>
            <a:ext cx="54406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buNone/>
            </a:pPr>
            <a:r>
              <a:rPr sz="1250" b="1">
                <a:solidFill>
                  <a:srgbClr val="15803D"/>
                </a:solidFill>
                <a:latin typeface="Arial"/>
              </a:rPr>
              <a:t>✔  JIVA SOLUTION: Closed-Loop Event-Driven Coordination
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Explicit Confirmation: </a:t>
            </a:r>
            <a:r>
              <a:rPr sz="950">
                <a:solidFill>
                  <a:srgbClr val="4B5563"/>
                </a:solidFill>
                <a:latin typeface="Arial"/>
              </a:rPr>
              <a:t>Hospitals must actively confirm acceptance; unconfirmed requests deterministically expire to UNKNOWN.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Live Dynamic Rerouting: </a:t>
            </a:r>
            <a:r>
              <a:rPr sz="950">
                <a:solidFill>
                  <a:srgbClr val="4B5563"/>
                </a:solidFill>
                <a:latin typeface="Arial"/>
              </a:rPr>
              <a:t>If an accepted hospital becomes UNAVAILABLE en-route, JIVA immediately triggers dynamic rerouting.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Zero EHR Intrusion: </a:t>
            </a:r>
            <a:r>
              <a:rPr sz="950">
                <a:solidFill>
                  <a:srgbClr val="4B5563"/>
                </a:solidFill>
                <a:latin typeface="Arial"/>
              </a:rPr>
              <a:t>Lightweight web overlay across 4 role-scoped apps (:5174-:5177); zero costly HIS integrations.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Deterministic Feasibility: </a:t>
            </a:r>
            <a:r>
              <a:rPr sz="950">
                <a:solidFill>
                  <a:srgbClr val="4B5563"/>
                </a:solidFill>
                <a:latin typeface="Arial"/>
              </a:rPr>
              <a:t>100% deterministic rule verification &amp; SHA-256 event audits; generative AI strictly advisory.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TECHNICAL APPROACH &amp;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143000"/>
            <a:ext cx="1109167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11887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SYSTEM ARCHITECTURE: Hybrid Local-to-Cloud Event-Driven Mesh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31520" y="1554480"/>
            <a:ext cx="201168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CLIENT TIER
React 19 / Vite</a:t>
            </a:r>
          </a:p>
          <a:p>
            <a:pPr algn="ctr">
              <a:spcBef>
                <a:spcPts val="400"/>
              </a:spcBef>
              <a:buNone/>
            </a:pPr>
            <a:r>
              <a:rPr sz="950" b="1">
                <a:solidFill>
                  <a:srgbClr val="1F2937"/>
                </a:solidFill>
                <a:latin typeface="Arial"/>
              </a:rPr>
              <a:t>[Patient Portal :5174]</a:t>
            </a:r>
          </a:p>
          <a:p>
            <a:pPr algn="ctr">
              <a:spcBef>
                <a:spcPts val="400"/>
              </a:spcBef>
              <a:buNone/>
            </a:pPr>
            <a:r>
              <a:rPr sz="950" b="1">
                <a:solidFill>
                  <a:srgbClr val="1F2937"/>
                </a:solidFill>
                <a:latin typeface="Arial"/>
              </a:rPr>
              <a:t>[Paramedic App :5175]</a:t>
            </a:r>
          </a:p>
          <a:p>
            <a:pPr algn="ctr">
              <a:spcBef>
                <a:spcPts val="400"/>
              </a:spcBef>
              <a:buNone/>
            </a:pPr>
            <a:r>
              <a:rPr sz="950" b="1">
                <a:solidFill>
                  <a:srgbClr val="1F2937"/>
                </a:solidFill>
                <a:latin typeface="Arial"/>
              </a:rPr>
              <a:t>[Hospital ED :5176]</a:t>
            </a:r>
          </a:p>
          <a:p>
            <a:pPr algn="ctr">
              <a:spcBef>
                <a:spcPts val="400"/>
              </a:spcBef>
              <a:buNone/>
            </a:pPr>
            <a:r>
              <a:rPr sz="950" b="1">
                <a:solidFill>
                  <a:srgbClr val="1F2937"/>
                </a:solidFill>
                <a:latin typeface="Arial"/>
              </a:rPr>
              <a:t>[Coordinator :5177]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2788920" y="2697480"/>
            <a:ext cx="182880" cy="20116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3017520" y="1554480"/>
            <a:ext cx="201168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INGESTION &amp; AUTH
API Gateway / REST</a:t>
            </a:r>
          </a:p>
          <a:p>
            <a:pPr algn="ctr">
              <a:spcBef>
                <a:spcPts val="300"/>
              </a:spcBef>
              <a:buNone/>
            </a:pPr>
            <a:r>
              <a:rPr sz="900">
                <a:solidFill>
                  <a:srgbClr val="4B5563"/>
                </a:solidFill>
                <a:latin typeface="Arial"/>
              </a:rPr>
              <a:t>• Zod Schema Validation</a:t>
            </a:r>
          </a:p>
          <a:p>
            <a:pPr algn="ctr">
              <a:spcBef>
                <a:spcPts val="300"/>
              </a:spcBef>
              <a:buNone/>
            </a:pPr>
            <a:r>
              <a:rPr sz="900">
                <a:solidFill>
                  <a:srgbClr val="4B5563"/>
                </a:solidFill>
                <a:latin typeface="Arial"/>
              </a:rPr>
              <a:t>• Strict Payload Filtering</a:t>
            </a:r>
          </a:p>
          <a:p>
            <a:pPr algn="ctr">
              <a:spcBef>
                <a:spcPts val="300"/>
              </a:spcBef>
              <a:buNone/>
            </a:pPr>
            <a:r>
              <a:rPr sz="900">
                <a:solidFill>
                  <a:srgbClr val="4B5563"/>
                </a:solidFill>
                <a:latin typeface="Arial"/>
              </a:rPr>
              <a:t>• Cognito / Role Tokens</a:t>
            </a:r>
          </a:p>
          <a:p>
            <a:pPr algn="ctr">
              <a:spcBef>
                <a:spcPts val="300"/>
              </a:spcBef>
              <a:buNone/>
            </a:pPr>
            <a:r>
              <a:rPr sz="900">
                <a:solidFill>
                  <a:srgbClr val="4B5563"/>
                </a:solidFill>
                <a:latin typeface="Arial"/>
              </a:rPr>
              <a:t>• Policy Hash (hashPolicy)</a:t>
            </a:r>
          </a:p>
          <a:p>
            <a:pPr algn="ctr">
              <a:spcBef>
                <a:spcPts val="300"/>
              </a:spcBef>
              <a:buNone/>
            </a:pPr>
            <a:r>
              <a:rPr sz="900">
                <a:solidFill>
                  <a:srgbClr val="4B5563"/>
                </a:solidFill>
                <a:latin typeface="Arial"/>
              </a:rPr>
              <a:t>• Port-Keyed Isolation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5074920" y="2697480"/>
            <a:ext cx="182880" cy="20116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303520" y="1554480"/>
            <a:ext cx="32918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EVENT MESH &amp; DOMAIN LOGIC
Amazon EventBridge + Lambda / Node.js</a:t>
            </a:r>
          </a:p>
          <a:p>
            <a:pPr>
              <a:spcBef>
                <a:spcPts val="200"/>
              </a:spcBef>
              <a:buNone/>
            </a:pPr>
            <a:r>
              <a:rPr sz="900" b="1">
                <a:solidFill>
                  <a:srgbClr val="1F2937"/>
                </a:solidFill>
                <a:latin typeface="Arial"/>
              </a:rPr>
              <a:t>• Canonical Event Bus: </a:t>
            </a:r>
            <a:r>
              <a:rPr sz="850">
                <a:solidFill>
                  <a:srgbClr val="4B5563"/>
                </a:solidFill>
                <a:latin typeface="Arial"/>
              </a:rPr>
              <a:t>Broadcasts validated lifecycle events</a:t>
            </a:r>
          </a:p>
          <a:p>
            <a:pPr>
              <a:spcBef>
                <a:spcPts val="200"/>
              </a:spcBef>
              <a:buNone/>
            </a:pPr>
            <a:r>
              <a:rPr sz="900" b="1">
                <a:solidFill>
                  <a:srgbClr val="1F2937"/>
                </a:solidFill>
                <a:latin typeface="Arial"/>
              </a:rPr>
              <a:t>• State Transition Engine: </a:t>
            </a:r>
            <a:r>
              <a:rPr sz="850">
                <a:solidFill>
                  <a:srgbClr val="4B5563"/>
                </a:solidFill>
                <a:latin typeface="Arial"/>
              </a:rPr>
              <a:t>Tracks PENDING → ACCEPTED / REJECTED</a:t>
            </a:r>
          </a:p>
          <a:p>
            <a:pPr>
              <a:spcBef>
                <a:spcPts val="200"/>
              </a:spcBef>
              <a:buNone/>
            </a:pPr>
            <a:r>
              <a:rPr sz="900" b="1">
                <a:solidFill>
                  <a:srgbClr val="1F2937"/>
                </a:solidFill>
                <a:latin typeface="Arial"/>
              </a:rPr>
              <a:t>• Dynamic Reroute Logic: </a:t>
            </a:r>
            <a:r>
              <a:rPr sz="850">
                <a:solidFill>
                  <a:srgbClr val="4B5563"/>
                </a:solidFill>
                <a:latin typeface="Arial"/>
              </a:rPr>
              <a:t>Auto-triggers recalculation on status change</a:t>
            </a:r>
          </a:p>
          <a:p>
            <a:pPr>
              <a:spcBef>
                <a:spcPts val="200"/>
              </a:spcBef>
              <a:buNone/>
            </a:pPr>
            <a:r>
              <a:rPr sz="900" b="1">
                <a:solidFill>
                  <a:srgbClr val="1F2937"/>
                </a:solidFill>
                <a:latin typeface="Arial"/>
              </a:rPr>
              <a:t>• Deterministic Shadow Engine: </a:t>
            </a:r>
            <a:r>
              <a:rPr sz="850">
                <a:solidFill>
                  <a:srgbClr val="4B5563"/>
                </a:solidFill>
                <a:latin typeface="Arial"/>
              </a:rPr>
              <a:t>Parallel feasibility, freshness &amp; provenance check</a:t>
            </a:r>
          </a:p>
          <a:p>
            <a:pPr>
              <a:spcBef>
                <a:spcPts val="200"/>
              </a:spcBef>
              <a:buNone/>
            </a:pPr>
            <a:r>
              <a:rPr sz="900" b="1">
                <a:solidFill>
                  <a:srgbClr val="1F2937"/>
                </a:solidFill>
                <a:latin typeface="Arial"/>
              </a:rPr>
              <a:t>• Amazon Bedrock (Advisory): </a:t>
            </a:r>
            <a:r>
              <a:rPr sz="850">
                <a:solidFill>
                  <a:srgbClr val="4B5563"/>
                </a:solidFill>
                <a:latin typeface="Arial"/>
              </a:rPr>
              <a:t>Strictly clinical summaries; ZERO routing authority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8641080" y="2697480"/>
            <a:ext cx="182880" cy="20116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8869680" y="1554480"/>
            <a:ext cx="256032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PERSISTENCE &amp; SPATIAL
DynamoDB &amp; MapLibre GL</a:t>
            </a:r>
          </a:p>
          <a:p>
            <a:pPr>
              <a:spcBef>
                <a:spcPts val="300"/>
              </a:spcBef>
              <a:buNone/>
            </a:pPr>
            <a:r>
              <a:rPr sz="900" b="1">
                <a:solidFill>
                  <a:srgbClr val="1F2937"/>
                </a:solidFill>
                <a:latin typeface="Arial"/>
              </a:rPr>
              <a:t>• Operational State Store: </a:t>
            </a:r>
            <a:r>
              <a:rPr sz="850">
                <a:solidFill>
                  <a:srgbClr val="4B5563"/>
                </a:solidFill>
                <a:latin typeface="Arial"/>
              </a:rPr>
              <a:t>In-memory locally (&lt;50ms) / DynamoDB cloud</a:t>
            </a:r>
          </a:p>
          <a:p>
            <a:pPr>
              <a:spcBef>
                <a:spcPts val="300"/>
              </a:spcBef>
              <a:buNone/>
            </a:pPr>
            <a:r>
              <a:rPr sz="900" b="1">
                <a:solidFill>
                  <a:srgbClr val="1F2937"/>
                </a:solidFill>
                <a:latin typeface="Arial"/>
              </a:rPr>
              <a:t>• SHA-256 Audit Ledger: </a:t>
            </a:r>
            <a:r>
              <a:rPr sz="850">
                <a:solidFill>
                  <a:srgbClr val="4B5563"/>
                </a:solidFill>
                <a:latin typeface="Arial"/>
              </a:rPr>
              <a:t>Immutable forensic history of every state change</a:t>
            </a:r>
          </a:p>
          <a:p>
            <a:pPr>
              <a:spcBef>
                <a:spcPts val="300"/>
              </a:spcBef>
              <a:buNone/>
            </a:pPr>
            <a:r>
              <a:rPr sz="900" b="1">
                <a:solidFill>
                  <a:srgbClr val="1F2937"/>
                </a:solidFill>
                <a:latin typeface="Arial"/>
              </a:rPr>
              <a:t>• Spatial Map Engine: </a:t>
            </a:r>
            <a:r>
              <a:rPr sz="850">
                <a:solidFill>
                  <a:srgbClr val="4B5563"/>
                </a:solidFill>
                <a:latin typeface="Arial"/>
              </a:rPr>
              <a:t>MapLibre GL client-side WebGL vector rendering</a:t>
            </a:r>
          </a:p>
          <a:p>
            <a:pPr>
              <a:spcBef>
                <a:spcPts val="300"/>
              </a:spcBef>
              <a:buNone/>
            </a:pPr>
            <a:r>
              <a:rPr sz="900" b="1">
                <a:solidFill>
                  <a:srgbClr val="1F2937"/>
                </a:solidFill>
                <a:latin typeface="Arial"/>
              </a:rPr>
              <a:t>• Routing Engine Fallback: </a:t>
            </a:r>
            <a:r>
              <a:rPr sz="850">
                <a:solidFill>
                  <a:srgbClr val="4B5563"/>
                </a:solidFill>
                <a:latin typeface="Arial"/>
              </a:rPr>
              <a:t>Valhalla/OSRM; failures yield UNKNOWN (not 0)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48640" y="4389120"/>
            <a:ext cx="11091672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731520" y="443484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3366"/>
                </a:solidFill>
                <a:latin typeface="Arial"/>
              </a:defRPr>
            </a:pPr>
            <a:r>
              <a:t>IMPLEMENTATION METHODOLOGY &amp; AUTOMATED VERIFICATION BASELINE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731520" y="4709160"/>
            <a:ext cx="2514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buNone/>
            </a:pPr>
            <a:r>
              <a:rPr sz="1000" b="1">
                <a:solidFill>
                  <a:srgbClr val="0070C0"/>
                </a:solidFill>
                <a:latin typeface="Arial"/>
              </a:rPr>
              <a:t>Phase 1: Ingestion
</a:t>
            </a:r>
            <a:r>
              <a:rPr sz="850">
                <a:solidFill>
                  <a:srgbClr val="4B5563"/>
                </a:solidFill>
                <a:latin typeface="Arial"/>
              </a:rPr>
              <a:t>Zod schemas, event bus, &amp; role contracts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429000" y="4709160"/>
            <a:ext cx="2514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buNone/>
            </a:pPr>
            <a:r>
              <a:rPr sz="1000" b="1">
                <a:solidFill>
                  <a:srgbClr val="0070C0"/>
                </a:solidFill>
                <a:latin typeface="Arial"/>
              </a:rPr>
              <a:t>Phase 2: Acceptance
</a:t>
            </a:r>
            <a:r>
              <a:rPr sz="850">
                <a:solidFill>
                  <a:srgbClr val="4B5563"/>
                </a:solidFill>
                <a:latin typeface="Arial"/>
              </a:rPr>
              <a:t>Case-scoped requests &amp; timeout SLA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26480" y="4709160"/>
            <a:ext cx="2514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buNone/>
            </a:pPr>
            <a:r>
              <a:rPr sz="1000" b="1">
                <a:solidFill>
                  <a:srgbClr val="0070C0"/>
                </a:solidFill>
                <a:latin typeface="Arial"/>
              </a:rPr>
              <a:t>Phase 3: Dynamic Reroute
</a:t>
            </a:r>
            <a:r>
              <a:rPr sz="850">
                <a:solidFill>
                  <a:srgbClr val="4B5563"/>
                </a:solidFill>
                <a:latin typeface="Arial"/>
              </a:rPr>
              <a:t>Auto-rerouting upon hospital degradation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823960" y="4709160"/>
            <a:ext cx="2514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buNone/>
            </a:pPr>
            <a:r>
              <a:rPr sz="1000" b="1">
                <a:solidFill>
                  <a:srgbClr val="0070C0"/>
                </a:solidFill>
                <a:latin typeface="Arial"/>
              </a:rPr>
              <a:t>Phase 4: Multi-App Mesh
</a:t>
            </a:r>
            <a:r>
              <a:rPr sz="850">
                <a:solidFill>
                  <a:srgbClr val="4B5563"/>
                </a:solidFill>
                <a:latin typeface="Arial"/>
              </a:rPr>
              <a:t>4 role-scoped apps + Live Demo portal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31520" y="5486400"/>
            <a:ext cx="338328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124/124 Runtime Checks Passing
Flagship simulation &amp; parity verified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389120" y="5486400"/>
            <a:ext cx="338328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25 Unit Test Suites Verified
Domain, transit, &amp; auth coverage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046720" y="5486400"/>
            <a:ext cx="356616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7 Lambda Bundles &amp; CDK Synth
esbuild compiled &amp; cleanly synthesized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600" b="1">
                <a:solidFill>
                  <a:srgbClr val="003366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143000"/>
            <a:ext cx="35204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200" b="1">
                <a:solidFill>
                  <a:srgbClr val="003366"/>
                </a:solidFill>
                <a:latin typeface="Arial"/>
              </a:rPr>
              <a:t>Operational Feasibility
</a:t>
            </a:r>
            <a:r>
              <a:rPr sz="950" b="1">
                <a:solidFill>
                  <a:srgbClr val="0070C0"/>
                </a:solidFill>
                <a:latin typeface="Arial"/>
              </a:rPr>
              <a:t>Zero EHR Intrusion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Lightweight Web Overlay: </a:t>
            </a:r>
            <a:r>
              <a:rPr sz="850">
                <a:solidFill>
                  <a:srgbClr val="4B5563"/>
                </a:solidFill>
                <a:latin typeface="Arial"/>
              </a:rPr>
              <a:t>Runs in any browser without costly integration into proprietary hospital EHR/HIS systems.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Zero Hardware Lock-In: </a:t>
            </a:r>
            <a:r>
              <a:rPr sz="850">
                <a:solidFill>
                  <a:srgbClr val="4B5563"/>
                </a:solidFill>
                <a:latin typeface="Arial"/>
              </a:rPr>
              <a:t>Compatible with any ambulance tablet, phone, or ER desktop; ECG IoT simulated via JSON.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Sub-50ms Processing: </a:t>
            </a:r>
            <a:r>
              <a:rPr sz="850">
                <a:solidFill>
                  <a:srgbClr val="4B5563"/>
                </a:solidFill>
                <a:latin typeface="Arial"/>
              </a:rPr>
              <a:t>Synchronous in-memory pipeline ensures instant operational response times.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343400" y="1143000"/>
            <a:ext cx="35204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200" b="1">
                <a:solidFill>
                  <a:srgbClr val="003366"/>
                </a:solidFill>
                <a:latin typeface="Arial"/>
              </a:rPr>
              <a:t>Technical Feasibility
</a:t>
            </a:r>
            <a:r>
              <a:rPr sz="950" b="1">
                <a:solidFill>
                  <a:srgbClr val="0070C0"/>
                </a:solidFill>
                <a:latin typeface="Arial"/>
              </a:rPr>
              <a:t>Offline-First to Cloud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Self-Contained Local Prototype: </a:t>
            </a:r>
            <a:r>
              <a:rPr sz="850">
                <a:solidFill>
                  <a:srgbClr val="4B5563"/>
                </a:solidFill>
                <a:latin typeface="Arial"/>
              </a:rPr>
              <a:t>100% offline-capable on port-isolated Vite servers for field / hackathon resilience.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CDK Serverless Architecture: </a:t>
            </a:r>
            <a:r>
              <a:rPr sz="850">
                <a:solidFill>
                  <a:srgbClr val="4B5563"/>
                </a:solidFill>
                <a:latin typeface="Arial"/>
              </a:rPr>
              <a:t>Clean 1:1 mapping from local components to AWS EventBridge, Lambda, and DynamoDB.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Shadow Engine Verification: </a:t>
            </a:r>
            <a:r>
              <a:rPr sz="850">
                <a:solidFill>
                  <a:srgbClr val="4B5563"/>
                </a:solidFill>
                <a:latin typeface="Arial"/>
              </a:rPr>
              <a:t>Runs parallel deterministic checks with 0 regression disagreements.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38160" y="1143000"/>
            <a:ext cx="35204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200" b="1">
                <a:solidFill>
                  <a:srgbClr val="003366"/>
                </a:solidFill>
                <a:latin typeface="Arial"/>
              </a:rPr>
              <a:t>Economic Viability
</a:t>
            </a:r>
            <a:r>
              <a:rPr sz="950" b="1">
                <a:solidFill>
                  <a:srgbClr val="0070C0"/>
                </a:solidFill>
                <a:latin typeface="Arial"/>
              </a:rPr>
              <a:t>High-Impact Cost Efficiency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Serverless Pay-Per-Event: </a:t>
            </a:r>
            <a:r>
              <a:rPr sz="850">
                <a:solidFill>
                  <a:srgbClr val="4B5563"/>
                </a:solidFill>
                <a:latin typeface="Arial"/>
              </a:rPr>
              <a:t>Negligible idle cost; scales dynamically with emergency call volume at fractions of a cent.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Prevents Fatal Diversions: </a:t>
            </a:r>
            <a:r>
              <a:rPr sz="850">
                <a:solidFill>
                  <a:srgbClr val="4B5563"/>
                </a:solidFill>
                <a:latin typeface="Arial"/>
              </a:rPr>
              <a:t>Eliminates catastrophic costs associated with secondary transfers and ER turnaways.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Resource Optimization: </a:t>
            </a:r>
            <a:r>
              <a:rPr sz="850">
                <a:solidFill>
                  <a:srgbClr val="4B5563"/>
                </a:solidFill>
                <a:latin typeface="Arial"/>
              </a:rPr>
              <a:t>Reduces wasted ambulance mileage and enables prepared hospital intake.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3291840"/>
            <a:ext cx="1109167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731520" y="336499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RISK VS. STRATEGY MITIGATION MATRIX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31520" y="3657600"/>
            <a:ext cx="5120640" cy="53035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B91C1C"/>
                </a:solidFill>
                <a:latin typeface="Arial"/>
              </a:rPr>
              <a:t>⚠ [RISK] Public Directory Blind Spots: </a:t>
            </a:r>
            <a:r>
              <a:rPr sz="850">
                <a:solidFill>
                  <a:srgbClr val="1F2937"/>
                </a:solidFill>
                <a:latin typeface="Arial"/>
              </a:rPr>
              <a:t>Govt hospital registries list facilities but lack live ICU / bed status.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5943600" y="3822192"/>
            <a:ext cx="164592" cy="1828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6199632" y="3657600"/>
            <a:ext cx="525780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[STRATEGY] Honest Availability Semantics: </a:t>
            </a:r>
            <a:r>
              <a:rPr sz="850">
                <a:solidFill>
                  <a:srgbClr val="1F2937"/>
                </a:solidFill>
                <a:latin typeface="Arial"/>
              </a:rPr>
              <a:t>Unconfirmed capacities strictly flagged UNKNOWN; explicit acceptance is mandatory.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31520" y="4251960"/>
            <a:ext cx="5120640" cy="53035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B91C1C"/>
                </a:solidFill>
                <a:latin typeface="Arial"/>
              </a:rPr>
              <a:t>⚠ [RISK] Urban Transit Cellular Drops: </a:t>
            </a:r>
            <a:r>
              <a:rPr sz="850">
                <a:solidFill>
                  <a:srgbClr val="1F2937"/>
                </a:solidFill>
                <a:latin typeface="Arial"/>
              </a:rPr>
              <a:t>Mobile connectivity fluctuates during high-speed ambulance transit.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5943600" y="4416552"/>
            <a:ext cx="164592" cy="1828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199632" y="4251960"/>
            <a:ext cx="525780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[STRATEGY] Offline Caching &amp; Reconnection: </a:t>
            </a:r>
            <a:r>
              <a:rPr sz="850">
                <a:solidFill>
                  <a:srgbClr val="1F2937"/>
                </a:solidFill>
                <a:latin typeface="Arial"/>
              </a:rPr>
              <a:t>Local client state caching, auto Socket.IO backoff; keeps last GPS with UNKNOWN ETA.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731520" y="4846320"/>
            <a:ext cx="5120640" cy="53035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B91C1C"/>
                </a:solidFill>
                <a:latin typeface="Arial"/>
              </a:rPr>
              <a:t>⚠ [RISK] In-Memory State Volatility: </a:t>
            </a:r>
            <a:r>
              <a:rPr sz="850">
                <a:solidFill>
                  <a:srgbClr val="1F2937"/>
                </a:solidFill>
                <a:latin typeface="Arial"/>
              </a:rPr>
              <a:t>Prototype runs in memory; process crash resets active emergency session.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5943600" y="5010912"/>
            <a:ext cx="164592" cy="1828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6199632" y="4846320"/>
            <a:ext cx="525780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[STRATEGY] Enterprise Persistence Path: </a:t>
            </a:r>
            <a:r>
              <a:rPr sz="850">
                <a:solidFill>
                  <a:srgbClr val="1F2937"/>
                </a:solidFill>
                <a:latin typeface="Arial"/>
              </a:rPr>
              <a:t>Migration roadmap mapped to transactional SQLite locally and DynamoDB single-table cloud.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731520" y="5440680"/>
            <a:ext cx="5120640" cy="53035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B91C1C"/>
                </a:solidFill>
                <a:latin typeface="Arial"/>
              </a:rPr>
              <a:t>⚠ [RISK] Generative AI Hallucinations: </a:t>
            </a:r>
            <a:r>
              <a:rPr sz="850">
                <a:solidFill>
                  <a:srgbClr val="1F2937"/>
                </a:solidFill>
                <a:latin typeface="Arial"/>
              </a:rPr>
              <a:t>Unbounded LLMs could hallucinate clinical triaging or routing destinations.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5943600" y="5605272"/>
            <a:ext cx="164592" cy="1828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6199632" y="5440680"/>
            <a:ext cx="525780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[STRATEGY] Strict Advisory AI Sandboxing: </a:t>
            </a:r>
            <a:r>
              <a:rPr sz="850">
                <a:solidFill>
                  <a:srgbClr val="1F2937"/>
                </a:solidFill>
                <a:latin typeface="Arial"/>
              </a:rPr>
              <a:t>Amazon Bedrock strictly sandboxed to read-only summaries; routing is 100% deterministic code.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600" b="1">
                <a:solidFill>
                  <a:srgbClr val="003366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1430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150" b="1">
                <a:solidFill>
                  <a:srgbClr val="003366"/>
                </a:solidFill>
                <a:latin typeface="Arial"/>
              </a:rPr>
              <a:t>Patients &amp; Families
</a:t>
            </a:r>
            <a:r>
              <a:rPr sz="900" b="1">
                <a:solidFill>
                  <a:srgbClr val="0070C0"/>
                </a:solidFill>
                <a:latin typeface="Arial"/>
              </a:rPr>
              <a:t>Transparent, Honest Emergency Transit
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Honest pre-arrival travel ETAs (never fake 0-min ETAs).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Eliminates traumatizing ER diversions &amp; secondary hospital turnaways.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Live transparent care status tracking during critical care intervals.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60520" y="11430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150" b="1">
                <a:solidFill>
                  <a:srgbClr val="003366"/>
                </a:solidFill>
                <a:latin typeface="Arial"/>
              </a:rPr>
              <a:t>Paramedic Crews
</a:t>
            </a:r>
            <a:r>
              <a:rPr sz="900" b="1">
                <a:solidFill>
                  <a:srgbClr val="0070C0"/>
                </a:solidFill>
                <a:latin typeface="Arial"/>
              </a:rPr>
              <a:t>Confirmed Destinations &amp; Zero Phone Chaos
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Guaranteed confirmed hospital bed before ambulance leaves the scene.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Automated hands-free dynamic reroute alerts if receiving ER status degrades.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Replaces chaotic en-route phone calls with structured digital handover.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36576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150" b="1">
                <a:solidFill>
                  <a:srgbClr val="003366"/>
                </a:solidFill>
                <a:latin typeface="Arial"/>
              </a:rPr>
              <a:t>Hospital Emergency Staff
</a:t>
            </a:r>
            <a:r>
              <a:rPr sz="900" b="1">
                <a:solidFill>
                  <a:srgbClr val="0070C0"/>
                </a:solidFill>
                <a:latin typeface="Arial"/>
              </a:rPr>
              <a:t>Structured Pre-Arrival Telemetry &amp; Prep
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Structured pre-arrival vitals enable advance trauma &amp; cath lab preparation.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One-click intake control: ACCEPT, LIMITED, or REJECT based on live capacity.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Prevents ER bottleneck congestion and uncoordinated ambulance flooding.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60520" y="36576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150" b="1">
                <a:solidFill>
                  <a:srgbClr val="003366"/>
                </a:solidFill>
                <a:latin typeface="Arial"/>
              </a:rPr>
              <a:t>Regional Care Coordinators
</a:t>
            </a:r>
            <a:r>
              <a:rPr sz="900" b="1">
                <a:solidFill>
                  <a:srgbClr val="0070C0"/>
                </a:solidFill>
                <a:latin typeface="Arial"/>
              </a:rPr>
              <a:t>District-Wide Situational Awareness
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Real-time operational dashboard across regional hospital beds &amp; dispatches.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Active monitoring of acceptance requests &amp; expiry SLA countdowns.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Dynamic cross-facility load balancing during mass-casualty incidents.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772400" y="1143000"/>
            <a:ext cx="3867912" cy="15544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50" b="1">
                <a:solidFill>
                  <a:srgbClr val="15803D"/>
                </a:solidFill>
                <a:latin typeface="Arial"/>
              </a:rPr>
              <a:t>Clinical &amp; Social Impact
</a:t>
            </a:r>
            <a:r>
              <a:rPr sz="950" b="1">
                <a:solidFill>
                  <a:srgbClr val="0070C0"/>
                </a:solidFill>
                <a:latin typeface="Arial"/>
              </a:rPr>
              <a:t>Compressing Door-to-Needle Intervals
</a:t>
            </a:r>
            <a:r>
              <a:rPr sz="850">
                <a:solidFill>
                  <a:srgbClr val="1F2937"/>
                </a:solidFill>
                <a:latin typeface="Arial"/>
              </a:rPr>
              <a:t>Dramatically reduces critical delays in acute stroke, STEMI, and trauma by eliminating secondary hospital transfers.
(Saves ~1.9M brain neurons per minute saved in ischemic stroke).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772400" y="2788920"/>
            <a:ext cx="3867912" cy="15544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50" b="1">
                <a:solidFill>
                  <a:srgbClr val="B45309"/>
                </a:solidFill>
                <a:latin typeface="Arial"/>
              </a:rPr>
              <a:t>Economic &amp; Urban Efficiency
</a:t>
            </a:r>
            <a:r>
              <a:rPr sz="950" b="1">
                <a:solidFill>
                  <a:srgbClr val="0070C0"/>
                </a:solidFill>
                <a:latin typeface="Arial"/>
              </a:rPr>
              <a:t>Minimizing Fuel &amp; Congestion Waste
</a:t>
            </a:r>
            <a:r>
              <a:rPr sz="850">
                <a:solidFill>
                  <a:srgbClr val="1F2937"/>
                </a:solidFill>
                <a:latin typeface="Arial"/>
              </a:rPr>
              <a:t>Dynamic shortest-feasible-path emergency routing eliminates circular transit, wasted vehicle idling, and citywide traffic disruption while optimizing ER throughput.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772400" y="4434840"/>
            <a:ext cx="3867912" cy="15544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50" b="1">
                <a:solidFill>
                  <a:srgbClr val="003366"/>
                </a:solidFill>
                <a:latin typeface="Arial"/>
              </a:rPr>
              <a:t>Forensic Governance
</a:t>
            </a:r>
            <a:r>
              <a:rPr sz="950" b="1">
                <a:solidFill>
                  <a:srgbClr val="0070C0"/>
                </a:solidFill>
                <a:latin typeface="Arial"/>
              </a:rPr>
              <a:t>Tamper-Evident SHA-256 Ledger
</a:t>
            </a:r>
            <a:r>
              <a:rPr sz="850">
                <a:solidFill>
                  <a:srgbClr val="1F2937"/>
                </a:solidFill>
                <a:latin typeface="Arial"/>
              </a:rPr>
              <a:t>Cryptographic policy hashing (hashPolicy) and immutable SHA-256 event audit trails provide forensic accountability for clinical governance and medico-legal auditability.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600" b="1">
                <a:solidFill>
                  <a:srgbClr val="003366"/>
                </a:solidFill>
                <a:latin typeface="Times New Roman"/>
              </a:defRPr>
            </a:pPr>
            <a: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143000"/>
            <a:ext cx="5440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00" b="1">
                <a:solidFill>
                  <a:srgbClr val="003366"/>
                </a:solidFill>
                <a:latin typeface="Arial"/>
              </a:rPr>
              <a:t>Public Healthcare Registries
</a:t>
            </a:r>
            <a:r>
              <a:rPr sz="900" b="1">
                <a:solidFill>
                  <a:srgbClr val="0070C0"/>
                </a:solidFill>
                <a:latin typeface="Arial"/>
              </a:rPr>
              <a:t>Data Grounding &amp; Facility Identity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Karnataka State Health &amp; Family Welfare Services: </a:t>
            </a:r>
            <a:r>
              <a:rPr sz="800">
                <a:solidFill>
                  <a:srgbClr val="4B5563"/>
                </a:solidFill>
                <a:latin typeface="Arial"/>
              </a:rPr>
              <a:t>https://hfw.karnataka.gov.in — official registry for state healthcare facilities.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BBMP Open Hospital Directory: </a:t>
            </a:r>
            <a:r>
              <a:rPr sz="800">
                <a:solidFill>
                  <a:srgbClr val="4B5563"/>
                </a:solidFill>
                <a:latin typeface="Arial"/>
              </a:rPr>
              <a:t>Bruhat Bengaluru Mahanagara Palike urban healthcare facility coordinates and publicly listed specialties.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7 Canonical Bengaluru Facilities: </a:t>
            </a:r>
            <a:r>
              <a:rPr sz="800">
                <a:solidFill>
                  <a:srgbClr val="4B5563"/>
                </a:solidFill>
                <a:latin typeface="Arial"/>
              </a:rPr>
              <a:t>Ground-truth benchmark dataset derived from open government registries; capacity marked UNKNOWN.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99632" y="1143000"/>
            <a:ext cx="5440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00" b="1">
                <a:solidFill>
                  <a:srgbClr val="003366"/>
                </a:solidFill>
                <a:latin typeface="Arial"/>
              </a:rPr>
              <a:t>Healthcare &amp; Facility Standards
</a:t>
            </a:r>
            <a:r>
              <a:rPr sz="900" b="1">
                <a:solidFill>
                  <a:srgbClr val="0070C0"/>
                </a:solidFill>
                <a:latin typeface="Arial"/>
              </a:rPr>
              <a:t>Data Modeling &amp; Nomenclature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Registry of Hospitals in Network of Insurance (ROHINI): </a:t>
            </a:r>
            <a:r>
              <a:rPr sz="800">
                <a:solidFill>
                  <a:srgbClr val="4B5563"/>
                </a:solidFill>
                <a:latin typeface="Arial"/>
              </a:rPr>
              <a:t>Insurance Information Bureau of India (IIB) (https://iib.gov.in) — facility identification standards.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HL7 FHIR Release 4: </a:t>
            </a:r>
            <a:r>
              <a:rPr sz="800">
                <a:solidFill>
                  <a:srgbClr val="4B5563"/>
                </a:solidFill>
                <a:latin typeface="Arial"/>
              </a:rPr>
              <a:t>https://hl7.org/fhir — foundational standards for timestamped clinical resource representation and event provenance.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Emergency Classification: </a:t>
            </a:r>
            <a:r>
              <a:rPr sz="800">
                <a:solidFill>
                  <a:srgbClr val="4B5563"/>
                </a:solidFill>
                <a:latin typeface="Arial"/>
              </a:rPr>
              <a:t>Standardized care requirement taxonomies for stroke, cardiac arrest, trauma, and burn cases.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3108960"/>
            <a:ext cx="5440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00" b="1">
                <a:solidFill>
                  <a:srgbClr val="003366"/>
                </a:solidFill>
                <a:latin typeface="Arial"/>
              </a:rPr>
              <a:t>Spatial Engine &amp; Mapping Framework
</a:t>
            </a:r>
            <a:r>
              <a:rPr sz="900" b="1">
                <a:solidFill>
                  <a:srgbClr val="0070C0"/>
                </a:solidFill>
                <a:latin typeface="Arial"/>
              </a:rPr>
              <a:t>Geospatial Routing Architecture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OpenStreetMap (OSM) Contributors: </a:t>
            </a:r>
            <a:r>
              <a:rPr sz="800">
                <a:solidFill>
                  <a:srgbClr val="4B5563"/>
                </a:solidFill>
                <a:latin typeface="Arial"/>
              </a:rPr>
              <a:t>https://www.openstreetmap.org — open-access topological road network vector graph.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MapLibre GL: </a:t>
            </a:r>
            <a:r>
              <a:rPr sz="800">
                <a:solidFill>
                  <a:srgbClr val="4B5563"/>
                </a:solidFill>
                <a:latin typeface="Arial"/>
              </a:rPr>
              <a:t>https://maplibre.org — hardware-accelerated WebGL client-side vector map renderer.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Valhalla &amp; OSRM Routing Engines: </a:t>
            </a:r>
            <a:r>
              <a:rPr sz="800">
                <a:solidFill>
                  <a:srgbClr val="4B5563"/>
                </a:solidFill>
                <a:latin typeface="Arial"/>
              </a:rPr>
              <a:t>High-performance multimodal matrix calculation with safe fallback to UNKNOWN ETA.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99632" y="3108960"/>
            <a:ext cx="5440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00" b="1">
                <a:solidFill>
                  <a:srgbClr val="003366"/>
                </a:solidFill>
                <a:latin typeface="Arial"/>
              </a:rPr>
              <a:t>Cloud &amp; Architectural Standards
</a:t>
            </a:r>
            <a:r>
              <a:rPr sz="900" b="1">
                <a:solidFill>
                  <a:srgbClr val="0070C0"/>
                </a:solidFill>
                <a:latin typeface="Arial"/>
              </a:rPr>
              <a:t>Event-Driven &amp; AI Guardrails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AWS Well-Architected Framework: </a:t>
            </a:r>
            <a:r>
              <a:rPr sz="800">
                <a:solidFill>
                  <a:srgbClr val="4B5563"/>
                </a:solidFill>
                <a:latin typeface="Arial"/>
              </a:rPr>
              <a:t>Healthcare Industry Lens &amp; Event-Driven Architecture (Amazon EventBridge, Lambda, DynamoDB).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DynamoDB Single-Table Design: </a:t>
            </a:r>
            <a:r>
              <a:rPr sz="800">
                <a:solidFill>
                  <a:srgbClr val="4B5563"/>
                </a:solidFill>
                <a:latin typeface="Arial"/>
              </a:rPr>
              <a:t>Low-latency sub-50ms operational state persistence architecture.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Advisory AI Guardrails: </a:t>
            </a:r>
            <a:r>
              <a:rPr sz="800">
                <a:solidFill>
                  <a:srgbClr val="4B5563"/>
                </a:solidFill>
                <a:latin typeface="Arial"/>
              </a:rPr>
              <a:t>Amazon Bedrock sandboxed to read-only clinical summaries; strictly excluded from routing logic.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8640" y="5074920"/>
            <a:ext cx="11091672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buNone/>
            </a:pPr>
            <a:r>
              <a:rPr sz="1150" b="1">
                <a:solidFill>
                  <a:srgbClr val="0070C0"/>
                </a:solidFill>
                <a:latin typeface="Arial"/>
              </a:rPr>
              <a:t>PROJECT REPOSITORY &amp; VERIFIED ARTIFACTS
</a:t>
            </a:r>
          </a:p>
          <a:p>
            <a:pPr>
              <a:spcBef>
                <a:spcPts val="200"/>
              </a:spcBef>
              <a:buNone/>
            </a:pPr>
            <a:r>
              <a:rPr sz="950" b="1">
                <a:solidFill>
                  <a:srgbClr val="003366"/>
                </a:solidFill>
                <a:latin typeface="Arial"/>
              </a:rPr>
              <a:t>• GitHub Repository: </a:t>
            </a:r>
            <a:r>
              <a:rPr sz="950">
                <a:solidFill>
                  <a:srgbClr val="4B5563"/>
                </a:solidFill>
                <a:latin typeface="Arial"/>
              </a:rPr>
              <a:t>https://github.com/Zynx095/Jiva — Monorepo containing full API, 4 web apps, demo orchestrator, and CDK.
</a:t>
            </a:r>
            <a:r>
              <a:rPr sz="950" b="1">
                <a:solidFill>
                  <a:srgbClr val="003366"/>
                </a:solidFill>
                <a:latin typeface="Arial"/>
              </a:rPr>
              <a:t>• Verification Baseline: </a:t>
            </a:r>
            <a:r>
              <a:rPr sz="950">
                <a:solidFill>
                  <a:srgbClr val="4B5563"/>
                </a:solidFill>
                <a:latin typeface="Arial"/>
              </a:rPr>
              <a:t>25 automated test suites pass • 124 runtime checks verified • 7 Lambda bundles compiled • CDK synth passes.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7494</TotalTime>
  <Words>144</Words>
  <Application>Microsoft Office PowerPoint</Application>
  <PresentationFormat>Widescreen</PresentationFormat>
  <Paragraphs>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IDE BOOTCAMP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Saikat Shil</cp:lastModifiedBy>
  <cp:revision>149</cp:revision>
  <dcterms:created xsi:type="dcterms:W3CDTF">2013-12-12T18:46:50Z</dcterms:created>
  <dcterms:modified xsi:type="dcterms:W3CDTF">2026-10-13T07:04:02Z</dcterms:modified>
  <cp:category/>
</cp:coreProperties>
</file>