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826683" y="769937"/>
            <a:ext cx="975360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78978" y="6232199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123B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9966958" y="-1737362"/>
            <a:ext cx="3840484" cy="3840484"/>
          </a:xfrm>
          <a:prstGeom prst="ellipse">
            <a:avLst/>
          </a:prstGeom>
          <a:solidFill>
            <a:srgbClr val="EA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-1188721" y="5120640"/>
            <a:ext cx="2377444" cy="2377443"/>
          </a:xfrm>
          <a:prstGeom prst="ellipse">
            <a:avLst/>
          </a:prstGeom>
          <a:solidFill>
            <a:srgbClr val="EA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" name="Text 3"/>
          <p:cNvSpPr txBox="1"/>
          <p:nvPr/>
        </p:nvSpPr>
        <p:spPr>
          <a:xfrm>
            <a:off x="502919" y="625278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300">
                <a:solidFill>
                  <a:srgbClr val="1E88E5"/>
                </a:solidFill>
              </a:defRPr>
            </a:lvl1pPr>
          </a:lstStyle>
          <a:p>
            <a:pPr/>
            <a:r>
              <a:t>AWS INNOVATION CHALLENGE 2026</a:t>
            </a:r>
          </a:p>
        </p:txBody>
      </p:sp>
      <p:sp>
        <p:nvSpPr>
          <p:cNvPr id="24" name="Text 5"/>
          <p:cNvSpPr txBox="1"/>
          <p:nvPr/>
        </p:nvSpPr>
        <p:spPr>
          <a:xfrm>
            <a:off x="502919" y="1831781"/>
            <a:ext cx="10515601" cy="542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200">
                <a:solidFill>
                  <a:srgbClr val="123B66"/>
                </a:solidFill>
              </a:defRPr>
            </a:lvl1pPr>
          </a:lstStyle>
          <a:p>
            <a:pPr/>
            <a:r>
              <a:t>[PROBLEM STATEMENT]</a:t>
            </a:r>
          </a:p>
        </p:txBody>
      </p:sp>
      <p:sp>
        <p:nvSpPr>
          <p:cNvPr id="25" name="Text 6"/>
          <p:cNvSpPr txBox="1"/>
          <p:nvPr/>
        </p:nvSpPr>
        <p:spPr>
          <a:xfrm>
            <a:off x="502919" y="2543522"/>
            <a:ext cx="10515601" cy="27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100">
                <a:solidFill>
                  <a:srgbClr val="1E88E5"/>
                </a:solidFill>
              </a:defRPr>
            </a:lvl1pPr>
          </a:lstStyle>
          <a:p>
            <a:pPr/>
            <a:r>
              <a:t>[TEAM NAME]</a:t>
            </a:r>
          </a:p>
        </p:txBody>
      </p:sp>
      <p:sp>
        <p:nvSpPr>
          <p:cNvPr id="26" name="Shape 7"/>
          <p:cNvSpPr/>
          <p:nvPr/>
        </p:nvSpPr>
        <p:spPr>
          <a:xfrm>
            <a:off x="502919" y="3108960"/>
            <a:ext cx="10149842" cy="960122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" name="Text 8"/>
          <p:cNvSpPr txBox="1"/>
          <p:nvPr/>
        </p:nvSpPr>
        <p:spPr>
          <a:xfrm>
            <a:off x="777240" y="3269024"/>
            <a:ext cx="96012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1E88E5"/>
                </a:solidFill>
              </a:defRPr>
            </a:lvl1pPr>
          </a:lstStyle>
          <a:p>
            <a:pPr/>
            <a:r>
              <a:t>ONE-LINE SOLUTION STATEMENT</a:t>
            </a:r>
          </a:p>
        </p:txBody>
      </p:sp>
      <p:sp>
        <p:nvSpPr>
          <p:cNvPr id="28" name="Text 9"/>
          <p:cNvSpPr txBox="1"/>
          <p:nvPr/>
        </p:nvSpPr>
        <p:spPr>
          <a:xfrm>
            <a:off x="777240" y="3632901"/>
            <a:ext cx="96012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500">
                <a:solidFill>
                  <a:srgbClr val="17202A"/>
                </a:solidFill>
              </a:defRPr>
            </a:lvl1pPr>
          </a:lstStyle>
          <a:p>
            <a:pPr/>
            <a:r>
              <a:t>[Summarize your proposed solution in a single clear sentence.]</a:t>
            </a:r>
          </a:p>
        </p:txBody>
      </p:sp>
      <p:sp>
        <p:nvSpPr>
          <p:cNvPr id="29" name="Text 10"/>
          <p:cNvSpPr txBox="1"/>
          <p:nvPr/>
        </p:nvSpPr>
        <p:spPr>
          <a:xfrm>
            <a:off x="502918" y="4402880"/>
            <a:ext cx="3657603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123B66"/>
                </a:solidFill>
              </a:defRPr>
            </a:lvl1pPr>
          </a:lstStyle>
          <a:p>
            <a:pPr/>
            <a:r>
              <a:t>TEAM MEMBERS</a:t>
            </a:r>
          </a:p>
        </p:txBody>
      </p:sp>
      <p:sp>
        <p:nvSpPr>
          <p:cNvPr id="30" name="Text 11"/>
          <p:cNvSpPr txBox="1"/>
          <p:nvPr/>
        </p:nvSpPr>
        <p:spPr>
          <a:xfrm>
            <a:off x="502919" y="4705920"/>
            <a:ext cx="10515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17202A"/>
                </a:solidFill>
              </a:defRPr>
            </a:lvl1pPr>
          </a:lstStyle>
          <a:p>
            <a:pPr/>
            <a:r>
              <a:t>[NAME 1]   •   [NAME 2]   •   [NAME 3]   •   [NAME 4]</a:t>
            </a:r>
          </a:p>
        </p:txBody>
      </p:sp>
      <p:sp>
        <p:nvSpPr>
          <p:cNvPr id="31" name="Shape 12"/>
          <p:cNvSpPr/>
          <p:nvPr/>
        </p:nvSpPr>
        <p:spPr>
          <a:xfrm>
            <a:off x="502918" y="5256021"/>
            <a:ext cx="10149844" cy="12701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" name="Text 15"/>
          <p:cNvSpPr txBox="1"/>
          <p:nvPr/>
        </p:nvSpPr>
        <p:spPr>
          <a:xfrm>
            <a:off x="502919" y="6332263"/>
            <a:ext cx="10515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667085"/>
                </a:solidFill>
              </a:defRPr>
            </a:lvl1pPr>
          </a:lstStyle>
          <a:p>
            <a:pPr/>
            <a:r>
              <a:t>Introduce your team and summarize your proposed solution in one clear sentence.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/>
          <p:cNvSpPr/>
          <p:nvPr/>
        </p:nvSpPr>
        <p:spPr>
          <a:xfrm>
            <a:off x="11505895" y="-502920"/>
            <a:ext cx="1188723" cy="1188723"/>
          </a:xfrm>
          <a:prstGeom prst="ellipse">
            <a:avLst/>
          </a:prstGeom>
          <a:solidFill>
            <a:srgbClr val="EA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" name="Text 1"/>
          <p:cNvSpPr txBox="1"/>
          <p:nvPr/>
        </p:nvSpPr>
        <p:spPr>
          <a:xfrm>
            <a:off x="502919" y="456114"/>
            <a:ext cx="10972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300">
                <a:solidFill>
                  <a:srgbClr val="1E88E5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6" name="Text 2"/>
          <p:cNvSpPr txBox="1"/>
          <p:nvPr/>
        </p:nvSpPr>
        <p:spPr>
          <a:xfrm>
            <a:off x="502919" y="725153"/>
            <a:ext cx="8412482" cy="32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123B66"/>
                </a:solidFill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37" name="Shape 3"/>
          <p:cNvSpPr/>
          <p:nvPr/>
        </p:nvSpPr>
        <p:spPr>
          <a:xfrm>
            <a:off x="9814255" y="502919"/>
            <a:ext cx="1874522" cy="420626"/>
          </a:xfrm>
          <a:prstGeom prst="roundRect">
            <a:avLst>
              <a:gd name="adj" fmla="val 10870"/>
            </a:avLst>
          </a:prstGeom>
          <a:solidFill>
            <a:srgbClr val="EAF3FA"/>
          </a:solidFill>
          <a:ln>
            <a:solidFill>
              <a:srgbClr val="1E88E5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" name="Text 4"/>
          <p:cNvSpPr txBox="1"/>
          <p:nvPr/>
        </p:nvSpPr>
        <p:spPr>
          <a:xfrm>
            <a:off x="9814255" y="646098"/>
            <a:ext cx="18745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23B66"/>
                </a:solidFill>
              </a:defRPr>
            </a:lvl1pPr>
          </a:lstStyle>
          <a:p>
            <a:pPr/>
            <a:r>
              <a:t>15 POINTS</a:t>
            </a:r>
          </a:p>
        </p:txBody>
      </p:sp>
      <p:sp>
        <p:nvSpPr>
          <p:cNvPr id="39" name="Shape 5"/>
          <p:cNvSpPr/>
          <p:nvPr/>
        </p:nvSpPr>
        <p:spPr>
          <a:xfrm>
            <a:off x="502918" y="1206144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" name="Text 6"/>
          <p:cNvSpPr txBox="1"/>
          <p:nvPr/>
        </p:nvSpPr>
        <p:spPr>
          <a:xfrm>
            <a:off x="502920" y="1569641"/>
            <a:ext cx="405216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3B66"/>
                </a:solidFill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41" name="Text 7"/>
          <p:cNvSpPr txBox="1"/>
          <p:nvPr/>
        </p:nvSpPr>
        <p:spPr>
          <a:xfrm>
            <a:off x="502920" y="1783078"/>
            <a:ext cx="405216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100">
                <a:solidFill>
                  <a:srgbClr val="667085"/>
                </a:solidFill>
              </a:defRPr>
            </a:lvl1pPr>
          </a:lstStyle>
          <a:p>
            <a:pPr/>
            <a:r>
              <a:t>[Describe the problem clearly.]</a:t>
            </a:r>
          </a:p>
        </p:txBody>
      </p:sp>
      <p:sp>
        <p:nvSpPr>
          <p:cNvPr id="42" name="Text 8"/>
          <p:cNvSpPr txBox="1"/>
          <p:nvPr/>
        </p:nvSpPr>
        <p:spPr>
          <a:xfrm>
            <a:off x="502920" y="2415462"/>
            <a:ext cx="405216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3B66"/>
                </a:solidFill>
              </a:defRPr>
            </a:lvl1pPr>
          </a:lstStyle>
          <a:p>
            <a:pPr/>
            <a:r>
              <a:t>TARGET USERS</a:t>
            </a:r>
          </a:p>
        </p:txBody>
      </p:sp>
      <p:sp>
        <p:nvSpPr>
          <p:cNvPr id="43" name="Text 9"/>
          <p:cNvSpPr txBox="1"/>
          <p:nvPr/>
        </p:nvSpPr>
        <p:spPr>
          <a:xfrm>
            <a:off x="502920" y="2628899"/>
            <a:ext cx="405216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100">
                <a:solidFill>
                  <a:srgbClr val="667085"/>
                </a:solidFill>
              </a:defRPr>
            </a:lvl1pPr>
          </a:lstStyle>
          <a:p>
            <a:pPr/>
            <a:r>
              <a:t>[Who experiences this problem?]</a:t>
            </a:r>
          </a:p>
        </p:txBody>
      </p:sp>
      <p:sp>
        <p:nvSpPr>
          <p:cNvPr id="44" name="Text 10"/>
          <p:cNvSpPr txBox="1"/>
          <p:nvPr/>
        </p:nvSpPr>
        <p:spPr>
          <a:xfrm>
            <a:off x="502920" y="3261281"/>
            <a:ext cx="405216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3B66"/>
                </a:solidFill>
              </a:defRPr>
            </a:lvl1pPr>
          </a:lstStyle>
          <a:p>
            <a:pPr/>
            <a:r>
              <a:t>CURRENT SITUATION</a:t>
            </a:r>
          </a:p>
        </p:txBody>
      </p:sp>
      <p:sp>
        <p:nvSpPr>
          <p:cNvPr id="45" name="Text 11"/>
          <p:cNvSpPr txBox="1"/>
          <p:nvPr/>
        </p:nvSpPr>
        <p:spPr>
          <a:xfrm>
            <a:off x="502920" y="3474720"/>
            <a:ext cx="405216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100">
                <a:solidFill>
                  <a:srgbClr val="667085"/>
                </a:solidFill>
              </a:defRPr>
            </a:lvl1pPr>
          </a:lstStyle>
          <a:p>
            <a:pPr/>
            <a:r>
              <a:t>[How is the problem currently addressed?]</a:t>
            </a:r>
          </a:p>
        </p:txBody>
      </p:sp>
      <p:sp>
        <p:nvSpPr>
          <p:cNvPr id="46" name="Text 12"/>
          <p:cNvSpPr txBox="1"/>
          <p:nvPr/>
        </p:nvSpPr>
        <p:spPr>
          <a:xfrm>
            <a:off x="502920" y="3974767"/>
            <a:ext cx="405216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3B66"/>
                </a:solidFill>
              </a:defRPr>
            </a:lvl1pPr>
          </a:lstStyle>
          <a:p>
            <a:pPr/>
            <a:r>
              <a:t>KEY GAPS</a:t>
            </a:r>
          </a:p>
        </p:txBody>
      </p:sp>
      <p:sp>
        <p:nvSpPr>
          <p:cNvPr id="47" name="Text 13"/>
          <p:cNvSpPr txBox="1"/>
          <p:nvPr/>
        </p:nvSpPr>
        <p:spPr>
          <a:xfrm>
            <a:off x="502920" y="4188205"/>
            <a:ext cx="405216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100">
                <a:solidFill>
                  <a:srgbClr val="667085"/>
                </a:solidFill>
              </a:defRPr>
            </a:lvl1pPr>
          </a:lstStyle>
          <a:p>
            <a:pPr/>
            <a:r>
              <a:t>[What limitations or unmet needs exist?]</a:t>
            </a:r>
          </a:p>
        </p:txBody>
      </p:sp>
      <p:sp>
        <p:nvSpPr>
          <p:cNvPr id="48" name="Shape 14"/>
          <p:cNvSpPr/>
          <p:nvPr/>
        </p:nvSpPr>
        <p:spPr>
          <a:xfrm>
            <a:off x="502919" y="4937759"/>
            <a:ext cx="8378649" cy="77724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" name="Text 15"/>
          <p:cNvSpPr txBox="1"/>
          <p:nvPr/>
        </p:nvSpPr>
        <p:spPr>
          <a:xfrm>
            <a:off x="777239" y="5259244"/>
            <a:ext cx="7830009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100">
                <a:solidFill>
                  <a:srgbClr val="667085"/>
                </a:solidFill>
              </a:defRPr>
            </a:lvl1pPr>
          </a:lstStyle>
          <a:p>
            <a:pPr/>
            <a:r>
              <a:t>[INSERT SUPPORTING DATA / EVIDENCE — OPTIONAL]</a:t>
            </a:r>
          </a:p>
        </p:txBody>
      </p:sp>
      <p:sp>
        <p:nvSpPr>
          <p:cNvPr id="50" name="Shape 16"/>
          <p:cNvSpPr/>
          <p:nvPr/>
        </p:nvSpPr>
        <p:spPr>
          <a:xfrm>
            <a:off x="9174174" y="1508760"/>
            <a:ext cx="2514602" cy="2971802"/>
          </a:xfrm>
          <a:prstGeom prst="roundRect">
            <a:avLst>
              <a:gd name="adj" fmla="val 2182"/>
            </a:avLst>
          </a:prstGeom>
          <a:solidFill>
            <a:srgbClr val="EA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" name="Shape 17"/>
          <p:cNvSpPr/>
          <p:nvPr/>
        </p:nvSpPr>
        <p:spPr>
          <a:xfrm>
            <a:off x="9174174" y="1508760"/>
            <a:ext cx="45722" cy="2971802"/>
          </a:xfrm>
          <a:prstGeom prst="rect">
            <a:avLst/>
          </a:prstGeom>
          <a:solidFill>
            <a:srgbClr val="1E88E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" name="Text 18"/>
          <p:cNvSpPr txBox="1"/>
          <p:nvPr/>
        </p:nvSpPr>
        <p:spPr>
          <a:xfrm>
            <a:off x="9393631" y="1743378"/>
            <a:ext cx="21031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1100">
                <a:solidFill>
                  <a:srgbClr val="123B66"/>
                </a:solidFill>
              </a:defRPr>
            </a:lvl1pPr>
          </a:lstStyle>
          <a:p>
            <a:pPr/>
            <a:r>
              <a:t>WHAT TO INCLUDE</a:t>
            </a:r>
          </a:p>
        </p:txBody>
      </p:sp>
      <p:sp>
        <p:nvSpPr>
          <p:cNvPr id="53" name="Text 19"/>
          <p:cNvSpPr txBox="1"/>
          <p:nvPr/>
        </p:nvSpPr>
        <p:spPr>
          <a:xfrm>
            <a:off x="9393631" y="2020822"/>
            <a:ext cx="2103122" cy="1231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Clearly define the problem</a:t>
            </a:r>
          </a:p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Identify who is affected</a:t>
            </a:r>
          </a:p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Explain why the problem matters</a:t>
            </a:r>
          </a:p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Mention current gaps or limitations</a:t>
            </a:r>
          </a:p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Use evidence/data where available</a:t>
            </a:r>
          </a:p>
        </p:txBody>
      </p:sp>
      <p:sp>
        <p:nvSpPr>
          <p:cNvPr id="54" name="Shape 20"/>
          <p:cNvSpPr/>
          <p:nvPr/>
        </p:nvSpPr>
        <p:spPr>
          <a:xfrm>
            <a:off x="9174174" y="4736591"/>
            <a:ext cx="2514602" cy="1051562"/>
          </a:xfrm>
          <a:prstGeom prst="roundRect">
            <a:avLst>
              <a:gd name="adj" fmla="val 5217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" name="Text 21"/>
          <p:cNvSpPr txBox="1"/>
          <p:nvPr/>
        </p:nvSpPr>
        <p:spPr>
          <a:xfrm>
            <a:off x="9375343" y="4914944"/>
            <a:ext cx="2112266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1000">
                <a:solidFill>
                  <a:srgbClr val="1E88E5"/>
                </a:solidFill>
              </a:defRPr>
            </a:lvl1pPr>
          </a:lstStyle>
          <a:p>
            <a:pPr/>
            <a:r>
              <a:t>IMPORTANT</a:t>
            </a:r>
          </a:p>
        </p:txBody>
      </p:sp>
      <p:sp>
        <p:nvSpPr>
          <p:cNvPr id="56" name="Text 22"/>
          <p:cNvSpPr txBox="1"/>
          <p:nvPr/>
        </p:nvSpPr>
        <p:spPr>
          <a:xfrm>
            <a:off x="9375343" y="5266733"/>
            <a:ext cx="2112266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667085"/>
                </a:solidFill>
              </a:defRPr>
            </a:lvl1pPr>
          </a:lstStyle>
          <a:p>
            <a:pPr/>
            <a:r>
              <a:t>Focus on the problem, not your proposed solution.</a:t>
            </a:r>
          </a:p>
        </p:txBody>
      </p:sp>
      <p:sp>
        <p:nvSpPr>
          <p:cNvPr id="57" name="Shape 23"/>
          <p:cNvSpPr/>
          <p:nvPr/>
        </p:nvSpPr>
        <p:spPr>
          <a:xfrm>
            <a:off x="502918" y="6453885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" name="Text 24"/>
          <p:cNvSpPr txBox="1"/>
          <p:nvPr/>
        </p:nvSpPr>
        <p:spPr>
          <a:xfrm>
            <a:off x="502919" y="6593331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/>
            <a:r>
              <a:t>[AWS INNOVATION CHALLENGE  |   ONLINE SHORTLISTING   |   2026</a:t>
            </a:r>
          </a:p>
        </p:txBody>
      </p:sp>
      <p:sp>
        <p:nvSpPr>
          <p:cNvPr id="59" name="Text 25"/>
          <p:cNvSpPr txBox="1"/>
          <p:nvPr/>
        </p:nvSpPr>
        <p:spPr>
          <a:xfrm>
            <a:off x="11231574" y="6593331"/>
            <a:ext cx="457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67085"/>
                </a:solidFill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11505895" y="-502920"/>
            <a:ext cx="1188723" cy="1188723"/>
          </a:xfrm>
          <a:prstGeom prst="ellipse">
            <a:avLst/>
          </a:prstGeom>
          <a:solidFill>
            <a:srgbClr val="EA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" name="Text 1"/>
          <p:cNvSpPr txBox="1"/>
          <p:nvPr/>
        </p:nvSpPr>
        <p:spPr>
          <a:xfrm>
            <a:off x="502919" y="456114"/>
            <a:ext cx="10972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300">
                <a:solidFill>
                  <a:srgbClr val="1E88E5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63" name="Text 2"/>
          <p:cNvSpPr txBox="1"/>
          <p:nvPr/>
        </p:nvSpPr>
        <p:spPr>
          <a:xfrm>
            <a:off x="502919" y="725153"/>
            <a:ext cx="8412482" cy="32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123B66"/>
                </a:solidFill>
              </a:defRPr>
            </a:lvl1pPr>
          </a:lstStyle>
          <a:p>
            <a:pPr/>
            <a:r>
              <a:t>PROPOSED SOLUTION</a:t>
            </a:r>
          </a:p>
        </p:txBody>
      </p:sp>
      <p:sp>
        <p:nvSpPr>
          <p:cNvPr id="64" name="Shape 3"/>
          <p:cNvSpPr/>
          <p:nvPr/>
        </p:nvSpPr>
        <p:spPr>
          <a:xfrm>
            <a:off x="9814255" y="502919"/>
            <a:ext cx="1874522" cy="420626"/>
          </a:xfrm>
          <a:prstGeom prst="roundRect">
            <a:avLst>
              <a:gd name="adj" fmla="val 10870"/>
            </a:avLst>
          </a:prstGeom>
          <a:solidFill>
            <a:srgbClr val="EAF3FA"/>
          </a:solidFill>
          <a:ln>
            <a:solidFill>
              <a:srgbClr val="1E88E5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" name="Text 4"/>
          <p:cNvSpPr txBox="1"/>
          <p:nvPr/>
        </p:nvSpPr>
        <p:spPr>
          <a:xfrm>
            <a:off x="9814255" y="646098"/>
            <a:ext cx="18745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23B66"/>
                </a:solidFill>
              </a:defRPr>
            </a:lvl1pPr>
          </a:lstStyle>
          <a:p>
            <a:pPr/>
            <a:r>
              <a:t>20 POINTS</a:t>
            </a:r>
          </a:p>
        </p:txBody>
      </p:sp>
      <p:sp>
        <p:nvSpPr>
          <p:cNvPr id="66" name="Shape 5"/>
          <p:cNvSpPr/>
          <p:nvPr/>
        </p:nvSpPr>
        <p:spPr>
          <a:xfrm>
            <a:off x="502918" y="1206144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" name="Text 6"/>
          <p:cNvSpPr txBox="1"/>
          <p:nvPr/>
        </p:nvSpPr>
        <p:spPr>
          <a:xfrm>
            <a:off x="502920" y="1569641"/>
            <a:ext cx="8378646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3B66"/>
                </a:solidFill>
              </a:defRPr>
            </a:lvl1pPr>
          </a:lstStyle>
          <a:p>
            <a:pPr/>
            <a:r>
              <a:t>OUR SOLUTION</a:t>
            </a:r>
          </a:p>
        </p:txBody>
      </p:sp>
      <p:sp>
        <p:nvSpPr>
          <p:cNvPr id="68" name="Text 7"/>
          <p:cNvSpPr txBox="1"/>
          <p:nvPr/>
        </p:nvSpPr>
        <p:spPr>
          <a:xfrm>
            <a:off x="502920" y="1783078"/>
            <a:ext cx="8378646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100">
                <a:solidFill>
                  <a:srgbClr val="667085"/>
                </a:solidFill>
              </a:defRPr>
            </a:lvl1pPr>
          </a:lstStyle>
          <a:p>
            <a:pPr/>
            <a:r>
              <a:t>[Explain the proposed solution in 2–4 concise sentences.]</a:t>
            </a:r>
          </a:p>
        </p:txBody>
      </p:sp>
      <p:sp>
        <p:nvSpPr>
          <p:cNvPr id="69" name="Text 8"/>
          <p:cNvSpPr txBox="1"/>
          <p:nvPr/>
        </p:nvSpPr>
        <p:spPr>
          <a:xfrm>
            <a:off x="502918" y="2346881"/>
            <a:ext cx="457200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3B66"/>
                </a:solidFill>
              </a:defRPr>
            </a:lvl1pPr>
          </a:lstStyle>
          <a:p>
            <a:pPr/>
            <a:r>
              <a:t>HOW IT WORKS</a:t>
            </a:r>
          </a:p>
        </p:txBody>
      </p:sp>
      <p:sp>
        <p:nvSpPr>
          <p:cNvPr id="70" name="Shape 9"/>
          <p:cNvSpPr/>
          <p:nvPr/>
        </p:nvSpPr>
        <p:spPr>
          <a:xfrm>
            <a:off x="502919" y="2587750"/>
            <a:ext cx="8378649" cy="1965962"/>
          </a:xfrm>
          <a:prstGeom prst="roundRect">
            <a:avLst>
              <a:gd name="adj" fmla="val 2326"/>
            </a:avLst>
          </a:prstGeom>
          <a:solidFill>
            <a:srgbClr val="F7F9FC"/>
          </a:solidFill>
          <a:ln w="12700">
            <a:solidFill>
              <a:srgbClr val="E3EAF2"/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" name="Text 10"/>
          <p:cNvSpPr txBox="1"/>
          <p:nvPr/>
        </p:nvSpPr>
        <p:spPr>
          <a:xfrm>
            <a:off x="777239" y="3492298"/>
            <a:ext cx="7830009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i="1" sz="1200">
                <a:solidFill>
                  <a:srgbClr val="667085"/>
                </a:solidFill>
              </a:defRPr>
            </a:lvl1pPr>
          </a:lstStyle>
          <a:p>
            <a:pPr/>
            <a:r>
              <a:t>[INSERT SOLUTION WORKFLOW / USER JOURNEY / PROCESS DIAGRAM]</a:t>
            </a:r>
          </a:p>
        </p:txBody>
      </p:sp>
      <p:sp>
        <p:nvSpPr>
          <p:cNvPr id="72" name="Text 11"/>
          <p:cNvSpPr txBox="1"/>
          <p:nvPr/>
        </p:nvSpPr>
        <p:spPr>
          <a:xfrm>
            <a:off x="502918" y="4815761"/>
            <a:ext cx="457200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3B66"/>
                </a:solidFill>
              </a:defRPr>
            </a:lvl1pPr>
          </a:lstStyle>
          <a:p>
            <a:pPr/>
            <a:r>
              <a:t>KEY FEATURES</a:t>
            </a:r>
          </a:p>
        </p:txBody>
      </p:sp>
      <p:sp>
        <p:nvSpPr>
          <p:cNvPr id="73" name="Text 12"/>
          <p:cNvSpPr txBox="1"/>
          <p:nvPr/>
        </p:nvSpPr>
        <p:spPr>
          <a:xfrm>
            <a:off x="502919" y="5290006"/>
            <a:ext cx="594362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E88E5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74" name="Text 13"/>
          <p:cNvSpPr txBox="1"/>
          <p:nvPr/>
        </p:nvSpPr>
        <p:spPr>
          <a:xfrm>
            <a:off x="1051560" y="5321098"/>
            <a:ext cx="2061363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200">
                <a:solidFill>
                  <a:srgbClr val="17202A"/>
                </a:solidFill>
              </a:defRPr>
            </a:lvl1pPr>
          </a:lstStyle>
          <a:p>
            <a:pPr/>
            <a:r>
              <a:t>[FEATURE 1]</a:t>
            </a:r>
          </a:p>
        </p:txBody>
      </p:sp>
      <p:sp>
        <p:nvSpPr>
          <p:cNvPr id="75" name="Text 14"/>
          <p:cNvSpPr txBox="1"/>
          <p:nvPr/>
        </p:nvSpPr>
        <p:spPr>
          <a:xfrm>
            <a:off x="3387242" y="5290006"/>
            <a:ext cx="594362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E88E5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76" name="Text 15"/>
          <p:cNvSpPr txBox="1"/>
          <p:nvPr/>
        </p:nvSpPr>
        <p:spPr>
          <a:xfrm>
            <a:off x="3935881" y="5321098"/>
            <a:ext cx="2061363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200">
                <a:solidFill>
                  <a:srgbClr val="17202A"/>
                </a:solidFill>
              </a:defRPr>
            </a:lvl1pPr>
          </a:lstStyle>
          <a:p>
            <a:pPr/>
            <a:r>
              <a:t>[FEATURE 2]</a:t>
            </a:r>
          </a:p>
        </p:txBody>
      </p:sp>
      <p:sp>
        <p:nvSpPr>
          <p:cNvPr id="77" name="Text 16"/>
          <p:cNvSpPr txBox="1"/>
          <p:nvPr/>
        </p:nvSpPr>
        <p:spPr>
          <a:xfrm>
            <a:off x="6271564" y="5290006"/>
            <a:ext cx="594362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E88E5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78" name="Text 17"/>
          <p:cNvSpPr txBox="1"/>
          <p:nvPr/>
        </p:nvSpPr>
        <p:spPr>
          <a:xfrm>
            <a:off x="6820203" y="5321098"/>
            <a:ext cx="2061363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200">
                <a:solidFill>
                  <a:srgbClr val="17202A"/>
                </a:solidFill>
              </a:defRPr>
            </a:lvl1pPr>
          </a:lstStyle>
          <a:p>
            <a:pPr/>
            <a:r>
              <a:t>[FEATURE 3]</a:t>
            </a:r>
          </a:p>
        </p:txBody>
      </p:sp>
      <p:sp>
        <p:nvSpPr>
          <p:cNvPr id="79" name="Shape 18"/>
          <p:cNvSpPr/>
          <p:nvPr/>
        </p:nvSpPr>
        <p:spPr>
          <a:xfrm>
            <a:off x="9174174" y="1508760"/>
            <a:ext cx="2514602" cy="2971802"/>
          </a:xfrm>
          <a:prstGeom prst="roundRect">
            <a:avLst>
              <a:gd name="adj" fmla="val 2182"/>
            </a:avLst>
          </a:prstGeom>
          <a:solidFill>
            <a:srgbClr val="EA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" name="Shape 19"/>
          <p:cNvSpPr/>
          <p:nvPr/>
        </p:nvSpPr>
        <p:spPr>
          <a:xfrm>
            <a:off x="9174174" y="1508760"/>
            <a:ext cx="45722" cy="2971802"/>
          </a:xfrm>
          <a:prstGeom prst="rect">
            <a:avLst/>
          </a:prstGeom>
          <a:solidFill>
            <a:srgbClr val="1E88E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" name="Text 20"/>
          <p:cNvSpPr txBox="1"/>
          <p:nvPr/>
        </p:nvSpPr>
        <p:spPr>
          <a:xfrm>
            <a:off x="9393631" y="1743378"/>
            <a:ext cx="21031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1100">
                <a:solidFill>
                  <a:srgbClr val="123B66"/>
                </a:solidFill>
              </a:defRPr>
            </a:lvl1pPr>
          </a:lstStyle>
          <a:p>
            <a:pPr/>
            <a:r>
              <a:t>WHAT TO INCLUDE</a:t>
            </a:r>
          </a:p>
        </p:txBody>
      </p:sp>
      <p:sp>
        <p:nvSpPr>
          <p:cNvPr id="82" name="Text 21"/>
          <p:cNvSpPr txBox="1"/>
          <p:nvPr/>
        </p:nvSpPr>
        <p:spPr>
          <a:xfrm>
            <a:off x="9393631" y="2020822"/>
            <a:ext cx="2103122" cy="1747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Explain how your solution addresses the problem</a:t>
            </a:r>
          </a:p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Show the user journey or workflow</a:t>
            </a:r>
          </a:p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Highlight the core functionality</a:t>
            </a:r>
          </a:p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Keep the solution practical and specific</a:t>
            </a:r>
          </a:p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Connect the solution to the identified problem</a:t>
            </a:r>
          </a:p>
        </p:txBody>
      </p:sp>
      <p:sp>
        <p:nvSpPr>
          <p:cNvPr id="83" name="Shape 22"/>
          <p:cNvSpPr/>
          <p:nvPr/>
        </p:nvSpPr>
        <p:spPr>
          <a:xfrm>
            <a:off x="9174174" y="4736591"/>
            <a:ext cx="2514602" cy="1051562"/>
          </a:xfrm>
          <a:prstGeom prst="roundRect">
            <a:avLst>
              <a:gd name="adj" fmla="val 5217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" name="Text 23"/>
          <p:cNvSpPr txBox="1"/>
          <p:nvPr/>
        </p:nvSpPr>
        <p:spPr>
          <a:xfrm>
            <a:off x="9375343" y="4914944"/>
            <a:ext cx="2112266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1000">
                <a:solidFill>
                  <a:srgbClr val="1E88E5"/>
                </a:solidFill>
              </a:defRPr>
            </a:lvl1pPr>
          </a:lstStyle>
          <a:p>
            <a:pPr/>
            <a:r>
              <a:t>NOTE</a:t>
            </a:r>
          </a:p>
        </p:txBody>
      </p:sp>
      <p:sp>
        <p:nvSpPr>
          <p:cNvPr id="85" name="Text 24"/>
          <p:cNvSpPr txBox="1"/>
          <p:nvPr/>
        </p:nvSpPr>
        <p:spPr>
          <a:xfrm>
            <a:off x="9375343" y="5266733"/>
            <a:ext cx="2112266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667085"/>
                </a:solidFill>
              </a:defRPr>
            </a:lvl1pPr>
          </a:lstStyle>
          <a:p>
            <a:pPr/>
            <a:r>
              <a:t>Do not fill the diagram with a fictional example.</a:t>
            </a:r>
          </a:p>
        </p:txBody>
      </p:sp>
      <p:sp>
        <p:nvSpPr>
          <p:cNvPr id="86" name="Shape 25"/>
          <p:cNvSpPr/>
          <p:nvPr/>
        </p:nvSpPr>
        <p:spPr>
          <a:xfrm>
            <a:off x="502918" y="6453885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" name="Text 26"/>
          <p:cNvSpPr txBox="1"/>
          <p:nvPr/>
        </p:nvSpPr>
        <p:spPr>
          <a:xfrm>
            <a:off x="502919" y="6593331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/>
            <a:r>
              <a:t>AWS INNOVATION CHALLENGE  |   ONLINE SHORTLISTING   |   2026</a:t>
            </a:r>
          </a:p>
        </p:txBody>
      </p:sp>
      <p:sp>
        <p:nvSpPr>
          <p:cNvPr id="88" name="Text 27"/>
          <p:cNvSpPr txBox="1"/>
          <p:nvPr/>
        </p:nvSpPr>
        <p:spPr>
          <a:xfrm>
            <a:off x="11231574" y="6593331"/>
            <a:ext cx="457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67085"/>
                </a:solidFill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11505895" y="-502920"/>
            <a:ext cx="1188723" cy="1188723"/>
          </a:xfrm>
          <a:prstGeom prst="ellipse">
            <a:avLst/>
          </a:prstGeom>
          <a:solidFill>
            <a:srgbClr val="EA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" name="Text 1"/>
          <p:cNvSpPr txBox="1"/>
          <p:nvPr/>
        </p:nvSpPr>
        <p:spPr>
          <a:xfrm>
            <a:off x="502919" y="456114"/>
            <a:ext cx="10972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300">
                <a:solidFill>
                  <a:srgbClr val="1E88E5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92" name="Text 2"/>
          <p:cNvSpPr txBox="1"/>
          <p:nvPr/>
        </p:nvSpPr>
        <p:spPr>
          <a:xfrm>
            <a:off x="502919" y="725153"/>
            <a:ext cx="8412482" cy="32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123B66"/>
                </a:solidFill>
              </a:defRPr>
            </a:lvl1pPr>
          </a:lstStyle>
          <a:p>
            <a:pPr/>
            <a:r>
              <a:t>INNOVATION &amp; DIFFERENTIATION</a:t>
            </a:r>
          </a:p>
        </p:txBody>
      </p:sp>
      <p:sp>
        <p:nvSpPr>
          <p:cNvPr id="93" name="Shape 3"/>
          <p:cNvSpPr/>
          <p:nvPr/>
        </p:nvSpPr>
        <p:spPr>
          <a:xfrm>
            <a:off x="9814255" y="502919"/>
            <a:ext cx="1874522" cy="420626"/>
          </a:xfrm>
          <a:prstGeom prst="roundRect">
            <a:avLst>
              <a:gd name="adj" fmla="val 10870"/>
            </a:avLst>
          </a:prstGeom>
          <a:solidFill>
            <a:srgbClr val="EAF3FA"/>
          </a:solidFill>
          <a:ln>
            <a:solidFill>
              <a:srgbClr val="1E88E5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" name="Text 4"/>
          <p:cNvSpPr txBox="1"/>
          <p:nvPr/>
        </p:nvSpPr>
        <p:spPr>
          <a:xfrm>
            <a:off x="9814255" y="646098"/>
            <a:ext cx="18745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23B66"/>
                </a:solidFill>
              </a:defRPr>
            </a:lvl1pPr>
          </a:lstStyle>
          <a:p>
            <a:pPr/>
            <a:r>
              <a:t>15 POINTS</a:t>
            </a:r>
          </a:p>
        </p:txBody>
      </p:sp>
      <p:sp>
        <p:nvSpPr>
          <p:cNvPr id="95" name="Shape 5"/>
          <p:cNvSpPr/>
          <p:nvPr/>
        </p:nvSpPr>
        <p:spPr>
          <a:xfrm>
            <a:off x="502918" y="1206144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" name="Shape 6"/>
          <p:cNvSpPr/>
          <p:nvPr/>
        </p:nvSpPr>
        <p:spPr>
          <a:xfrm>
            <a:off x="502919" y="1508760"/>
            <a:ext cx="4052166" cy="2377440"/>
          </a:xfrm>
          <a:prstGeom prst="roundRect">
            <a:avLst>
              <a:gd name="adj" fmla="val 1923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" name="Text 7"/>
          <p:cNvSpPr txBox="1"/>
          <p:nvPr/>
        </p:nvSpPr>
        <p:spPr>
          <a:xfrm>
            <a:off x="758950" y="1768655"/>
            <a:ext cx="35401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667085"/>
                </a:solidFill>
              </a:defRPr>
            </a:lvl1pPr>
          </a:lstStyle>
          <a:p>
            <a:pPr/>
            <a:r>
              <a:t>EXISTING APPROACH</a:t>
            </a:r>
          </a:p>
        </p:txBody>
      </p:sp>
      <p:sp>
        <p:nvSpPr>
          <p:cNvPr id="98" name="Text 8"/>
          <p:cNvSpPr txBox="1"/>
          <p:nvPr/>
        </p:nvSpPr>
        <p:spPr>
          <a:xfrm>
            <a:off x="758950" y="2790365"/>
            <a:ext cx="35401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667085"/>
                </a:solidFill>
              </a:defRPr>
            </a:lvl1pPr>
          </a:lstStyle>
          <a:p>
            <a:pPr/>
            <a:r>
              <a:t>[How is the problem currently solved?]</a:t>
            </a:r>
          </a:p>
        </p:txBody>
      </p:sp>
      <p:sp>
        <p:nvSpPr>
          <p:cNvPr id="99" name="Shape 9"/>
          <p:cNvSpPr/>
          <p:nvPr/>
        </p:nvSpPr>
        <p:spPr>
          <a:xfrm>
            <a:off x="4829404" y="1508760"/>
            <a:ext cx="4052164" cy="2377440"/>
          </a:xfrm>
          <a:prstGeom prst="roundRect">
            <a:avLst>
              <a:gd name="adj" fmla="val 1923"/>
            </a:avLst>
          </a:prstGeom>
          <a:solidFill>
            <a:srgbClr val="EAF3FA"/>
          </a:solidFill>
          <a:ln w="12700">
            <a:solidFill>
              <a:srgbClr val="1E88E5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" name="Text 10"/>
          <p:cNvSpPr txBox="1"/>
          <p:nvPr/>
        </p:nvSpPr>
        <p:spPr>
          <a:xfrm>
            <a:off x="5085436" y="1768655"/>
            <a:ext cx="354010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3B66"/>
                </a:solidFill>
              </a:defRPr>
            </a:lvl1pPr>
          </a:lstStyle>
          <a:p>
            <a:pPr/>
            <a:r>
              <a:t>OUR APPROACH</a:t>
            </a:r>
          </a:p>
        </p:txBody>
      </p:sp>
      <p:sp>
        <p:nvSpPr>
          <p:cNvPr id="101" name="Text 11"/>
          <p:cNvSpPr txBox="1"/>
          <p:nvPr/>
        </p:nvSpPr>
        <p:spPr>
          <a:xfrm>
            <a:off x="5085436" y="2790365"/>
            <a:ext cx="35401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17202A"/>
                </a:solidFill>
              </a:defRPr>
            </a:lvl1pPr>
          </a:lstStyle>
          <a:p>
            <a:pPr/>
            <a:r>
              <a:t>[How is our approach different?]</a:t>
            </a:r>
          </a:p>
        </p:txBody>
      </p:sp>
      <p:sp>
        <p:nvSpPr>
          <p:cNvPr id="102" name="Shape 12"/>
          <p:cNvSpPr/>
          <p:nvPr/>
        </p:nvSpPr>
        <p:spPr>
          <a:xfrm>
            <a:off x="502919" y="4160520"/>
            <a:ext cx="8378649" cy="1097282"/>
          </a:xfrm>
          <a:prstGeom prst="roundRect">
            <a:avLst>
              <a:gd name="adj" fmla="val 4167"/>
            </a:avLst>
          </a:prstGeom>
          <a:solidFill>
            <a:srgbClr val="123B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" name="Text 13"/>
          <p:cNvSpPr txBox="1"/>
          <p:nvPr/>
        </p:nvSpPr>
        <p:spPr>
          <a:xfrm>
            <a:off x="777239" y="4385993"/>
            <a:ext cx="7830009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100">
                <a:solidFill>
                  <a:srgbClr val="A9C6E8"/>
                </a:solidFill>
              </a:defRPr>
            </a:lvl1pPr>
          </a:lstStyle>
          <a:p>
            <a:pPr/>
            <a:r>
              <a:t>KEY DIFFERENTIATOR</a:t>
            </a:r>
          </a:p>
        </p:txBody>
      </p:sp>
      <p:sp>
        <p:nvSpPr>
          <p:cNvPr id="104" name="Text 14"/>
          <p:cNvSpPr txBox="1"/>
          <p:nvPr/>
        </p:nvSpPr>
        <p:spPr>
          <a:xfrm>
            <a:off x="777239" y="4813606"/>
            <a:ext cx="7830009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FFFFFF"/>
                </a:solidFill>
              </a:defRPr>
            </a:lvl1pPr>
          </a:lstStyle>
          <a:p>
            <a:pPr/>
            <a:r>
              <a:t>[Describe the specific innovation, improvement, or unique aspect.]</a:t>
            </a:r>
          </a:p>
        </p:txBody>
      </p:sp>
      <p:sp>
        <p:nvSpPr>
          <p:cNvPr id="105" name="Shape 15"/>
          <p:cNvSpPr/>
          <p:nvPr/>
        </p:nvSpPr>
        <p:spPr>
          <a:xfrm>
            <a:off x="9174174" y="1508760"/>
            <a:ext cx="2514602" cy="2971802"/>
          </a:xfrm>
          <a:prstGeom prst="roundRect">
            <a:avLst>
              <a:gd name="adj" fmla="val 2182"/>
            </a:avLst>
          </a:prstGeom>
          <a:solidFill>
            <a:srgbClr val="EA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" name="Shape 16"/>
          <p:cNvSpPr/>
          <p:nvPr/>
        </p:nvSpPr>
        <p:spPr>
          <a:xfrm>
            <a:off x="9174174" y="1508760"/>
            <a:ext cx="45722" cy="2971802"/>
          </a:xfrm>
          <a:prstGeom prst="rect">
            <a:avLst/>
          </a:prstGeom>
          <a:solidFill>
            <a:srgbClr val="1E88E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" name="Text 17"/>
          <p:cNvSpPr txBox="1"/>
          <p:nvPr/>
        </p:nvSpPr>
        <p:spPr>
          <a:xfrm>
            <a:off x="9393631" y="1743378"/>
            <a:ext cx="21031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1100">
                <a:solidFill>
                  <a:srgbClr val="123B66"/>
                </a:solidFill>
              </a:defRPr>
            </a:lvl1pPr>
          </a:lstStyle>
          <a:p>
            <a:pPr/>
            <a:r>
              <a:t>WHAT TO INCLUDE</a:t>
            </a:r>
          </a:p>
        </p:txBody>
      </p:sp>
      <p:sp>
        <p:nvSpPr>
          <p:cNvPr id="108" name="Text 18"/>
          <p:cNvSpPr txBox="1"/>
          <p:nvPr/>
        </p:nvSpPr>
        <p:spPr>
          <a:xfrm>
            <a:off x="9393631" y="2020822"/>
            <a:ext cx="2103122" cy="1747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Explain what already exists</a:t>
            </a:r>
          </a:p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Identify limitations of existing approaches</a:t>
            </a:r>
          </a:p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Explain what is different about your approach</a:t>
            </a:r>
          </a:p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Focus on concrete differences</a:t>
            </a:r>
          </a:p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Mention unique technology, process, or model</a:t>
            </a:r>
          </a:p>
        </p:txBody>
      </p:sp>
      <p:sp>
        <p:nvSpPr>
          <p:cNvPr id="109" name="Shape 19"/>
          <p:cNvSpPr/>
          <p:nvPr/>
        </p:nvSpPr>
        <p:spPr>
          <a:xfrm>
            <a:off x="9174174" y="4736591"/>
            <a:ext cx="2514602" cy="1051562"/>
          </a:xfrm>
          <a:prstGeom prst="roundRect">
            <a:avLst>
              <a:gd name="adj" fmla="val 5217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" name="Text 20"/>
          <p:cNvSpPr txBox="1"/>
          <p:nvPr/>
        </p:nvSpPr>
        <p:spPr>
          <a:xfrm>
            <a:off x="9375343" y="4914944"/>
            <a:ext cx="2112266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1000">
                <a:solidFill>
                  <a:srgbClr val="1E88E5"/>
                </a:solidFill>
              </a:defRPr>
            </a:lvl1pPr>
          </a:lstStyle>
          <a:p>
            <a:pPr/>
            <a:r>
              <a:t>IMPORTANT</a:t>
            </a:r>
          </a:p>
        </p:txBody>
      </p:sp>
      <p:sp>
        <p:nvSpPr>
          <p:cNvPr id="111" name="Text 21"/>
          <p:cNvSpPr txBox="1"/>
          <p:nvPr/>
        </p:nvSpPr>
        <p:spPr>
          <a:xfrm>
            <a:off x="9375343" y="5101633"/>
            <a:ext cx="2112266" cy="632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667085"/>
                </a:solidFill>
              </a:defRPr>
            </a:lvl1pPr>
          </a:lstStyle>
          <a:p>
            <a:pPr/>
            <a:r>
              <a:t>Avoid claims like “best” or “revolutionary”. A meaningful improvement also counts as differentiation.</a:t>
            </a:r>
          </a:p>
        </p:txBody>
      </p:sp>
      <p:sp>
        <p:nvSpPr>
          <p:cNvPr id="112" name="Shape 22"/>
          <p:cNvSpPr/>
          <p:nvPr/>
        </p:nvSpPr>
        <p:spPr>
          <a:xfrm>
            <a:off x="502918" y="6453885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" name="Text 23"/>
          <p:cNvSpPr txBox="1"/>
          <p:nvPr/>
        </p:nvSpPr>
        <p:spPr>
          <a:xfrm>
            <a:off x="502919" y="6593331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/>
            <a:r>
              <a:t>AWS INNOVATION CHALLENGE  |   ONLINE SHORTLISTING   |   2026</a:t>
            </a:r>
          </a:p>
        </p:txBody>
      </p:sp>
      <p:sp>
        <p:nvSpPr>
          <p:cNvPr id="114" name="Text 24"/>
          <p:cNvSpPr txBox="1"/>
          <p:nvPr/>
        </p:nvSpPr>
        <p:spPr>
          <a:xfrm>
            <a:off x="11231574" y="6593331"/>
            <a:ext cx="457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67085"/>
                </a:solidFill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0"/>
          <p:cNvSpPr/>
          <p:nvPr/>
        </p:nvSpPr>
        <p:spPr>
          <a:xfrm>
            <a:off x="11505895" y="-502920"/>
            <a:ext cx="1188723" cy="1188723"/>
          </a:xfrm>
          <a:prstGeom prst="ellipse">
            <a:avLst/>
          </a:prstGeom>
          <a:solidFill>
            <a:srgbClr val="EA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" name="Text 1"/>
          <p:cNvSpPr txBox="1"/>
          <p:nvPr/>
        </p:nvSpPr>
        <p:spPr>
          <a:xfrm>
            <a:off x="502919" y="456114"/>
            <a:ext cx="10972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300">
                <a:solidFill>
                  <a:srgbClr val="1E88E5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18" name="Text 2"/>
          <p:cNvSpPr txBox="1"/>
          <p:nvPr/>
        </p:nvSpPr>
        <p:spPr>
          <a:xfrm>
            <a:off x="502919" y="725153"/>
            <a:ext cx="8412482" cy="32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123B66"/>
                </a:solidFill>
              </a:defRPr>
            </a:lvl1pPr>
          </a:lstStyle>
          <a:p>
            <a:pPr/>
            <a:r>
              <a:t>TECHNICAL APPROACH</a:t>
            </a:r>
          </a:p>
        </p:txBody>
      </p:sp>
      <p:sp>
        <p:nvSpPr>
          <p:cNvPr id="119" name="Shape 3"/>
          <p:cNvSpPr/>
          <p:nvPr/>
        </p:nvSpPr>
        <p:spPr>
          <a:xfrm>
            <a:off x="9814255" y="502919"/>
            <a:ext cx="1874522" cy="420626"/>
          </a:xfrm>
          <a:prstGeom prst="roundRect">
            <a:avLst>
              <a:gd name="adj" fmla="val 10870"/>
            </a:avLst>
          </a:prstGeom>
          <a:solidFill>
            <a:srgbClr val="EAF3FA"/>
          </a:solidFill>
          <a:ln>
            <a:solidFill>
              <a:srgbClr val="1E88E5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" name="Text 4"/>
          <p:cNvSpPr txBox="1"/>
          <p:nvPr/>
        </p:nvSpPr>
        <p:spPr>
          <a:xfrm>
            <a:off x="9814255" y="646098"/>
            <a:ext cx="18745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23B66"/>
                </a:solidFill>
              </a:defRPr>
            </a:lvl1pPr>
          </a:lstStyle>
          <a:p>
            <a:pPr/>
            <a:r>
              <a:t>15 POINTS</a:t>
            </a:r>
          </a:p>
        </p:txBody>
      </p:sp>
      <p:sp>
        <p:nvSpPr>
          <p:cNvPr id="121" name="Shape 5"/>
          <p:cNvSpPr/>
          <p:nvPr/>
        </p:nvSpPr>
        <p:spPr>
          <a:xfrm>
            <a:off x="502918" y="1206144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" name="Text 6"/>
          <p:cNvSpPr txBox="1"/>
          <p:nvPr/>
        </p:nvSpPr>
        <p:spPr>
          <a:xfrm>
            <a:off x="502918" y="1569641"/>
            <a:ext cx="457200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3B66"/>
                </a:solidFill>
              </a:defRPr>
            </a:lvl1pPr>
          </a:lstStyle>
          <a:p>
            <a:pPr/>
            <a:r>
              <a:t>SYSTEM ARCHITECTURE</a:t>
            </a:r>
          </a:p>
        </p:txBody>
      </p:sp>
      <p:sp>
        <p:nvSpPr>
          <p:cNvPr id="123" name="Shape 7"/>
          <p:cNvSpPr/>
          <p:nvPr/>
        </p:nvSpPr>
        <p:spPr>
          <a:xfrm>
            <a:off x="502919" y="1810511"/>
            <a:ext cx="8378649" cy="2331723"/>
          </a:xfrm>
          <a:prstGeom prst="roundRect">
            <a:avLst>
              <a:gd name="adj" fmla="val 1961"/>
            </a:avLst>
          </a:prstGeom>
          <a:solidFill>
            <a:srgbClr val="F7F9FC"/>
          </a:solidFill>
          <a:ln w="12700">
            <a:solidFill>
              <a:srgbClr val="E3EAF2"/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" name="Text 8"/>
          <p:cNvSpPr txBox="1"/>
          <p:nvPr/>
        </p:nvSpPr>
        <p:spPr>
          <a:xfrm>
            <a:off x="777239" y="2897939"/>
            <a:ext cx="7830009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i="1" sz="1200">
                <a:solidFill>
                  <a:srgbClr val="667085"/>
                </a:solidFill>
              </a:defRPr>
            </a:lvl1pPr>
          </a:lstStyle>
          <a:p>
            <a:pPr/>
            <a:r>
              <a:t>[INSERT ARCHITECTURE / SYSTEM DIAGRAM]</a:t>
            </a:r>
          </a:p>
        </p:txBody>
      </p:sp>
      <p:sp>
        <p:nvSpPr>
          <p:cNvPr id="125" name="Text 9"/>
          <p:cNvSpPr txBox="1"/>
          <p:nvPr/>
        </p:nvSpPr>
        <p:spPr>
          <a:xfrm>
            <a:off x="502918" y="4459146"/>
            <a:ext cx="457200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3B66"/>
                </a:solidFill>
              </a:defRPr>
            </a:lvl1pPr>
          </a:lstStyle>
          <a:p>
            <a:pPr/>
            <a:r>
              <a:t>TECHNOLOGY STACK</a:t>
            </a:r>
          </a:p>
        </p:txBody>
      </p:sp>
      <p:sp>
        <p:nvSpPr>
          <p:cNvPr id="126" name="Text 10"/>
          <p:cNvSpPr txBox="1"/>
          <p:nvPr/>
        </p:nvSpPr>
        <p:spPr>
          <a:xfrm>
            <a:off x="502918" y="4779185"/>
            <a:ext cx="261000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123B66"/>
                </a:solidFill>
              </a:defRPr>
            </a:pPr>
            <a:r>
              <a:t>Frontend:  </a:t>
            </a:r>
            <a:r>
              <a:rPr b="0" i="1">
                <a:solidFill>
                  <a:srgbClr val="667085"/>
                </a:solidFill>
              </a:rPr>
              <a:t>[ ]</a:t>
            </a:r>
          </a:p>
        </p:txBody>
      </p:sp>
      <p:sp>
        <p:nvSpPr>
          <p:cNvPr id="127" name="Text 11"/>
          <p:cNvSpPr txBox="1"/>
          <p:nvPr/>
        </p:nvSpPr>
        <p:spPr>
          <a:xfrm>
            <a:off x="3387242" y="4779185"/>
            <a:ext cx="261000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123B66"/>
                </a:solidFill>
              </a:defRPr>
            </a:pPr>
            <a:r>
              <a:t>Backend:  </a:t>
            </a:r>
            <a:r>
              <a:rPr b="0" i="1">
                <a:solidFill>
                  <a:srgbClr val="667085"/>
                </a:solidFill>
              </a:rPr>
              <a:t>[ ]</a:t>
            </a:r>
          </a:p>
        </p:txBody>
      </p:sp>
      <p:sp>
        <p:nvSpPr>
          <p:cNvPr id="128" name="Text 12"/>
          <p:cNvSpPr txBox="1"/>
          <p:nvPr/>
        </p:nvSpPr>
        <p:spPr>
          <a:xfrm>
            <a:off x="6271564" y="4779185"/>
            <a:ext cx="261000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123B66"/>
                </a:solidFill>
              </a:defRPr>
            </a:pPr>
            <a:r>
              <a:t>Database:  </a:t>
            </a:r>
            <a:r>
              <a:rPr b="0" i="1">
                <a:solidFill>
                  <a:srgbClr val="667085"/>
                </a:solidFill>
              </a:rPr>
              <a:t>[ ]</a:t>
            </a:r>
          </a:p>
        </p:txBody>
      </p:sp>
      <p:sp>
        <p:nvSpPr>
          <p:cNvPr id="129" name="Text 13"/>
          <p:cNvSpPr txBox="1"/>
          <p:nvPr/>
        </p:nvSpPr>
        <p:spPr>
          <a:xfrm>
            <a:off x="502918" y="5108369"/>
            <a:ext cx="2610006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123B66"/>
                </a:solidFill>
              </a:defRPr>
            </a:pPr>
            <a:r>
              <a:t>AI / ML:  </a:t>
            </a:r>
            <a:r>
              <a:rPr b="0" i="1">
                <a:solidFill>
                  <a:srgbClr val="667085"/>
                </a:solidFill>
              </a:rPr>
              <a:t>[ ]</a:t>
            </a:r>
          </a:p>
        </p:txBody>
      </p:sp>
      <p:sp>
        <p:nvSpPr>
          <p:cNvPr id="130" name="Text 14"/>
          <p:cNvSpPr txBox="1"/>
          <p:nvPr/>
        </p:nvSpPr>
        <p:spPr>
          <a:xfrm>
            <a:off x="3387242" y="5108369"/>
            <a:ext cx="261000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123B66"/>
                </a:solidFill>
              </a:defRPr>
            </a:pPr>
            <a:r>
              <a:t>APIs / Services:  </a:t>
            </a:r>
            <a:r>
              <a:rPr b="0" i="1">
                <a:solidFill>
                  <a:srgbClr val="667085"/>
                </a:solidFill>
              </a:rPr>
              <a:t>[ ]</a:t>
            </a:r>
          </a:p>
        </p:txBody>
      </p:sp>
      <p:sp>
        <p:nvSpPr>
          <p:cNvPr id="131" name="Text 15"/>
          <p:cNvSpPr txBox="1"/>
          <p:nvPr/>
        </p:nvSpPr>
        <p:spPr>
          <a:xfrm>
            <a:off x="6271564" y="5108369"/>
            <a:ext cx="261000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123B66"/>
                </a:solidFill>
              </a:defRPr>
            </a:pPr>
            <a:r>
              <a:t>Hardware:  </a:t>
            </a:r>
            <a:r>
              <a:rPr b="0" i="1">
                <a:solidFill>
                  <a:srgbClr val="667085"/>
                </a:solidFill>
              </a:rPr>
              <a:t>[ ]</a:t>
            </a:r>
          </a:p>
        </p:txBody>
      </p:sp>
      <p:sp>
        <p:nvSpPr>
          <p:cNvPr id="132" name="Text 16"/>
          <p:cNvSpPr txBox="1"/>
          <p:nvPr/>
        </p:nvSpPr>
        <p:spPr>
          <a:xfrm>
            <a:off x="502920" y="5602146"/>
            <a:ext cx="837864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3B66"/>
                </a:solidFill>
              </a:defRPr>
            </a:lvl1pPr>
          </a:lstStyle>
          <a:p>
            <a:pPr/>
            <a:r>
              <a:t>FEASIBILITY</a:t>
            </a:r>
          </a:p>
        </p:txBody>
      </p:sp>
      <p:sp>
        <p:nvSpPr>
          <p:cNvPr id="133" name="Text 17"/>
          <p:cNvSpPr txBox="1"/>
          <p:nvPr/>
        </p:nvSpPr>
        <p:spPr>
          <a:xfrm>
            <a:off x="502920" y="5815584"/>
            <a:ext cx="837864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100">
                <a:solidFill>
                  <a:srgbClr val="667085"/>
                </a:solidFill>
              </a:defRPr>
            </a:lvl1pPr>
          </a:lstStyle>
          <a:p>
            <a:pPr/>
            <a:r>
              <a:t>[Briefly explain why this solution can realistically be implemented during the offline hackathon.]</a:t>
            </a:r>
          </a:p>
        </p:txBody>
      </p:sp>
      <p:sp>
        <p:nvSpPr>
          <p:cNvPr id="134" name="Shape 18"/>
          <p:cNvSpPr/>
          <p:nvPr/>
        </p:nvSpPr>
        <p:spPr>
          <a:xfrm>
            <a:off x="9174174" y="1508760"/>
            <a:ext cx="2514602" cy="2971802"/>
          </a:xfrm>
          <a:prstGeom prst="roundRect">
            <a:avLst>
              <a:gd name="adj" fmla="val 2182"/>
            </a:avLst>
          </a:prstGeom>
          <a:solidFill>
            <a:srgbClr val="EA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Shape 19"/>
          <p:cNvSpPr/>
          <p:nvPr/>
        </p:nvSpPr>
        <p:spPr>
          <a:xfrm>
            <a:off x="9174174" y="1508760"/>
            <a:ext cx="45722" cy="2971802"/>
          </a:xfrm>
          <a:prstGeom prst="rect">
            <a:avLst/>
          </a:prstGeom>
          <a:solidFill>
            <a:srgbClr val="1E88E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Text 20"/>
          <p:cNvSpPr txBox="1"/>
          <p:nvPr/>
        </p:nvSpPr>
        <p:spPr>
          <a:xfrm>
            <a:off x="9393631" y="1743378"/>
            <a:ext cx="21031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1100">
                <a:solidFill>
                  <a:srgbClr val="123B66"/>
                </a:solidFill>
              </a:defRPr>
            </a:lvl1pPr>
          </a:lstStyle>
          <a:p>
            <a:pPr/>
            <a:r>
              <a:t>WHAT TO INCLUDE</a:t>
            </a:r>
          </a:p>
        </p:txBody>
      </p:sp>
      <p:sp>
        <p:nvSpPr>
          <p:cNvPr id="137" name="Text 21"/>
          <p:cNvSpPr txBox="1"/>
          <p:nvPr/>
        </p:nvSpPr>
        <p:spPr>
          <a:xfrm>
            <a:off x="9393631" y="2020822"/>
            <a:ext cx="2103122" cy="1403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Show the major system components</a:t>
            </a:r>
          </a:p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Explain how components interact</a:t>
            </a:r>
          </a:p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Mention key technologies</a:t>
            </a:r>
          </a:p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Identify AI/ML, APIs, hardware, or services</a:t>
            </a:r>
          </a:p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Demonstrate technical feasibility</a:t>
            </a:r>
          </a:p>
        </p:txBody>
      </p:sp>
      <p:sp>
        <p:nvSpPr>
          <p:cNvPr id="138" name="Shape 22"/>
          <p:cNvSpPr/>
          <p:nvPr/>
        </p:nvSpPr>
        <p:spPr>
          <a:xfrm>
            <a:off x="502918" y="6453885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" name="Text 23"/>
          <p:cNvSpPr txBox="1"/>
          <p:nvPr/>
        </p:nvSpPr>
        <p:spPr>
          <a:xfrm>
            <a:off x="502919" y="6593331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/>
            <a:r>
              <a:t>AWS INNOVATION CHALLENGE  |   ONLINE SHORTLISTING   |   2026</a:t>
            </a:r>
          </a:p>
        </p:txBody>
      </p:sp>
      <p:sp>
        <p:nvSpPr>
          <p:cNvPr id="140" name="Text 24"/>
          <p:cNvSpPr txBox="1"/>
          <p:nvPr/>
        </p:nvSpPr>
        <p:spPr>
          <a:xfrm>
            <a:off x="11231574" y="6593331"/>
            <a:ext cx="457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67085"/>
                </a:solidFill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11505895" y="-502920"/>
            <a:ext cx="1188723" cy="1188723"/>
          </a:xfrm>
          <a:prstGeom prst="ellipse">
            <a:avLst/>
          </a:prstGeom>
          <a:solidFill>
            <a:srgbClr val="EA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" name="Text 1"/>
          <p:cNvSpPr txBox="1"/>
          <p:nvPr/>
        </p:nvSpPr>
        <p:spPr>
          <a:xfrm>
            <a:off x="502919" y="456114"/>
            <a:ext cx="10972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300">
                <a:solidFill>
                  <a:srgbClr val="1E88E5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44" name="Text 2"/>
          <p:cNvSpPr txBox="1"/>
          <p:nvPr/>
        </p:nvSpPr>
        <p:spPr>
          <a:xfrm>
            <a:off x="502919" y="725153"/>
            <a:ext cx="8412482" cy="32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123B66"/>
                </a:solidFill>
              </a:defRPr>
            </a:lvl1pPr>
          </a:lstStyle>
          <a:p>
            <a:pPr/>
            <a:r>
              <a:t>IMPACT &amp; IMPLEMENTATION</a:t>
            </a:r>
          </a:p>
        </p:txBody>
      </p:sp>
      <p:sp>
        <p:nvSpPr>
          <p:cNvPr id="145" name="Shape 3"/>
          <p:cNvSpPr/>
          <p:nvPr/>
        </p:nvSpPr>
        <p:spPr>
          <a:xfrm>
            <a:off x="9814255" y="502919"/>
            <a:ext cx="1874522" cy="420626"/>
          </a:xfrm>
          <a:prstGeom prst="roundRect">
            <a:avLst>
              <a:gd name="adj" fmla="val 10870"/>
            </a:avLst>
          </a:prstGeom>
          <a:solidFill>
            <a:srgbClr val="EAF3FA"/>
          </a:solidFill>
          <a:ln>
            <a:solidFill>
              <a:srgbClr val="1E88E5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Text 4"/>
          <p:cNvSpPr txBox="1"/>
          <p:nvPr/>
        </p:nvSpPr>
        <p:spPr>
          <a:xfrm>
            <a:off x="9814255" y="646098"/>
            <a:ext cx="18745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23B66"/>
                </a:solidFill>
              </a:defRPr>
            </a:lvl1pPr>
          </a:lstStyle>
          <a:p>
            <a:pPr/>
            <a:r>
              <a:t>25 POINTS TOTAL</a:t>
            </a:r>
          </a:p>
        </p:txBody>
      </p:sp>
      <p:sp>
        <p:nvSpPr>
          <p:cNvPr id="147" name="Shape 5"/>
          <p:cNvSpPr/>
          <p:nvPr/>
        </p:nvSpPr>
        <p:spPr>
          <a:xfrm>
            <a:off x="502918" y="1206144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" name="Shape 6"/>
          <p:cNvSpPr/>
          <p:nvPr/>
        </p:nvSpPr>
        <p:spPr>
          <a:xfrm>
            <a:off x="502919" y="1508760"/>
            <a:ext cx="1691641" cy="347474"/>
          </a:xfrm>
          <a:prstGeom prst="roundRect">
            <a:avLst>
              <a:gd name="adj" fmla="val 50000"/>
            </a:avLst>
          </a:prstGeom>
          <a:solidFill>
            <a:srgbClr val="123B6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" name="Text 7"/>
          <p:cNvSpPr txBox="1"/>
          <p:nvPr/>
        </p:nvSpPr>
        <p:spPr>
          <a:xfrm>
            <a:off x="502920" y="1613960"/>
            <a:ext cx="169164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15 POINTS</a:t>
            </a:r>
          </a:p>
        </p:txBody>
      </p:sp>
      <p:sp>
        <p:nvSpPr>
          <p:cNvPr id="150" name="Text 8"/>
          <p:cNvSpPr txBox="1"/>
          <p:nvPr/>
        </p:nvSpPr>
        <p:spPr>
          <a:xfrm>
            <a:off x="2313432" y="1604063"/>
            <a:ext cx="320040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3B66"/>
                </a:solidFill>
              </a:defRPr>
            </a:lvl1pPr>
          </a:lstStyle>
          <a:p>
            <a:pPr/>
            <a:r>
              <a:t>A. EXPECTED IMPACT</a:t>
            </a:r>
          </a:p>
        </p:txBody>
      </p:sp>
      <p:sp>
        <p:nvSpPr>
          <p:cNvPr id="151" name="Text 9"/>
          <p:cNvSpPr txBox="1"/>
          <p:nvPr/>
        </p:nvSpPr>
        <p:spPr>
          <a:xfrm>
            <a:off x="502919" y="2072562"/>
            <a:ext cx="541005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3B66"/>
                </a:solidFill>
              </a:defRPr>
            </a:lvl1pPr>
          </a:lstStyle>
          <a:p>
            <a:pPr/>
            <a:r>
              <a:t>WHO BENEFITS?</a:t>
            </a:r>
          </a:p>
        </p:txBody>
      </p:sp>
      <p:sp>
        <p:nvSpPr>
          <p:cNvPr id="152" name="Text 10"/>
          <p:cNvSpPr txBox="1"/>
          <p:nvPr/>
        </p:nvSpPr>
        <p:spPr>
          <a:xfrm>
            <a:off x="502919" y="2285999"/>
            <a:ext cx="541005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100">
                <a:solidFill>
                  <a:srgbClr val="667085"/>
                </a:solidFill>
              </a:defRPr>
            </a:lvl1pPr>
          </a:lstStyle>
          <a:p>
            <a:pPr/>
            <a:r>
              <a:t>[Target users / stakeholders]</a:t>
            </a:r>
          </a:p>
        </p:txBody>
      </p:sp>
      <p:sp>
        <p:nvSpPr>
          <p:cNvPr id="153" name="Text 11"/>
          <p:cNvSpPr txBox="1"/>
          <p:nvPr/>
        </p:nvSpPr>
        <p:spPr>
          <a:xfrm>
            <a:off x="502919" y="2740074"/>
            <a:ext cx="541005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3B66"/>
                </a:solidFill>
              </a:defRPr>
            </a:lvl1pPr>
          </a:lstStyle>
          <a:p>
            <a:pPr/>
            <a:r>
              <a:t>EXPECTED OUTCOME</a:t>
            </a:r>
          </a:p>
        </p:txBody>
      </p:sp>
      <p:sp>
        <p:nvSpPr>
          <p:cNvPr id="154" name="Text 12"/>
          <p:cNvSpPr txBox="1"/>
          <p:nvPr/>
        </p:nvSpPr>
        <p:spPr>
          <a:xfrm>
            <a:off x="502919" y="2953511"/>
            <a:ext cx="541005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100">
                <a:solidFill>
                  <a:srgbClr val="667085"/>
                </a:solidFill>
              </a:defRPr>
            </a:lvl1pPr>
          </a:lstStyle>
          <a:p>
            <a:pPr/>
            <a:r>
              <a:t>[What changes if the solution succeeds?]</a:t>
            </a:r>
          </a:p>
        </p:txBody>
      </p:sp>
      <p:sp>
        <p:nvSpPr>
          <p:cNvPr id="155" name="Text 13"/>
          <p:cNvSpPr txBox="1"/>
          <p:nvPr/>
        </p:nvSpPr>
        <p:spPr>
          <a:xfrm>
            <a:off x="502918" y="3489881"/>
            <a:ext cx="365760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3B66"/>
                </a:solidFill>
              </a:defRPr>
            </a:lvl1pPr>
          </a:lstStyle>
          <a:p>
            <a:pPr/>
            <a:r>
              <a:t>SUCCESS METRICS</a:t>
            </a:r>
          </a:p>
        </p:txBody>
      </p:sp>
      <p:sp>
        <p:nvSpPr>
          <p:cNvPr id="156" name="Shape 14"/>
          <p:cNvSpPr/>
          <p:nvPr/>
        </p:nvSpPr>
        <p:spPr>
          <a:xfrm>
            <a:off x="502919" y="3721608"/>
            <a:ext cx="1681430" cy="777242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" name="Text 15"/>
          <p:cNvSpPr txBox="1"/>
          <p:nvPr/>
        </p:nvSpPr>
        <p:spPr>
          <a:xfrm>
            <a:off x="576071" y="4041692"/>
            <a:ext cx="1535128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i="1" sz="1000">
                <a:solidFill>
                  <a:srgbClr val="1E88E5"/>
                </a:solidFill>
              </a:defRPr>
            </a:lvl1pPr>
          </a:lstStyle>
          <a:p>
            <a:pPr/>
            <a:r>
              <a:t>[METRIC 1]</a:t>
            </a:r>
          </a:p>
        </p:txBody>
      </p:sp>
      <p:sp>
        <p:nvSpPr>
          <p:cNvPr id="158" name="Shape 16"/>
          <p:cNvSpPr/>
          <p:nvPr/>
        </p:nvSpPr>
        <p:spPr>
          <a:xfrm>
            <a:off x="2367227" y="3721608"/>
            <a:ext cx="1681431" cy="777242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" name="Text 17"/>
          <p:cNvSpPr txBox="1"/>
          <p:nvPr/>
        </p:nvSpPr>
        <p:spPr>
          <a:xfrm>
            <a:off x="2440381" y="4041692"/>
            <a:ext cx="1535127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i="1" sz="1000">
                <a:solidFill>
                  <a:srgbClr val="1E88E5"/>
                </a:solidFill>
              </a:defRPr>
            </a:lvl1pPr>
          </a:lstStyle>
          <a:p>
            <a:pPr/>
            <a:r>
              <a:t>[METRIC 2]</a:t>
            </a:r>
          </a:p>
        </p:txBody>
      </p:sp>
      <p:sp>
        <p:nvSpPr>
          <p:cNvPr id="160" name="Shape 18"/>
          <p:cNvSpPr/>
          <p:nvPr/>
        </p:nvSpPr>
        <p:spPr>
          <a:xfrm>
            <a:off x="4231537" y="3721608"/>
            <a:ext cx="1681430" cy="777242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" name="Text 19"/>
          <p:cNvSpPr txBox="1"/>
          <p:nvPr/>
        </p:nvSpPr>
        <p:spPr>
          <a:xfrm>
            <a:off x="4304689" y="4041692"/>
            <a:ext cx="1535127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i="1" sz="1000">
                <a:solidFill>
                  <a:srgbClr val="1E88E5"/>
                </a:solidFill>
              </a:defRPr>
            </a:lvl1pPr>
          </a:lstStyle>
          <a:p>
            <a:pPr/>
            <a:r>
              <a:t>[METRIC 3]</a:t>
            </a:r>
          </a:p>
        </p:txBody>
      </p:sp>
      <p:sp>
        <p:nvSpPr>
          <p:cNvPr id="162" name="Shape 20"/>
          <p:cNvSpPr/>
          <p:nvPr/>
        </p:nvSpPr>
        <p:spPr>
          <a:xfrm>
            <a:off x="502919" y="4754879"/>
            <a:ext cx="5410051" cy="1371602"/>
          </a:xfrm>
          <a:prstGeom prst="roundRect">
            <a:avLst>
              <a:gd name="adj" fmla="val 4000"/>
            </a:avLst>
          </a:prstGeom>
          <a:solidFill>
            <a:srgbClr val="EA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" name="Shape 21"/>
          <p:cNvSpPr/>
          <p:nvPr/>
        </p:nvSpPr>
        <p:spPr>
          <a:xfrm>
            <a:off x="502919" y="4754879"/>
            <a:ext cx="45722" cy="1371602"/>
          </a:xfrm>
          <a:prstGeom prst="rect">
            <a:avLst/>
          </a:prstGeom>
          <a:solidFill>
            <a:srgbClr val="1E88E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4" name="Text 22"/>
          <p:cNvSpPr txBox="1"/>
          <p:nvPr/>
        </p:nvSpPr>
        <p:spPr>
          <a:xfrm>
            <a:off x="704088" y="4924087"/>
            <a:ext cx="5044288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123B66"/>
                </a:solidFill>
              </a:defRPr>
            </a:lvl1pPr>
          </a:lstStyle>
          <a:p>
            <a:pPr/>
            <a:r>
              <a:t>WHAT TO INCLUDE</a:t>
            </a:r>
          </a:p>
        </p:txBody>
      </p:sp>
      <p:sp>
        <p:nvSpPr>
          <p:cNvPr id="165" name="Text 23"/>
          <p:cNvSpPr txBox="1"/>
          <p:nvPr/>
        </p:nvSpPr>
        <p:spPr>
          <a:xfrm>
            <a:off x="704088" y="5138928"/>
            <a:ext cx="5044288" cy="685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7000" indent="-127000">
              <a:spcBef>
                <a:spcPts val="400"/>
              </a:spcBef>
              <a:buSzPct val="100000"/>
              <a:buChar char="•"/>
              <a:defRPr sz="900">
                <a:solidFill>
                  <a:srgbClr val="17202A"/>
                </a:solidFill>
              </a:defRPr>
            </a:pPr>
            <a:r>
              <a:t>Identify beneficiaries/stakeholders</a:t>
            </a:r>
          </a:p>
          <a:p>
            <a:pPr marL="127000" indent="-127000">
              <a:spcBef>
                <a:spcPts val="400"/>
              </a:spcBef>
              <a:buSzPct val="100000"/>
              <a:buChar char="•"/>
              <a:defRPr sz="900">
                <a:solidFill>
                  <a:srgbClr val="17202A"/>
                </a:solidFill>
              </a:defRPr>
            </a:pPr>
            <a:r>
              <a:t>Explain the expected outcome</a:t>
            </a:r>
          </a:p>
          <a:p>
            <a:pPr marL="127000" indent="-127000">
              <a:spcBef>
                <a:spcPts val="400"/>
              </a:spcBef>
              <a:buSzPct val="100000"/>
              <a:buChar char="•"/>
              <a:defRPr sz="900">
                <a:solidFill>
                  <a:srgbClr val="17202A"/>
                </a:solidFill>
              </a:defRPr>
            </a:pPr>
            <a:r>
              <a:t>Describe measurable success indicators</a:t>
            </a:r>
          </a:p>
          <a:p>
            <a:pPr marL="127000" indent="-127000">
              <a:spcBef>
                <a:spcPts val="400"/>
              </a:spcBef>
              <a:buSzPct val="100000"/>
              <a:buChar char="•"/>
              <a:defRPr sz="900">
                <a:solidFill>
                  <a:srgbClr val="17202A"/>
                </a:solidFill>
              </a:defRPr>
            </a:pPr>
            <a:r>
              <a:t>Quantify impact where reasonable</a:t>
            </a:r>
          </a:p>
        </p:txBody>
      </p:sp>
      <p:sp>
        <p:nvSpPr>
          <p:cNvPr id="166" name="Shape 24"/>
          <p:cNvSpPr/>
          <p:nvPr/>
        </p:nvSpPr>
        <p:spPr>
          <a:xfrm>
            <a:off x="6278726" y="1508760"/>
            <a:ext cx="1691642" cy="347474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" name="Text 25"/>
          <p:cNvSpPr txBox="1"/>
          <p:nvPr/>
        </p:nvSpPr>
        <p:spPr>
          <a:xfrm>
            <a:off x="6278728" y="1613960"/>
            <a:ext cx="169164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10 POINTS</a:t>
            </a:r>
          </a:p>
        </p:txBody>
      </p:sp>
      <p:sp>
        <p:nvSpPr>
          <p:cNvPr id="168" name="Text 26"/>
          <p:cNvSpPr txBox="1"/>
          <p:nvPr/>
        </p:nvSpPr>
        <p:spPr>
          <a:xfrm>
            <a:off x="8089240" y="1604063"/>
            <a:ext cx="320040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3B66"/>
                </a:solidFill>
              </a:defRPr>
            </a:lvl1pPr>
          </a:lstStyle>
          <a:p>
            <a:pPr/>
            <a:r>
              <a:t>B. HACKATHON PLAN</a:t>
            </a:r>
          </a:p>
        </p:txBody>
      </p:sp>
      <p:sp>
        <p:nvSpPr>
          <p:cNvPr id="169" name="Shape 27"/>
          <p:cNvSpPr/>
          <p:nvPr/>
        </p:nvSpPr>
        <p:spPr>
          <a:xfrm>
            <a:off x="6278726" y="2057400"/>
            <a:ext cx="5410051" cy="4572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Text 28"/>
          <p:cNvSpPr txBox="1"/>
          <p:nvPr/>
        </p:nvSpPr>
        <p:spPr>
          <a:xfrm>
            <a:off x="6461607" y="2191319"/>
            <a:ext cx="50292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E88E5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71" name="Text 29"/>
          <p:cNvSpPr txBox="1"/>
          <p:nvPr/>
        </p:nvSpPr>
        <p:spPr>
          <a:xfrm>
            <a:off x="6964528" y="2207567"/>
            <a:ext cx="454137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200">
                <a:solidFill>
                  <a:srgbClr val="17202A"/>
                </a:solidFill>
              </a:defRPr>
            </a:lvl1pPr>
          </a:lstStyle>
          <a:p>
            <a:pPr/>
            <a:r>
              <a:t>[CORE FUNCTIONALITY]</a:t>
            </a:r>
          </a:p>
        </p:txBody>
      </p:sp>
      <p:sp>
        <p:nvSpPr>
          <p:cNvPr id="172" name="Shape 30"/>
          <p:cNvSpPr/>
          <p:nvPr/>
        </p:nvSpPr>
        <p:spPr>
          <a:xfrm>
            <a:off x="6278726" y="2624327"/>
            <a:ext cx="5410051" cy="45720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F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3" name="Text 31"/>
          <p:cNvSpPr txBox="1"/>
          <p:nvPr/>
        </p:nvSpPr>
        <p:spPr>
          <a:xfrm>
            <a:off x="6461607" y="2758247"/>
            <a:ext cx="50292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E88E5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74" name="Text 32"/>
          <p:cNvSpPr txBox="1"/>
          <p:nvPr/>
        </p:nvSpPr>
        <p:spPr>
          <a:xfrm>
            <a:off x="6964528" y="2774494"/>
            <a:ext cx="454137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200">
                <a:solidFill>
                  <a:srgbClr val="17202A"/>
                </a:solidFill>
              </a:defRPr>
            </a:lvl1pPr>
          </a:lstStyle>
          <a:p>
            <a:pPr/>
            <a:r>
              <a:t>[MAJOR FEATURE]</a:t>
            </a:r>
          </a:p>
        </p:txBody>
      </p:sp>
      <p:sp>
        <p:nvSpPr>
          <p:cNvPr id="175" name="Shape 33"/>
          <p:cNvSpPr/>
          <p:nvPr/>
        </p:nvSpPr>
        <p:spPr>
          <a:xfrm>
            <a:off x="6278726" y="3191255"/>
            <a:ext cx="5410051" cy="45720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" name="Text 34"/>
          <p:cNvSpPr txBox="1"/>
          <p:nvPr/>
        </p:nvSpPr>
        <p:spPr>
          <a:xfrm>
            <a:off x="6461607" y="3325176"/>
            <a:ext cx="50292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E88E5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77" name="Text 35"/>
          <p:cNvSpPr txBox="1"/>
          <p:nvPr/>
        </p:nvSpPr>
        <p:spPr>
          <a:xfrm>
            <a:off x="6964528" y="3341423"/>
            <a:ext cx="454137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200">
                <a:solidFill>
                  <a:srgbClr val="17202A"/>
                </a:solidFill>
              </a:defRPr>
            </a:lvl1pPr>
          </a:lstStyle>
          <a:p>
            <a:pPr/>
            <a:r>
              <a:t>[INTEGRATION / TESTING]</a:t>
            </a:r>
          </a:p>
        </p:txBody>
      </p:sp>
      <p:sp>
        <p:nvSpPr>
          <p:cNvPr id="178" name="Shape 36"/>
          <p:cNvSpPr/>
          <p:nvPr/>
        </p:nvSpPr>
        <p:spPr>
          <a:xfrm>
            <a:off x="6278726" y="3758184"/>
            <a:ext cx="5410051" cy="45720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F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9" name="Text 37"/>
          <p:cNvSpPr txBox="1"/>
          <p:nvPr/>
        </p:nvSpPr>
        <p:spPr>
          <a:xfrm>
            <a:off x="6461607" y="3892103"/>
            <a:ext cx="50292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E88E5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80" name="Text 38"/>
          <p:cNvSpPr txBox="1"/>
          <p:nvPr/>
        </p:nvSpPr>
        <p:spPr>
          <a:xfrm>
            <a:off x="6964528" y="3908350"/>
            <a:ext cx="454137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200">
                <a:solidFill>
                  <a:srgbClr val="17202A"/>
                </a:solidFill>
              </a:defRPr>
            </a:lvl1pPr>
          </a:lstStyle>
          <a:p>
            <a:pPr/>
            <a:r>
              <a:t>[FINAL DEMO]</a:t>
            </a:r>
          </a:p>
        </p:txBody>
      </p:sp>
      <p:sp>
        <p:nvSpPr>
          <p:cNvPr id="181" name="Shape 39"/>
          <p:cNvSpPr/>
          <p:nvPr/>
        </p:nvSpPr>
        <p:spPr>
          <a:xfrm>
            <a:off x="6278726" y="4489703"/>
            <a:ext cx="5410051" cy="1371602"/>
          </a:xfrm>
          <a:prstGeom prst="roundRect">
            <a:avLst>
              <a:gd name="adj" fmla="val 4000"/>
            </a:avLst>
          </a:prstGeom>
          <a:solidFill>
            <a:srgbClr val="EA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" name="Shape 40"/>
          <p:cNvSpPr/>
          <p:nvPr/>
        </p:nvSpPr>
        <p:spPr>
          <a:xfrm>
            <a:off x="6278726" y="4489703"/>
            <a:ext cx="45722" cy="1371602"/>
          </a:xfrm>
          <a:prstGeom prst="rect">
            <a:avLst/>
          </a:prstGeom>
          <a:solidFill>
            <a:srgbClr val="1E88E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" name="Text 41"/>
          <p:cNvSpPr txBox="1"/>
          <p:nvPr/>
        </p:nvSpPr>
        <p:spPr>
          <a:xfrm>
            <a:off x="6479896" y="4658912"/>
            <a:ext cx="5044288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123B66"/>
                </a:solidFill>
              </a:defRPr>
            </a:lvl1pPr>
          </a:lstStyle>
          <a:p>
            <a:pPr/>
            <a:r>
              <a:t>WHAT TO INCLUDE</a:t>
            </a:r>
          </a:p>
        </p:txBody>
      </p:sp>
      <p:sp>
        <p:nvSpPr>
          <p:cNvPr id="184" name="Text 42"/>
          <p:cNvSpPr txBox="1"/>
          <p:nvPr/>
        </p:nvSpPr>
        <p:spPr>
          <a:xfrm>
            <a:off x="6479896" y="4873752"/>
            <a:ext cx="5044288" cy="685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7000" indent="-127000">
              <a:spcBef>
                <a:spcPts val="400"/>
              </a:spcBef>
              <a:buSzPct val="100000"/>
              <a:buChar char="•"/>
              <a:defRPr sz="900">
                <a:solidFill>
                  <a:srgbClr val="17202A"/>
                </a:solidFill>
              </a:defRPr>
            </a:pPr>
            <a:r>
              <a:t>Show what you intend to build during the hackathon</a:t>
            </a:r>
          </a:p>
          <a:p>
            <a:pPr marL="127000" indent="-127000">
              <a:spcBef>
                <a:spcPts val="400"/>
              </a:spcBef>
              <a:buSzPct val="100000"/>
              <a:buChar char="•"/>
              <a:defRPr sz="900">
                <a:solidFill>
                  <a:srgbClr val="17202A"/>
                </a:solidFill>
              </a:defRPr>
            </a:pPr>
            <a:r>
              <a:t>Prioritize a working core product</a:t>
            </a:r>
          </a:p>
          <a:p>
            <a:pPr marL="127000" indent="-127000">
              <a:spcBef>
                <a:spcPts val="400"/>
              </a:spcBef>
              <a:buSzPct val="100000"/>
              <a:buChar char="•"/>
              <a:defRPr sz="900">
                <a:solidFill>
                  <a:srgbClr val="17202A"/>
                </a:solidFill>
              </a:defRPr>
            </a:pPr>
            <a:r>
              <a:t>Identify major milestones</a:t>
            </a:r>
          </a:p>
          <a:p>
            <a:pPr marL="127000" indent="-127000">
              <a:spcBef>
                <a:spcPts val="400"/>
              </a:spcBef>
              <a:buSzPct val="100000"/>
              <a:buChar char="•"/>
              <a:defRPr sz="900">
                <a:solidFill>
                  <a:srgbClr val="17202A"/>
                </a:solidFill>
              </a:defRPr>
            </a:pPr>
            <a:r>
              <a:t>Keep the plan realistic for the available time</a:t>
            </a:r>
          </a:p>
        </p:txBody>
      </p:sp>
      <p:sp>
        <p:nvSpPr>
          <p:cNvPr id="185" name="Shape 43"/>
          <p:cNvSpPr/>
          <p:nvPr/>
        </p:nvSpPr>
        <p:spPr>
          <a:xfrm>
            <a:off x="502918" y="6453885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6" name="Text 44"/>
          <p:cNvSpPr txBox="1"/>
          <p:nvPr/>
        </p:nvSpPr>
        <p:spPr>
          <a:xfrm>
            <a:off x="502919" y="6593331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/>
            <a:r>
              <a:t>AWS INNOVATION CHALLENGE  |   ONLINE SHORTLISTING   |   2026</a:t>
            </a:r>
          </a:p>
        </p:txBody>
      </p:sp>
      <p:sp>
        <p:nvSpPr>
          <p:cNvPr id="187" name="Text 45"/>
          <p:cNvSpPr txBox="1"/>
          <p:nvPr/>
        </p:nvSpPr>
        <p:spPr>
          <a:xfrm>
            <a:off x="11231574" y="6593331"/>
            <a:ext cx="457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67085"/>
                </a:solidFill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11505895" y="-502920"/>
            <a:ext cx="1188723" cy="1188723"/>
          </a:xfrm>
          <a:prstGeom prst="ellipse">
            <a:avLst/>
          </a:prstGeom>
          <a:solidFill>
            <a:srgbClr val="EA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" name="Text 1"/>
          <p:cNvSpPr txBox="1"/>
          <p:nvPr/>
        </p:nvSpPr>
        <p:spPr>
          <a:xfrm>
            <a:off x="502919" y="456114"/>
            <a:ext cx="10972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300">
                <a:solidFill>
                  <a:srgbClr val="1E88E5"/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91" name="Text 2"/>
          <p:cNvSpPr txBox="1"/>
          <p:nvPr/>
        </p:nvSpPr>
        <p:spPr>
          <a:xfrm>
            <a:off x="502919" y="725153"/>
            <a:ext cx="8412482" cy="32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123B66"/>
                </a:solidFill>
              </a:defRPr>
            </a:lvl1pPr>
          </a:lstStyle>
          <a:p>
            <a:pPr/>
            <a:r>
              <a:t>TEAM &amp; EXECUTION READINESS</a:t>
            </a:r>
          </a:p>
        </p:txBody>
      </p:sp>
      <p:sp>
        <p:nvSpPr>
          <p:cNvPr id="192" name="Shape 3"/>
          <p:cNvSpPr/>
          <p:nvPr/>
        </p:nvSpPr>
        <p:spPr>
          <a:xfrm>
            <a:off x="9814255" y="502919"/>
            <a:ext cx="1874522" cy="420626"/>
          </a:xfrm>
          <a:prstGeom prst="roundRect">
            <a:avLst>
              <a:gd name="adj" fmla="val 10870"/>
            </a:avLst>
          </a:prstGeom>
          <a:solidFill>
            <a:srgbClr val="EAF3FA"/>
          </a:solidFill>
          <a:ln>
            <a:solidFill>
              <a:srgbClr val="1E88E5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Text 4"/>
          <p:cNvSpPr txBox="1"/>
          <p:nvPr/>
        </p:nvSpPr>
        <p:spPr>
          <a:xfrm>
            <a:off x="9814255" y="646098"/>
            <a:ext cx="18745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23B66"/>
                </a:solidFill>
              </a:defRPr>
            </a:lvl1pPr>
          </a:lstStyle>
          <a:p>
            <a:pPr/>
            <a:r>
              <a:t>5 POINTS</a:t>
            </a:r>
          </a:p>
        </p:txBody>
      </p:sp>
      <p:sp>
        <p:nvSpPr>
          <p:cNvPr id="194" name="Shape 5"/>
          <p:cNvSpPr/>
          <p:nvPr/>
        </p:nvSpPr>
        <p:spPr>
          <a:xfrm>
            <a:off x="502918" y="1206144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95" name="Table 0"/>
          <p:cNvGraphicFramePr/>
          <p:nvPr/>
        </p:nvGraphicFramePr>
        <p:xfrm>
          <a:off x="502919" y="1508760"/>
          <a:ext cx="8378649" cy="192024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848740"/>
                <a:gridCol w="2346021"/>
                <a:gridCol w="3183886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MEMBER</a:t>
                      </a:r>
                    </a:p>
                  </a:txBody>
                  <a:tcPr marL="76200" marR="76200" marT="76200" marB="76200" anchor="ctr" anchorCtr="0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solidFill>
                      <a:srgbClr val="123B6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6200" marR="76200" marT="76200" marB="76200" anchor="ctr" anchorCtr="0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solidFill>
                      <a:srgbClr val="123B6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RELEVANT SKILLS</a:t>
                      </a:r>
                    </a:p>
                  </a:txBody>
                  <a:tcPr marL="76200" marR="76200" marT="76200" marB="76200" anchor="ctr" anchorCtr="0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solidFill>
                      <a:srgbClr val="123B6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 sz="1100">
                          <a:solidFill>
                            <a:srgbClr val="667085"/>
                          </a:solidFill>
                        </a:rPr>
                        <a:t>[NAME]</a:t>
                      </a:r>
                    </a:p>
                  </a:txBody>
                  <a:tcPr marL="76200" marR="76200" marT="76200" marB="76200" anchor="ctr" anchorCtr="0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 sz="1100">
                          <a:solidFill>
                            <a:srgbClr val="667085"/>
                          </a:solidFill>
                        </a:rPr>
                        <a:t>[ROLE]</a:t>
                      </a:r>
                    </a:p>
                  </a:txBody>
                  <a:tcPr marL="76200" marR="76200" marT="76200" marB="76200" anchor="ctr" anchorCtr="0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 sz="1100">
                          <a:solidFill>
                            <a:srgbClr val="667085"/>
                          </a:solidFill>
                        </a:rPr>
                        <a:t>[SKILLS]</a:t>
                      </a:r>
                    </a:p>
                  </a:txBody>
                  <a:tcPr marL="76200" marR="76200" marT="76200" marB="76200" anchor="ctr" anchorCtr="0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 sz="1100">
                          <a:solidFill>
                            <a:srgbClr val="667085"/>
                          </a:solidFill>
                        </a:rPr>
                        <a:t>[NAME]</a:t>
                      </a:r>
                    </a:p>
                  </a:txBody>
                  <a:tcPr marL="76200" marR="76200" marT="76200" marB="76200" anchor="ctr" anchorCtr="0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 sz="1100">
                          <a:solidFill>
                            <a:srgbClr val="667085"/>
                          </a:solidFill>
                        </a:rPr>
                        <a:t>[ROLE]</a:t>
                      </a:r>
                    </a:p>
                  </a:txBody>
                  <a:tcPr marL="76200" marR="76200" marT="76200" marB="76200" anchor="ctr" anchorCtr="0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 sz="1100">
                          <a:solidFill>
                            <a:srgbClr val="667085"/>
                          </a:solidFill>
                        </a:rPr>
                        <a:t>[SKILLS]</a:t>
                      </a:r>
                    </a:p>
                  </a:txBody>
                  <a:tcPr marL="76200" marR="76200" marT="76200" marB="76200" anchor="ctr" anchorCtr="0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 sz="1100">
                          <a:solidFill>
                            <a:srgbClr val="667085"/>
                          </a:solidFill>
                        </a:rPr>
                        <a:t>[NAME]</a:t>
                      </a:r>
                    </a:p>
                  </a:txBody>
                  <a:tcPr marL="76200" marR="76200" marT="76200" marB="76200" anchor="ctr" anchorCtr="0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 sz="1100">
                          <a:solidFill>
                            <a:srgbClr val="667085"/>
                          </a:solidFill>
                        </a:rPr>
                        <a:t>[ROLE]</a:t>
                      </a:r>
                    </a:p>
                  </a:txBody>
                  <a:tcPr marL="76200" marR="76200" marT="76200" marB="76200" anchor="ctr" anchorCtr="0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 sz="1100">
                          <a:solidFill>
                            <a:srgbClr val="667085"/>
                          </a:solidFill>
                        </a:rPr>
                        <a:t>[SKILLS]</a:t>
                      </a:r>
                    </a:p>
                  </a:txBody>
                  <a:tcPr marL="76200" marR="76200" marT="76200" marB="76200" anchor="ctr" anchorCtr="0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 sz="1100">
                          <a:solidFill>
                            <a:srgbClr val="667085"/>
                          </a:solidFill>
                        </a:rPr>
                        <a:t>[NAME]</a:t>
                      </a:r>
                    </a:p>
                  </a:txBody>
                  <a:tcPr marL="76200" marR="76200" marT="76200" marB="76200" anchor="ctr" anchorCtr="0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 sz="1100">
                          <a:solidFill>
                            <a:srgbClr val="667085"/>
                          </a:solidFill>
                        </a:rPr>
                        <a:t>[ROLE]</a:t>
                      </a:r>
                    </a:p>
                  </a:txBody>
                  <a:tcPr marL="76200" marR="76200" marT="76200" marB="76200" anchor="ctr" anchorCtr="0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 sz="1100">
                          <a:solidFill>
                            <a:srgbClr val="667085"/>
                          </a:solidFill>
                        </a:rPr>
                        <a:t>[SKILLS]</a:t>
                      </a:r>
                    </a:p>
                  </a:txBody>
                  <a:tcPr marL="76200" marR="76200" marT="76200" marB="76200" anchor="ctr" anchorCtr="0" horzOverflow="overflow">
                    <a:lnL w="12700">
                      <a:solidFill>
                        <a:srgbClr val="E3EAF2"/>
                      </a:solidFill>
                    </a:lnL>
                    <a:lnR w="12700">
                      <a:solidFill>
                        <a:srgbClr val="E3EAF2"/>
                      </a:solidFill>
                    </a:lnR>
                    <a:lnT w="12700">
                      <a:solidFill>
                        <a:srgbClr val="E3EAF2"/>
                      </a:solidFill>
                    </a:lnT>
                    <a:lnB w="12700">
                      <a:solidFill>
                        <a:srgbClr val="E3EAF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6" name="Text 6"/>
          <p:cNvSpPr txBox="1"/>
          <p:nvPr/>
        </p:nvSpPr>
        <p:spPr>
          <a:xfrm>
            <a:off x="502920" y="3718481"/>
            <a:ext cx="8378646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3B66"/>
                </a:solidFill>
              </a:defRPr>
            </a:lvl1pPr>
          </a:lstStyle>
          <a:p>
            <a:pPr/>
            <a:r>
              <a:t>WHY THIS TEAM?</a:t>
            </a:r>
          </a:p>
        </p:txBody>
      </p:sp>
      <p:sp>
        <p:nvSpPr>
          <p:cNvPr id="197" name="Text 7"/>
          <p:cNvSpPr txBox="1"/>
          <p:nvPr/>
        </p:nvSpPr>
        <p:spPr>
          <a:xfrm>
            <a:off x="502920" y="3931920"/>
            <a:ext cx="837864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100">
                <a:solidFill>
                  <a:srgbClr val="667085"/>
                </a:solidFill>
              </a:defRPr>
            </a:lvl1pPr>
          </a:lstStyle>
          <a:p>
            <a:pPr/>
            <a:r>
              <a:t>[Explain briefly how the team's skills align with the proposed solution.]</a:t>
            </a:r>
          </a:p>
        </p:txBody>
      </p:sp>
      <p:sp>
        <p:nvSpPr>
          <p:cNvPr id="198" name="Shape 8"/>
          <p:cNvSpPr/>
          <p:nvPr/>
        </p:nvSpPr>
        <p:spPr>
          <a:xfrm>
            <a:off x="502919" y="4709159"/>
            <a:ext cx="8378649" cy="1005842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 w="12700">
            <a:solidFill>
              <a:srgbClr val="E3EAF2"/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9" name="Shape 9"/>
          <p:cNvSpPr/>
          <p:nvPr/>
        </p:nvSpPr>
        <p:spPr>
          <a:xfrm>
            <a:off x="731519" y="4892040"/>
            <a:ext cx="1737362" cy="310898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0" name="Text 10"/>
          <p:cNvSpPr txBox="1"/>
          <p:nvPr/>
        </p:nvSpPr>
        <p:spPr>
          <a:xfrm>
            <a:off x="731519" y="4983988"/>
            <a:ext cx="17373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OPTIONAL — NOT REQUIRED</a:t>
            </a:r>
          </a:p>
        </p:txBody>
      </p:sp>
      <p:sp>
        <p:nvSpPr>
          <p:cNvPr id="201" name="Text 11"/>
          <p:cNvSpPr txBox="1"/>
          <p:nvPr/>
        </p:nvSpPr>
        <p:spPr>
          <a:xfrm>
            <a:off x="2651759" y="4969054"/>
            <a:ext cx="3657603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3B66"/>
                </a:solidFill>
              </a:defRPr>
            </a:lvl1pPr>
          </a:lstStyle>
          <a:p>
            <a:pPr/>
            <a:r>
              <a:t>PROTOTYPE / DEMO</a:t>
            </a:r>
          </a:p>
        </p:txBody>
      </p:sp>
      <p:sp>
        <p:nvSpPr>
          <p:cNvPr id="202" name="Text 12"/>
          <p:cNvSpPr txBox="1"/>
          <p:nvPr/>
        </p:nvSpPr>
        <p:spPr>
          <a:xfrm>
            <a:off x="731520" y="5391834"/>
            <a:ext cx="792144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667085"/>
                </a:solidFill>
              </a:defRPr>
            </a:lvl1pPr>
          </a:lstStyle>
          <a:p>
            <a:pPr/>
            <a:r>
              <a:t>[QR CODE / GITHUB / FIGMA / DEMO LINK]</a:t>
            </a:r>
          </a:p>
        </p:txBody>
      </p:sp>
      <p:sp>
        <p:nvSpPr>
          <p:cNvPr id="203" name="Shape 13"/>
          <p:cNvSpPr/>
          <p:nvPr/>
        </p:nvSpPr>
        <p:spPr>
          <a:xfrm>
            <a:off x="9174174" y="1508760"/>
            <a:ext cx="2514602" cy="2514602"/>
          </a:xfrm>
          <a:prstGeom prst="roundRect">
            <a:avLst>
              <a:gd name="adj" fmla="val 2182"/>
            </a:avLst>
          </a:prstGeom>
          <a:solidFill>
            <a:srgbClr val="EAF3F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4" name="Shape 14"/>
          <p:cNvSpPr/>
          <p:nvPr/>
        </p:nvSpPr>
        <p:spPr>
          <a:xfrm>
            <a:off x="9174174" y="1508760"/>
            <a:ext cx="45722" cy="2514602"/>
          </a:xfrm>
          <a:prstGeom prst="rect">
            <a:avLst/>
          </a:prstGeom>
          <a:solidFill>
            <a:srgbClr val="1E88E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5" name="Text 15"/>
          <p:cNvSpPr txBox="1"/>
          <p:nvPr/>
        </p:nvSpPr>
        <p:spPr>
          <a:xfrm>
            <a:off x="9393631" y="1743378"/>
            <a:ext cx="21031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1100">
                <a:solidFill>
                  <a:srgbClr val="123B66"/>
                </a:solidFill>
              </a:defRPr>
            </a:lvl1pPr>
          </a:lstStyle>
          <a:p>
            <a:pPr/>
            <a:r>
              <a:t>WHAT TO INCLUDE</a:t>
            </a:r>
          </a:p>
        </p:txBody>
      </p:sp>
      <p:sp>
        <p:nvSpPr>
          <p:cNvPr id="206" name="Text 16"/>
          <p:cNvSpPr txBox="1"/>
          <p:nvPr/>
        </p:nvSpPr>
        <p:spPr>
          <a:xfrm>
            <a:off x="9393631" y="2020822"/>
            <a:ext cx="2103122" cy="1129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Clearly define each member's role</a:t>
            </a:r>
          </a:p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Mention relevant skills</a:t>
            </a:r>
          </a:p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Show distribution of responsibilities</a:t>
            </a:r>
          </a:p>
          <a:p>
            <a:pPr marL="152400" indent="-152400">
              <a:lnSpc>
                <a:spcPct val="104999"/>
              </a:lnSpc>
              <a:spcBef>
                <a:spcPts val="800"/>
              </a:spcBef>
              <a:buSzPct val="100000"/>
              <a:buChar char="•"/>
              <a:defRPr sz="1000">
                <a:solidFill>
                  <a:srgbClr val="17202A"/>
                </a:solidFill>
              </a:defRPr>
            </a:pPr>
            <a:r>
              <a:t>Explain why the team's skills match the solution</a:t>
            </a:r>
          </a:p>
        </p:txBody>
      </p:sp>
      <p:sp>
        <p:nvSpPr>
          <p:cNvPr id="207" name="Shape 17"/>
          <p:cNvSpPr/>
          <p:nvPr/>
        </p:nvSpPr>
        <p:spPr>
          <a:xfrm>
            <a:off x="502918" y="6453885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" name="Text 18"/>
          <p:cNvSpPr txBox="1"/>
          <p:nvPr/>
        </p:nvSpPr>
        <p:spPr>
          <a:xfrm>
            <a:off x="502919" y="6593331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/>
            <a:r>
              <a:t>AWS INNOVATION CHALLENGE  |   ONLINE SHORTLISTING   |   2026</a:t>
            </a:r>
          </a:p>
        </p:txBody>
      </p:sp>
      <p:sp>
        <p:nvSpPr>
          <p:cNvPr id="209" name="Text 19"/>
          <p:cNvSpPr txBox="1"/>
          <p:nvPr/>
        </p:nvSpPr>
        <p:spPr>
          <a:xfrm>
            <a:off x="11231574" y="6593331"/>
            <a:ext cx="457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67085"/>
                </a:solidFill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34"/>
          <p:cNvSpPr/>
          <p:nvPr/>
        </p:nvSpPr>
        <p:spPr>
          <a:xfrm>
            <a:off x="502918" y="6453885"/>
            <a:ext cx="11185859" cy="12702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" name="Text 35"/>
          <p:cNvSpPr txBox="1"/>
          <p:nvPr/>
        </p:nvSpPr>
        <p:spPr>
          <a:xfrm>
            <a:off x="502919" y="6593331"/>
            <a:ext cx="8229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67085"/>
                </a:solidFill>
              </a:defRPr>
            </a:lvl1pPr>
          </a:lstStyle>
          <a:p>
            <a:pPr/>
            <a:r>
              <a:t>AWS INNOVATION CHALLENGE  |   ONLINE SHORTLISTING   |   2026</a:t>
            </a:r>
          </a:p>
        </p:txBody>
      </p:sp>
      <p:sp>
        <p:nvSpPr>
          <p:cNvPr id="213" name="Text 36"/>
          <p:cNvSpPr txBox="1"/>
          <p:nvPr/>
        </p:nvSpPr>
        <p:spPr>
          <a:xfrm>
            <a:off x="11231574" y="6593331"/>
            <a:ext cx="457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67085"/>
                </a:solid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14" name="Text 1"/>
          <p:cNvSpPr txBox="1"/>
          <p:nvPr/>
        </p:nvSpPr>
        <p:spPr>
          <a:xfrm>
            <a:off x="502919" y="456115"/>
            <a:ext cx="109728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300">
                <a:solidFill>
                  <a:srgbClr val="1E88E5"/>
                </a:solidFill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215" name="Text 2"/>
          <p:cNvSpPr txBox="1"/>
          <p:nvPr/>
        </p:nvSpPr>
        <p:spPr>
          <a:xfrm>
            <a:off x="502919" y="725154"/>
            <a:ext cx="8412482" cy="32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123B66"/>
                </a:solidFill>
              </a:defRPr>
            </a:lvl1pPr>
          </a:lstStyle>
          <a:p>
            <a:pPr/>
            <a:r>
              <a:t>SUBMISSION GUIDELINES &amp; RULES</a:t>
            </a:r>
          </a:p>
        </p:txBody>
      </p:sp>
      <p:sp>
        <p:nvSpPr>
          <p:cNvPr id="216" name="Shape 3"/>
          <p:cNvSpPr/>
          <p:nvPr/>
        </p:nvSpPr>
        <p:spPr>
          <a:xfrm>
            <a:off x="502919" y="1206144"/>
            <a:ext cx="11185857" cy="12701"/>
          </a:xfrm>
          <a:prstGeom prst="rect">
            <a:avLst/>
          </a:prstGeom>
          <a:solidFill>
            <a:srgbClr val="D9E2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Shape 4"/>
          <p:cNvSpPr/>
          <p:nvPr/>
        </p:nvSpPr>
        <p:spPr>
          <a:xfrm>
            <a:off x="502919" y="1508760"/>
            <a:ext cx="2645589" cy="2267713"/>
          </a:xfrm>
          <a:prstGeom prst="roundRect">
            <a:avLst>
              <a:gd name="adj" fmla="val 2016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Text 5"/>
          <p:cNvSpPr txBox="1"/>
          <p:nvPr/>
        </p:nvSpPr>
        <p:spPr>
          <a:xfrm>
            <a:off x="667512" y="1636776"/>
            <a:ext cx="231640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23B66"/>
                </a:solidFill>
              </a:defRPr>
            </a:lvl1pPr>
          </a:lstStyle>
          <a:p>
            <a:pPr/>
            <a:r>
              <a:t>PRESENTATION FORMAT</a:t>
            </a:r>
          </a:p>
        </p:txBody>
      </p:sp>
      <p:sp>
        <p:nvSpPr>
          <p:cNvPr id="219" name="Shape 6"/>
          <p:cNvSpPr/>
          <p:nvPr/>
        </p:nvSpPr>
        <p:spPr>
          <a:xfrm>
            <a:off x="667512" y="1965960"/>
            <a:ext cx="1051561" cy="219457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Text 7"/>
          <p:cNvSpPr txBox="1"/>
          <p:nvPr/>
        </p:nvSpPr>
        <p:spPr>
          <a:xfrm>
            <a:off x="667512" y="2012188"/>
            <a:ext cx="1051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1E88E5"/>
                </a:solidFill>
              </a:defRPr>
            </a:lvl1pPr>
          </a:lstStyle>
          <a:p>
            <a:pPr/>
            <a:r>
              <a:t>MANDATORY</a:t>
            </a:r>
          </a:p>
        </p:txBody>
      </p:sp>
      <p:sp>
        <p:nvSpPr>
          <p:cNvPr id="221" name="Text 8"/>
          <p:cNvSpPr txBox="1"/>
          <p:nvPr/>
        </p:nvSpPr>
        <p:spPr>
          <a:xfrm>
            <a:off x="667512" y="2240279"/>
            <a:ext cx="2316404" cy="891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Use the official PPT template</a:t>
            </a:r>
          </a:p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Maximum 10 slides overall</a:t>
            </a:r>
          </a:p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This rules slide (Slide 8) may be removed before submission</a:t>
            </a:r>
          </a:p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Do not reorder the evaluation slides</a:t>
            </a:r>
          </a:p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Replace all placeholder text</a:t>
            </a:r>
          </a:p>
        </p:txBody>
      </p:sp>
      <p:sp>
        <p:nvSpPr>
          <p:cNvPr id="222" name="Shape 9"/>
          <p:cNvSpPr/>
          <p:nvPr/>
        </p:nvSpPr>
        <p:spPr>
          <a:xfrm>
            <a:off x="3349676" y="1508760"/>
            <a:ext cx="2645589" cy="2267713"/>
          </a:xfrm>
          <a:prstGeom prst="roundRect">
            <a:avLst>
              <a:gd name="adj" fmla="val 2016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Text 10"/>
          <p:cNvSpPr txBox="1"/>
          <p:nvPr/>
        </p:nvSpPr>
        <p:spPr>
          <a:xfrm>
            <a:off x="3514268" y="1636776"/>
            <a:ext cx="2316405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23B66"/>
                </a:solidFill>
              </a:defRPr>
            </a:lvl1pPr>
          </a:lstStyle>
          <a:p>
            <a:pPr/>
            <a:r>
              <a:t>CONTENT REQUIREMENTS</a:t>
            </a:r>
          </a:p>
        </p:txBody>
      </p:sp>
      <p:sp>
        <p:nvSpPr>
          <p:cNvPr id="224" name="Text 11"/>
          <p:cNvSpPr txBox="1"/>
          <p:nvPr/>
        </p:nvSpPr>
        <p:spPr>
          <a:xfrm>
            <a:off x="3514268" y="2011679"/>
            <a:ext cx="2316405" cy="599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Define the problem &amp; target users</a:t>
            </a:r>
          </a:p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Explain solution &amp; differentiation</a:t>
            </a:r>
          </a:p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Cover technical approach &amp; impact</a:t>
            </a:r>
          </a:p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Include implementation plan &amp; team roles</a:t>
            </a:r>
          </a:p>
        </p:txBody>
      </p:sp>
      <p:sp>
        <p:nvSpPr>
          <p:cNvPr id="225" name="Shape 12"/>
          <p:cNvSpPr/>
          <p:nvPr/>
        </p:nvSpPr>
        <p:spPr>
          <a:xfrm>
            <a:off x="6196431" y="1508760"/>
            <a:ext cx="2645589" cy="2267713"/>
          </a:xfrm>
          <a:prstGeom prst="roundRect">
            <a:avLst>
              <a:gd name="adj" fmla="val 2016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Text 13"/>
          <p:cNvSpPr txBox="1"/>
          <p:nvPr/>
        </p:nvSpPr>
        <p:spPr>
          <a:xfrm>
            <a:off x="6361024" y="1636776"/>
            <a:ext cx="2316405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23B66"/>
                </a:solidFill>
              </a:defRPr>
            </a:lvl1pPr>
          </a:lstStyle>
          <a:p>
            <a:pPr/>
            <a:r>
              <a:t>PRESENTATION LIMIT</a:t>
            </a:r>
          </a:p>
        </p:txBody>
      </p:sp>
      <p:sp>
        <p:nvSpPr>
          <p:cNvPr id="227" name="Shape 14"/>
          <p:cNvSpPr/>
          <p:nvPr/>
        </p:nvSpPr>
        <p:spPr>
          <a:xfrm>
            <a:off x="6361024" y="1965960"/>
            <a:ext cx="1051561" cy="219457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Text 15"/>
          <p:cNvSpPr txBox="1"/>
          <p:nvPr/>
        </p:nvSpPr>
        <p:spPr>
          <a:xfrm>
            <a:off x="6361024" y="2012188"/>
            <a:ext cx="1051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1E88E5"/>
                </a:solidFill>
              </a:defRPr>
            </a:lvl1pPr>
          </a:lstStyle>
          <a:p>
            <a:pPr/>
            <a:r>
              <a:t>~3 MIN</a:t>
            </a:r>
          </a:p>
        </p:txBody>
      </p:sp>
      <p:sp>
        <p:nvSpPr>
          <p:cNvPr id="229" name="Text 16"/>
          <p:cNvSpPr txBox="1"/>
          <p:nvPr/>
        </p:nvSpPr>
        <p:spPr>
          <a:xfrm>
            <a:off x="6361024" y="2240279"/>
            <a:ext cx="2316405" cy="434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Communicate the full submission in ~3 minutes</a:t>
            </a:r>
          </a:p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Prioritize problem, solution, feasibility, impact</a:t>
            </a:r>
          </a:p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Avoid excessive text</a:t>
            </a:r>
          </a:p>
        </p:txBody>
      </p:sp>
      <p:sp>
        <p:nvSpPr>
          <p:cNvPr id="230" name="Shape 17"/>
          <p:cNvSpPr/>
          <p:nvPr/>
        </p:nvSpPr>
        <p:spPr>
          <a:xfrm>
            <a:off x="9043186" y="1508760"/>
            <a:ext cx="2645589" cy="2267713"/>
          </a:xfrm>
          <a:prstGeom prst="roundRect">
            <a:avLst>
              <a:gd name="adj" fmla="val 2016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Text 18"/>
          <p:cNvSpPr txBox="1"/>
          <p:nvPr/>
        </p:nvSpPr>
        <p:spPr>
          <a:xfrm>
            <a:off x="9207779" y="1636776"/>
            <a:ext cx="2316405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23B66"/>
                </a:solidFill>
              </a:defRPr>
            </a:lvl1pPr>
          </a:lstStyle>
          <a:p>
            <a:pPr/>
            <a:r>
              <a:t>DESIGN &amp; FORMATTING</a:t>
            </a:r>
          </a:p>
        </p:txBody>
      </p:sp>
      <p:sp>
        <p:nvSpPr>
          <p:cNvPr id="232" name="Text 19"/>
          <p:cNvSpPr txBox="1"/>
          <p:nvPr/>
        </p:nvSpPr>
        <p:spPr>
          <a:xfrm>
            <a:off x="9207779" y="2011679"/>
            <a:ext cx="2316405" cy="599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Colors, fonts, icons are customizable</a:t>
            </a:r>
          </a:p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Slide structure must stay unchanged</a:t>
            </a:r>
          </a:p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No tiny fonts or overcrowded slides</a:t>
            </a:r>
          </a:p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Avoid excessive animation</a:t>
            </a:r>
          </a:p>
        </p:txBody>
      </p:sp>
      <p:sp>
        <p:nvSpPr>
          <p:cNvPr id="233" name="Shape 20"/>
          <p:cNvSpPr/>
          <p:nvPr/>
        </p:nvSpPr>
        <p:spPr>
          <a:xfrm>
            <a:off x="502919" y="3995928"/>
            <a:ext cx="2645589" cy="2267713"/>
          </a:xfrm>
          <a:prstGeom prst="roundRect">
            <a:avLst>
              <a:gd name="adj" fmla="val 2016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Text 21"/>
          <p:cNvSpPr txBox="1"/>
          <p:nvPr/>
        </p:nvSpPr>
        <p:spPr>
          <a:xfrm>
            <a:off x="667512" y="4123944"/>
            <a:ext cx="231640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23B66"/>
                </a:solidFill>
              </a:defRPr>
            </a:lvl1pPr>
          </a:lstStyle>
          <a:p>
            <a:pPr/>
            <a:r>
              <a:t>FAIRNESS PRINCIPLE</a:t>
            </a:r>
          </a:p>
        </p:txBody>
      </p:sp>
      <p:sp>
        <p:nvSpPr>
          <p:cNvPr id="235" name="Text 22"/>
          <p:cNvSpPr txBox="1"/>
          <p:nvPr/>
        </p:nvSpPr>
        <p:spPr>
          <a:xfrm>
            <a:off x="667512" y="4498847"/>
            <a:ext cx="2316404" cy="269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Judges evaluate content, not design skill</a:t>
            </a:r>
          </a:p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Same structure &amp; criteria for every team</a:t>
            </a:r>
          </a:p>
        </p:txBody>
      </p:sp>
      <p:sp>
        <p:nvSpPr>
          <p:cNvPr id="236" name="Shape 23"/>
          <p:cNvSpPr/>
          <p:nvPr/>
        </p:nvSpPr>
        <p:spPr>
          <a:xfrm>
            <a:off x="3349676" y="3995928"/>
            <a:ext cx="2645589" cy="2267713"/>
          </a:xfrm>
          <a:prstGeom prst="roundRect">
            <a:avLst>
              <a:gd name="adj" fmla="val 2016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Text 24"/>
          <p:cNvSpPr txBox="1"/>
          <p:nvPr/>
        </p:nvSpPr>
        <p:spPr>
          <a:xfrm>
            <a:off x="3514268" y="4123944"/>
            <a:ext cx="2316405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23B66"/>
                </a:solidFill>
              </a:defRPr>
            </a:lvl1pPr>
          </a:lstStyle>
          <a:p>
            <a:pPr/>
            <a:r>
              <a:t>PROTOTYPE / DEMO</a:t>
            </a:r>
          </a:p>
        </p:txBody>
      </p:sp>
      <p:sp>
        <p:nvSpPr>
          <p:cNvPr id="238" name="Shape 25"/>
          <p:cNvSpPr/>
          <p:nvPr/>
        </p:nvSpPr>
        <p:spPr>
          <a:xfrm>
            <a:off x="3514268" y="4453128"/>
            <a:ext cx="1051561" cy="219457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26"/>
          <p:cNvSpPr txBox="1"/>
          <p:nvPr/>
        </p:nvSpPr>
        <p:spPr>
          <a:xfrm>
            <a:off x="3514268" y="4499356"/>
            <a:ext cx="1051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1E88E5"/>
                </a:solidFill>
              </a:defRPr>
            </a:lvl1pPr>
          </a:lstStyle>
          <a:p>
            <a:pPr/>
            <a:r>
              <a:t>OPTIONAL</a:t>
            </a:r>
          </a:p>
        </p:txBody>
      </p:sp>
      <p:sp>
        <p:nvSpPr>
          <p:cNvPr id="240" name="Text 27"/>
          <p:cNvSpPr txBox="1"/>
          <p:nvPr/>
        </p:nvSpPr>
        <p:spPr>
          <a:xfrm>
            <a:off x="3514268" y="4727447"/>
            <a:ext cx="2316405" cy="269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Not mandatory for online shortlisting</a:t>
            </a:r>
          </a:p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Add link or QR only in the designated area</a:t>
            </a:r>
          </a:p>
        </p:txBody>
      </p:sp>
      <p:sp>
        <p:nvSpPr>
          <p:cNvPr id="241" name="Shape 28"/>
          <p:cNvSpPr/>
          <p:nvPr/>
        </p:nvSpPr>
        <p:spPr>
          <a:xfrm>
            <a:off x="6196431" y="3995928"/>
            <a:ext cx="2645589" cy="2267713"/>
          </a:xfrm>
          <a:prstGeom prst="roundRect">
            <a:avLst>
              <a:gd name="adj" fmla="val 2016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Text 29"/>
          <p:cNvSpPr txBox="1"/>
          <p:nvPr/>
        </p:nvSpPr>
        <p:spPr>
          <a:xfrm>
            <a:off x="6361024" y="4123944"/>
            <a:ext cx="2316405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23B66"/>
                </a:solidFill>
              </a:defRPr>
            </a:lvl1pPr>
          </a:lstStyle>
          <a:p>
            <a:pPr/>
            <a:r>
              <a:t>ORIGINALITY &amp; OWNERSHIP</a:t>
            </a:r>
          </a:p>
        </p:txBody>
      </p:sp>
      <p:sp>
        <p:nvSpPr>
          <p:cNvPr id="243" name="Text 30"/>
          <p:cNvSpPr txBox="1"/>
          <p:nvPr/>
        </p:nvSpPr>
        <p:spPr>
          <a:xfrm>
            <a:off x="6361024" y="4498847"/>
            <a:ext cx="2316405" cy="434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Submit only work you have rights to present</a:t>
            </a:r>
          </a:p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Acknowledge third-party tech/datasets/APIs</a:t>
            </a:r>
          </a:p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Do not fabricate results or claims</a:t>
            </a:r>
          </a:p>
        </p:txBody>
      </p:sp>
      <p:sp>
        <p:nvSpPr>
          <p:cNvPr id="244" name="Shape 31"/>
          <p:cNvSpPr/>
          <p:nvPr/>
        </p:nvSpPr>
        <p:spPr>
          <a:xfrm>
            <a:off x="9043186" y="3995928"/>
            <a:ext cx="2645589" cy="2267713"/>
          </a:xfrm>
          <a:prstGeom prst="roundRect">
            <a:avLst>
              <a:gd name="adj" fmla="val 2016"/>
            </a:avLst>
          </a:prstGeom>
          <a:solidFill>
            <a:srgbClr val="F7F9FC"/>
          </a:solidFill>
          <a:ln w="12700">
            <a:solidFill>
              <a:srgbClr val="E3EAF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Text 32"/>
          <p:cNvSpPr txBox="1"/>
          <p:nvPr/>
        </p:nvSpPr>
        <p:spPr>
          <a:xfrm>
            <a:off x="9207779" y="4123944"/>
            <a:ext cx="2316405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23B66"/>
                </a:solidFill>
              </a:defRPr>
            </a:lvl1pPr>
          </a:lstStyle>
          <a:p>
            <a:pPr/>
            <a:r>
              <a:t>AI / THIRD-PARTY TOOLS</a:t>
            </a:r>
          </a:p>
        </p:txBody>
      </p:sp>
      <p:sp>
        <p:nvSpPr>
          <p:cNvPr id="246" name="Text 33"/>
          <p:cNvSpPr txBox="1"/>
          <p:nvPr/>
        </p:nvSpPr>
        <p:spPr>
          <a:xfrm>
            <a:off x="9207779" y="4498847"/>
            <a:ext cx="2316405" cy="434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AI tools &amp; APIs allowed unless prohibited</a:t>
            </a:r>
          </a:p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Team must understand the proposed solution</a:t>
            </a:r>
          </a:p>
          <a:p>
            <a:pPr marL="114300" indent="-114300">
              <a:spcBef>
                <a:spcPts val="300"/>
              </a:spcBef>
              <a:buSzPct val="100000"/>
              <a:buChar char="•"/>
              <a:defRPr sz="800">
                <a:solidFill>
                  <a:srgbClr val="17202A"/>
                </a:solidFill>
              </a:defRPr>
            </a:pPr>
            <a:r>
              <a:t>Verify AI-generated claims before presenting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