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7" r:id="rId13"/>
    <p:sldId id="298" r:id="rId14"/>
    <p:sldId id="290" r:id="rId4"/>
    <p:sldId id="299" r:id="rId15"/>
    <p:sldId id="300" r:id="rId16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731520" y="648614"/>
            <a:ext cx="10725912" cy="1752600"/>
          </a:xfrm>
        </p:spPr>
        <p:txBody>
          <a:bodyPr/>
          <a:lstStyle/>
          <a:p>
            <a:pPr>
              <a:defRPr sz="2800" b="1">
                <a:solidFill>
                  <a:srgbClr val="0070C0"/>
                </a:solidFill>
                <a:latin typeface="Times New Roman"/>
              </a:defRPr>
            </a:pPr>
            <a:r>
              <a:t>JIVA: REAL-TIME HEALTHCARE COORDINATION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sz="4000" b="1">
                <a:solidFill>
                  <a:srgbClr val="003366"/>
                </a:solidFill>
                <a:latin typeface="Garamond"/>
              </a:defRPr>
            </a:pPr>
            <a:r>
              <a:t>IDE BOOTCAMP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Rounded Rectangle 37"/>
          <p:cNvSpPr/>
          <p:nvPr/>
        </p:nvSpPr>
        <p:spPr>
          <a:xfrm>
            <a:off x="548640" y="1920240"/>
            <a:ext cx="512064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91440"/>
          <a:lstStyle/>
          <a:p>
            <a:pPr algn="ctr">
              <a:buNone/>
            </a:pPr>
            <a:r>
              <a:rPr sz="1150" b="1">
                <a:solidFill>
                  <a:srgbClr val="003366"/>
                </a:solidFill>
                <a:latin typeface="Arial"/>
              </a:rPr>
              <a:t>PROJECT IDENTIFICATION &amp; CORE THESIS
</a:t>
            </a:r>
          </a:p>
          <a:p>
            <a:pPr>
              <a:lnSpc>
                <a:spcPct val="115000"/>
              </a:lnSpc>
              <a:spcBef>
                <a:spcPts val="400"/>
              </a:spcBef>
              <a:buNone/>
            </a:pPr>
            <a:r>
              <a:rPr sz="950" b="1">
                <a:solidFill>
                  <a:srgbClr val="0070C0"/>
                </a:solidFill>
                <a:latin typeface="Arial"/>
              </a:rPr>
              <a:t>• Problem Statement Title: </a:t>
            </a:r>
            <a:r>
              <a:rPr sz="900" b="0">
                <a:solidFill>
                  <a:srgbClr val="1F2937"/>
                </a:solidFill>
                <a:latin typeface="Arial"/>
              </a:rPr>
              <a:t>Real-Time Emergency Healthcare Coordination &amp; Dynamic Hospital Routing</a:t>
            </a:r>
          </a:p>
          <a:p>
            <a:pPr>
              <a:lnSpc>
                <a:spcPct val="115000"/>
              </a:lnSpc>
              <a:spcBef>
                <a:spcPts val="400"/>
              </a:spcBef>
              <a:buNone/>
            </a:pPr>
            <a:r>
              <a:rPr sz="950" b="1">
                <a:solidFill>
                  <a:srgbClr val="0070C0"/>
                </a:solidFill>
                <a:latin typeface="Arial"/>
              </a:rPr>
              <a:t>• Theme: </a:t>
            </a:r>
            <a:r>
              <a:rPr sz="900" b="0">
                <a:solidFill>
                  <a:srgbClr val="1F2937"/>
                </a:solidFill>
                <a:latin typeface="Arial"/>
              </a:rPr>
              <a:t>Healthcare &amp; MedTech / Cloud-Native Emergency Mesh</a:t>
            </a:r>
          </a:p>
          <a:p>
            <a:pPr>
              <a:lnSpc>
                <a:spcPct val="115000"/>
              </a:lnSpc>
              <a:spcBef>
                <a:spcPts val="400"/>
              </a:spcBef>
              <a:buNone/>
            </a:pPr>
            <a:r>
              <a:rPr sz="950" b="1">
                <a:solidFill>
                  <a:srgbClr val="0070C0"/>
                </a:solidFill>
                <a:latin typeface="Arial"/>
              </a:rPr>
              <a:t>• PS Category: </a:t>
            </a:r>
            <a:r>
              <a:rPr sz="900" b="0">
                <a:solidFill>
                  <a:srgbClr val="1F2937"/>
                </a:solidFill>
                <a:latin typeface="Arial"/>
              </a:rPr>
              <a:t>Software (Event-Driven Healthcare Mesh)</a:t>
            </a:r>
          </a:p>
          <a:p>
            <a:pPr>
              <a:lnSpc>
                <a:spcPct val="115000"/>
              </a:lnSpc>
              <a:spcBef>
                <a:spcPts val="400"/>
              </a:spcBef>
              <a:buNone/>
            </a:pPr>
            <a:r>
              <a:rPr sz="950" b="1">
                <a:solidFill>
                  <a:srgbClr val="0070C0"/>
                </a:solidFill>
                <a:latin typeface="Arial"/>
              </a:rPr>
              <a:t>• Team Name: </a:t>
            </a:r>
            <a:r>
              <a:rPr sz="900" b="0">
                <a:solidFill>
                  <a:srgbClr val="1F2937"/>
                </a:solidFill>
                <a:latin typeface="Arial"/>
              </a:rPr>
              <a:t>Monochrome</a:t>
            </a:r>
          </a:p>
          <a:p>
            <a:pPr>
              <a:lnSpc>
                <a:spcPct val="115000"/>
              </a:lnSpc>
              <a:spcBef>
                <a:spcPts val="400"/>
              </a:spcBef>
              <a:buNone/>
            </a:pPr>
            <a:r>
              <a:rPr sz="950" b="1">
                <a:solidFill>
                  <a:srgbClr val="0070C0"/>
                </a:solidFill>
                <a:latin typeface="Arial"/>
              </a:rPr>
              <a:t>• Team Members: </a:t>
            </a:r>
            <a:r>
              <a:rPr sz="900" b="0">
                <a:solidFill>
                  <a:srgbClr val="1F2937"/>
                </a:solidFill>
                <a:latin typeface="Arial"/>
              </a:rPr>
              <a:t>Yukith M Joseph  •  Pranathi Nagabhushana</a:t>
            </a:r>
          </a:p>
          <a:p>
            <a:pPr>
              <a:lnSpc>
                <a:spcPct val="115000"/>
              </a:lnSpc>
              <a:spcBef>
                <a:spcPts val="400"/>
              </a:spcBef>
              <a:buNone/>
            </a:pPr>
            <a:r>
              <a:rPr sz="950" b="1">
                <a:solidFill>
                  <a:srgbClr val="0070C0"/>
                </a:solidFill>
                <a:latin typeface="Arial"/>
              </a:rPr>
              <a:t>• Solution Summary: </a:t>
            </a:r>
            <a:r>
              <a:rPr sz="900" b="0">
                <a:solidFill>
                  <a:srgbClr val="1F2937"/>
                </a:solidFill>
                <a:latin typeface="Arial"/>
              </a:rPr>
              <a:t>An event-driven layer maintaining a shared, timestamped care state for patients, ambulances, and hospitals, routing via explicit hospital acceptance and dynamically rerouting when state changes.</a:t>
            </a:r>
          </a:p>
          <a:p>
            <a:pPr>
              <a:lnSpc>
                <a:spcPct val="115000"/>
              </a:lnSpc>
              <a:spcBef>
                <a:spcPts val="400"/>
              </a:spcBef>
              <a:buNone/>
            </a:pPr>
            <a:r>
              <a:rPr sz="950" b="1">
                <a:solidFill>
                  <a:srgbClr val="0070C0"/>
                </a:solidFill>
                <a:latin typeface="Arial"/>
              </a:rPr>
              <a:t>• Verification Status: </a:t>
            </a:r>
            <a:r>
              <a:rPr sz="900" b="0">
                <a:solidFill>
                  <a:srgbClr val="1F2937"/>
                </a:solidFill>
                <a:latin typeface="Arial"/>
              </a:rPr>
              <a:t>Fully functional local prototype verified on synthetic Bengaluru data (124/124 checks pass). AWS architecture modeled in CDK (not deployed).</a:t>
            </a:r>
          </a:p>
        </p:txBody>
      </p:sp>
      <p:grpSp>
        <p:nvGrpSpPr>
          <p:cNvPr id="2" name="Shared care state illustration"/>
          <p:cNvGrpSpPr/>
          <p:nvPr/>
        </p:nvGrpSpPr>
        <p:grpSpPr>
          <a:xfrm>
            <a:off x="6422211" y="2057400"/>
            <a:ext cx="3980538" cy="3432224"/>
            <a:chOff x="6422211" y="2057400"/>
            <a:chExt cx="3980538" cy="3432224"/>
          </a:xfrm>
        </p:grpSpPr>
        <p:cxnSp>
          <p:nvCxnSpPr>
            <p:cNvPr id="39" name="Connector 38"/>
            <p:cNvCxnSpPr/>
            <p:nvPr/>
          </p:nvCxnSpPr>
          <p:spPr>
            <a:xfrm flipV="1">
              <a:off x="8412480" y="3044952"/>
              <a:ext cx="0" cy="320040"/>
            </a:xfrm>
            <a:prstGeom prst="line">
              <a:avLst/>
            </a:prstGeom>
            <a:ln w="158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 flipV="1">
              <a:off x="8864696" y="3489590"/>
              <a:ext cx="487002" cy="172364"/>
            </a:xfrm>
            <a:prstGeom prst="line">
              <a:avLst/>
            </a:prstGeom>
            <a:ln w="158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>
              <a:off x="8691965" y="4142450"/>
              <a:ext cx="300984" cy="451256"/>
            </a:xfrm>
            <a:prstGeom prst="line">
              <a:avLst/>
            </a:prstGeom>
            <a:ln w="158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 flipH="1">
              <a:off x="7832011" y="4142450"/>
              <a:ext cx="300984" cy="451256"/>
            </a:xfrm>
            <a:prstGeom prst="line">
              <a:avLst/>
            </a:prstGeom>
            <a:ln w="158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 flipH="1" flipV="1">
              <a:off x="7473262" y="3489590"/>
              <a:ext cx="487002" cy="172364"/>
            </a:xfrm>
            <a:prstGeom prst="line">
              <a:avLst/>
            </a:prstGeom>
            <a:ln w="158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Ambulance crew node"/>
            <p:cNvSpPr/>
            <p:nvPr/>
          </p:nvSpPr>
          <p:spPr>
            <a:xfrm>
              <a:off x="8046720" y="2057400"/>
              <a:ext cx="731520" cy="731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" name="Ambulance illustration"/>
            <p:cNvGrpSpPr/>
            <p:nvPr/>
          </p:nvGrpSpPr>
          <p:grpSpPr>
            <a:xfrm>
              <a:off x="8172450" y="2294230"/>
              <a:ext cx="480060" cy="256489"/>
              <a:chOff x="8172450" y="2294230"/>
              <a:chExt cx="480060" cy="256489"/>
            </a:xfrm>
          </p:grpSpPr>
          <p:sp>
            <p:nvSpPr>
              <p:cNvPr id="45" name="Rounded Rectangle 44"/>
              <p:cNvSpPr/>
              <p:nvPr/>
            </p:nvSpPr>
            <p:spPr>
              <a:xfrm>
                <a:off x="8311667" y="2294230"/>
                <a:ext cx="62408" cy="30175"/>
              </a:xfrm>
              <a:prstGeom prst="roundRect">
                <a:avLst>
                  <a:gd name="adj" fmla="val 30000"/>
                </a:avLst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Rounded Rectangle 45"/>
              <p:cNvSpPr/>
              <p:nvPr/>
            </p:nvSpPr>
            <p:spPr>
              <a:xfrm>
                <a:off x="8172450" y="2321662"/>
                <a:ext cx="309639" cy="183794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" name="Freeform 4"/>
              <p:cNvSpPr/>
              <p:nvPr/>
            </p:nvSpPr>
            <p:spPr>
              <a:xfrm>
                <a:off x="8470087" y="2371039"/>
                <a:ext cx="182423" cy="134417"/>
              </a:xfrm>
              <a:custGeom>
                <a:avLst/>
                <a:gdLst/>
                <a:ahLst/>
                <a:cxnLst/>
                <a:rect l="l" t="t" r="r" b="b"/>
                <a:pathLst>
                  <a:path w="182423" h="134417">
                    <a:moveTo>
                      <a:pt x="0" y="0"/>
                    </a:moveTo>
                    <a:lnTo>
                      <a:pt x="86411" y="0"/>
                    </a:lnTo>
                    <a:lnTo>
                      <a:pt x="160820" y="57607"/>
                    </a:lnTo>
                    <a:lnTo>
                      <a:pt x="182423" y="68580"/>
                    </a:lnTo>
                    <a:lnTo>
                      <a:pt x="182423" y="134417"/>
                    </a:lnTo>
                    <a:lnTo>
                      <a:pt x="0" y="13441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" name="Freeform 5"/>
              <p:cNvSpPr/>
              <p:nvPr/>
            </p:nvSpPr>
            <p:spPr>
              <a:xfrm>
                <a:off x="8498891" y="2388870"/>
                <a:ext cx="103213" cy="42520"/>
              </a:xfrm>
              <a:custGeom>
                <a:avLst/>
                <a:gdLst/>
                <a:ahLst/>
                <a:cxnLst/>
                <a:rect l="l" t="t" r="r" b="b"/>
                <a:pathLst>
                  <a:path w="103213" h="42520">
                    <a:moveTo>
                      <a:pt x="0" y="0"/>
                    </a:moveTo>
                    <a:lnTo>
                      <a:pt x="50406" y="0"/>
                    </a:lnTo>
                    <a:lnTo>
                      <a:pt x="103213" y="42520"/>
                    </a:lnTo>
                    <a:lnTo>
                      <a:pt x="0" y="42520"/>
                    </a:lnTo>
                    <a:close/>
                  </a:path>
                </a:pathLst>
              </a:cu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8175330" y="2450592"/>
                <a:ext cx="474299" cy="17831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Cross 47"/>
              <p:cNvSpPr/>
              <p:nvPr/>
            </p:nvSpPr>
            <p:spPr>
              <a:xfrm>
                <a:off x="8284921" y="2346350"/>
                <a:ext cx="82296" cy="82296"/>
              </a:xfrm>
              <a:prstGeom prst="plus">
                <a:avLst>
                  <a:gd name="adj" fmla="val 30000"/>
                </a:avLst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8228686" y="2471166"/>
                <a:ext cx="79553" cy="79553"/>
              </a:xfrm>
              <a:prstGeom prst="ellipse">
                <a:avLst/>
              </a:prstGeom>
              <a:solidFill>
                <a:srgbClr val="003366"/>
              </a:solidFill>
              <a:ln w="952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8253374" y="2495855"/>
                <a:ext cx="30175" cy="3017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8511921" y="2471166"/>
                <a:ext cx="79553" cy="79553"/>
              </a:xfrm>
              <a:prstGeom prst="ellipse">
                <a:avLst/>
              </a:prstGeom>
              <a:solidFill>
                <a:srgbClr val="003366"/>
              </a:solidFill>
              <a:ln w="952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8536610" y="2495855"/>
                <a:ext cx="30175" cy="3017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53" name="TextBox 52"/>
            <p:cNvSpPr txBox="1"/>
            <p:nvPr/>
          </p:nvSpPr>
          <p:spPr>
            <a:xfrm>
              <a:off x="7726680" y="2807208"/>
              <a:ext cx="1371600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900" b="1" i="0">
                  <a:solidFill>
                    <a:srgbClr val="003366"/>
                  </a:solidFill>
                  <a:latin typeface="Arial"/>
                </a:rPr>
                <a:t>Ambulance crew</a:t>
              </a:r>
            </a:p>
          </p:txBody>
        </p:sp>
        <p:sp>
          <p:nvSpPr>
            <p:cNvPr id="54" name="Hospital node"/>
            <p:cNvSpPr/>
            <p:nvPr/>
          </p:nvSpPr>
          <p:spPr>
            <a:xfrm>
              <a:off x="9351189" y="3005152"/>
              <a:ext cx="731520" cy="731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Hospital illustration"/>
            <p:cNvGrpSpPr/>
            <p:nvPr/>
          </p:nvGrpSpPr>
          <p:grpSpPr>
            <a:xfrm>
              <a:off x="9504955" y="3200468"/>
              <a:ext cx="423989" cy="353325"/>
              <a:chOff x="9504955" y="3200468"/>
              <a:chExt cx="423989" cy="353325"/>
            </a:xfrm>
          </p:grpSpPr>
          <p:sp>
            <p:nvSpPr>
              <p:cNvPr id="55" name="Rectangle 54"/>
              <p:cNvSpPr/>
              <p:nvPr/>
            </p:nvSpPr>
            <p:spPr>
              <a:xfrm>
                <a:off x="9504955" y="3308002"/>
                <a:ext cx="150163" cy="245791"/>
              </a:xfrm>
              <a:prstGeom prst="rect">
                <a:avLst/>
              </a:prstGeom>
              <a:solidFill>
                <a:srgbClr val="FFFFFF"/>
              </a:solidFill>
              <a:ln w="12801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9778781" y="3308002"/>
                <a:ext cx="150163" cy="245791"/>
              </a:xfrm>
              <a:prstGeom prst="rect">
                <a:avLst/>
              </a:prstGeom>
              <a:solidFill>
                <a:srgbClr val="FFFFFF"/>
              </a:solidFill>
              <a:ln w="12801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9628618" y="3200468"/>
                <a:ext cx="176662" cy="353324"/>
              </a:xfrm>
              <a:prstGeom prst="rect">
                <a:avLst/>
              </a:prstGeom>
              <a:solidFill>
                <a:srgbClr val="FFFFFF"/>
              </a:solidFill>
              <a:ln w="12801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Cross 57"/>
              <p:cNvSpPr/>
              <p:nvPr/>
            </p:nvSpPr>
            <p:spPr>
              <a:xfrm>
                <a:off x="9668943" y="3225431"/>
                <a:ext cx="96012" cy="96012"/>
              </a:xfrm>
              <a:prstGeom prst="plus">
                <a:avLst>
                  <a:gd name="adj" fmla="val 30000"/>
                </a:avLst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9535870" y="3346406"/>
                <a:ext cx="88331" cy="42245"/>
              </a:xfrm>
              <a:prstGeom prst="rect">
                <a:avLst/>
              </a:pr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9535870" y="3423216"/>
                <a:ext cx="88331" cy="42245"/>
              </a:xfrm>
              <a:prstGeom prst="rect">
                <a:avLst/>
              </a:pr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9809697" y="3346406"/>
                <a:ext cx="88331" cy="42245"/>
              </a:xfrm>
              <a:prstGeom prst="rect">
                <a:avLst/>
              </a:pr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9809697" y="3423216"/>
                <a:ext cx="88331" cy="42245"/>
              </a:xfrm>
              <a:prstGeom prst="rect">
                <a:avLst/>
              </a:pr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9663950" y="3361768"/>
                <a:ext cx="105997" cy="38405"/>
              </a:xfrm>
              <a:prstGeom prst="rect">
                <a:avLst/>
              </a:pr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9679408" y="3453940"/>
                <a:ext cx="75081" cy="99852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5" name="TextBox 64"/>
            <p:cNvSpPr txBox="1"/>
            <p:nvPr/>
          </p:nvSpPr>
          <p:spPr>
            <a:xfrm>
              <a:off x="9031149" y="3754960"/>
              <a:ext cx="1371600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900" b="1" i="0">
                  <a:solidFill>
                    <a:srgbClr val="003366"/>
                  </a:solidFill>
                  <a:latin typeface="Arial"/>
                </a:rPr>
                <a:t>Hospital</a:t>
              </a:r>
            </a:p>
          </p:txBody>
        </p:sp>
        <p:sp>
          <p:nvSpPr>
            <p:cNvPr id="66" name="Doctor node"/>
            <p:cNvSpPr/>
            <p:nvPr/>
          </p:nvSpPr>
          <p:spPr>
            <a:xfrm>
              <a:off x="8852926" y="4538648"/>
              <a:ext cx="731520" cy="731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9" name="Doctor illustration"/>
            <p:cNvGrpSpPr/>
            <p:nvPr/>
          </p:nvGrpSpPr>
          <p:grpSpPr>
            <a:xfrm>
              <a:off x="9049705" y="4705069"/>
              <a:ext cx="337962" cy="382219"/>
              <a:chOff x="9049705" y="4705069"/>
              <a:chExt cx="337962" cy="382219"/>
            </a:xfrm>
          </p:grpSpPr>
          <p:sp>
            <p:nvSpPr>
              <p:cNvPr id="11" name="Freeform 10"/>
              <p:cNvSpPr/>
              <p:nvPr/>
            </p:nvSpPr>
            <p:spPr>
              <a:xfrm>
                <a:off x="9049705" y="4896178"/>
                <a:ext cx="337962" cy="191110"/>
              </a:xfrm>
              <a:custGeom>
                <a:avLst/>
                <a:gdLst/>
                <a:ahLst/>
                <a:cxnLst/>
                <a:rect l="l" t="t" r="r" b="b"/>
                <a:pathLst>
                  <a:path w="337962" h="191110">
                    <a:moveTo>
                      <a:pt x="0" y="191110"/>
                    </a:moveTo>
                    <a:lnTo>
                      <a:pt x="8047" y="110643"/>
                    </a:lnTo>
                    <a:lnTo>
                      <a:pt x="32187" y="56327"/>
                    </a:lnTo>
                    <a:lnTo>
                      <a:pt x="72421" y="20117"/>
                    </a:lnTo>
                    <a:lnTo>
                      <a:pt x="128748" y="0"/>
                    </a:lnTo>
                    <a:lnTo>
                      <a:pt x="209215" y="0"/>
                    </a:lnTo>
                    <a:lnTo>
                      <a:pt x="265542" y="20117"/>
                    </a:lnTo>
                    <a:lnTo>
                      <a:pt x="305775" y="56327"/>
                    </a:lnTo>
                    <a:lnTo>
                      <a:pt x="329916" y="110643"/>
                    </a:lnTo>
                    <a:lnTo>
                      <a:pt x="337962" y="191110"/>
                    </a:lnTo>
                    <a:close/>
                  </a:path>
                </a:pathLst>
              </a:custGeom>
              <a:solidFill>
                <a:srgbClr val="FFFFFF"/>
              </a:solidFill>
              <a:ln w="13411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Freeform 11"/>
              <p:cNvSpPr/>
              <p:nvPr/>
            </p:nvSpPr>
            <p:spPr>
              <a:xfrm>
                <a:off x="9180464" y="4898190"/>
                <a:ext cx="76444" cy="72420"/>
              </a:xfrm>
              <a:custGeom>
                <a:avLst/>
                <a:gdLst/>
                <a:ahLst/>
                <a:cxnLst/>
                <a:rect l="l" t="t" r="r" b="b"/>
                <a:pathLst>
                  <a:path w="76444" h="72420">
                    <a:moveTo>
                      <a:pt x="0" y="0"/>
                    </a:moveTo>
                    <a:lnTo>
                      <a:pt x="76444" y="0"/>
                    </a:lnTo>
                    <a:lnTo>
                      <a:pt x="38222" y="7242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67" name="Connector 66"/>
              <p:cNvCxnSpPr/>
              <p:nvPr/>
            </p:nvCxnSpPr>
            <p:spPr>
              <a:xfrm>
                <a:off x="9178453" y="4898190"/>
                <a:ext cx="28163" cy="132771"/>
              </a:xfrm>
              <a:prstGeom prst="line">
                <a:avLst/>
              </a:prstGeom>
              <a:ln w="8046">
                <a:solidFill>
                  <a:srgbClr val="00336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Connector 67"/>
              <p:cNvCxnSpPr/>
              <p:nvPr/>
            </p:nvCxnSpPr>
            <p:spPr>
              <a:xfrm flipH="1">
                <a:off x="9230756" y="4898190"/>
                <a:ext cx="28164" cy="132771"/>
              </a:xfrm>
              <a:prstGeom prst="line">
                <a:avLst/>
              </a:prstGeom>
              <a:ln w="8046">
                <a:solidFill>
                  <a:srgbClr val="00336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Freeform 12"/>
              <p:cNvSpPr/>
              <p:nvPr/>
            </p:nvSpPr>
            <p:spPr>
              <a:xfrm>
                <a:off x="9132184" y="4906237"/>
                <a:ext cx="34199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34199" h="100584">
                    <a:moveTo>
                      <a:pt x="34199" y="0"/>
                    </a:moveTo>
                    <a:lnTo>
                      <a:pt x="6035" y="36210"/>
                    </a:lnTo>
                    <a:lnTo>
                      <a:pt x="0" y="76443"/>
                    </a:lnTo>
                    <a:lnTo>
                      <a:pt x="10058" y="100584"/>
                    </a:lnTo>
                  </a:path>
                </a:pathLst>
              </a:custGeom>
              <a:noFill/>
              <a:ln w="13411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9122126" y="4996762"/>
                <a:ext cx="44257" cy="44257"/>
              </a:xfrm>
              <a:prstGeom prst="ellipse">
                <a:avLst/>
              </a:prstGeom>
              <a:solidFill>
                <a:srgbClr val="0070C0"/>
              </a:solidFill>
              <a:ln w="8046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Cross 69"/>
              <p:cNvSpPr/>
              <p:nvPr/>
            </p:nvSpPr>
            <p:spPr>
              <a:xfrm>
                <a:off x="9281048" y="4984692"/>
                <a:ext cx="44257" cy="44257"/>
              </a:xfrm>
              <a:prstGeom prst="plus">
                <a:avLst>
                  <a:gd name="adj" fmla="val 30000"/>
                </a:avLst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9146266" y="4705069"/>
                <a:ext cx="144841" cy="164958"/>
              </a:xfrm>
              <a:prstGeom prst="ellipse">
                <a:avLst/>
              </a:prstGeom>
              <a:solidFill>
                <a:srgbClr val="FFFFFF"/>
              </a:solidFill>
              <a:ln w="13411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>
              <a:off x="8532886" y="5288456"/>
              <a:ext cx="1371600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900" b="1" i="0">
                  <a:solidFill>
                    <a:srgbClr val="003366"/>
                  </a:solidFill>
                  <a:latin typeface="Arial"/>
                </a:rPr>
                <a:t>Doctor</a:t>
              </a:r>
            </a:p>
          </p:txBody>
        </p:sp>
        <p:sp>
          <p:nvSpPr>
            <p:cNvPr id="73" name="Patient node"/>
            <p:cNvSpPr/>
            <p:nvPr/>
          </p:nvSpPr>
          <p:spPr>
            <a:xfrm>
              <a:off x="7240514" y="4538648"/>
              <a:ext cx="731520" cy="731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4" name="Patient illustration"/>
            <p:cNvGrpSpPr/>
            <p:nvPr/>
          </p:nvGrpSpPr>
          <p:grpSpPr>
            <a:xfrm>
              <a:off x="7437293" y="4705069"/>
              <a:ext cx="337962" cy="382219"/>
              <a:chOff x="7437293" y="4705069"/>
              <a:chExt cx="337962" cy="382219"/>
            </a:xfrm>
          </p:grpSpPr>
          <p:sp>
            <p:nvSpPr>
              <p:cNvPr id="15" name="Freeform 14"/>
              <p:cNvSpPr/>
              <p:nvPr/>
            </p:nvSpPr>
            <p:spPr>
              <a:xfrm>
                <a:off x="7437293" y="4896178"/>
                <a:ext cx="337962" cy="191110"/>
              </a:xfrm>
              <a:custGeom>
                <a:avLst/>
                <a:gdLst/>
                <a:ahLst/>
                <a:cxnLst/>
                <a:rect l="l" t="t" r="r" b="b"/>
                <a:pathLst>
                  <a:path w="337962" h="191110">
                    <a:moveTo>
                      <a:pt x="0" y="191110"/>
                    </a:moveTo>
                    <a:lnTo>
                      <a:pt x="8046" y="110643"/>
                    </a:lnTo>
                    <a:lnTo>
                      <a:pt x="32187" y="56327"/>
                    </a:lnTo>
                    <a:lnTo>
                      <a:pt x="72420" y="20117"/>
                    </a:lnTo>
                    <a:lnTo>
                      <a:pt x="128747" y="0"/>
                    </a:lnTo>
                    <a:lnTo>
                      <a:pt x="209214" y="0"/>
                    </a:lnTo>
                    <a:lnTo>
                      <a:pt x="265541" y="20117"/>
                    </a:lnTo>
                    <a:lnTo>
                      <a:pt x="305775" y="56327"/>
                    </a:lnTo>
                    <a:lnTo>
                      <a:pt x="329915" y="110643"/>
                    </a:lnTo>
                    <a:lnTo>
                      <a:pt x="337962" y="191110"/>
                    </a:lnTo>
                    <a:close/>
                  </a:path>
                </a:pathLst>
              </a:custGeom>
              <a:solidFill>
                <a:srgbClr val="0070C0"/>
              </a:solidFill>
              <a:ln w="13411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Heart 73"/>
              <p:cNvSpPr/>
              <p:nvPr/>
            </p:nvSpPr>
            <p:spPr>
              <a:xfrm>
                <a:off x="7562017" y="4950493"/>
                <a:ext cx="88514" cy="79663"/>
              </a:xfrm>
              <a:prstGeom prst="hear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7533853" y="4705069"/>
                <a:ext cx="144841" cy="164958"/>
              </a:xfrm>
              <a:prstGeom prst="ellipse">
                <a:avLst/>
              </a:prstGeom>
              <a:solidFill>
                <a:srgbClr val="FFFFFF"/>
              </a:solidFill>
              <a:ln w="13411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76" name="TextBox 75"/>
            <p:cNvSpPr txBox="1"/>
            <p:nvPr/>
          </p:nvSpPr>
          <p:spPr>
            <a:xfrm>
              <a:off x="6920474" y="5288456"/>
              <a:ext cx="1371600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900" b="1" i="0">
                  <a:solidFill>
                    <a:srgbClr val="003366"/>
                  </a:solidFill>
                  <a:latin typeface="Arial"/>
                </a:rPr>
                <a:t>Patient</a:t>
              </a:r>
            </a:p>
          </p:txBody>
        </p:sp>
        <p:sp>
          <p:nvSpPr>
            <p:cNvPr id="77" name="Management node"/>
            <p:cNvSpPr/>
            <p:nvPr/>
          </p:nvSpPr>
          <p:spPr>
            <a:xfrm>
              <a:off x="6742251" y="3005152"/>
              <a:ext cx="731520" cy="731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6" name="Dashboard illustration"/>
            <p:cNvGrpSpPr/>
            <p:nvPr/>
          </p:nvGrpSpPr>
          <p:grpSpPr>
            <a:xfrm>
              <a:off x="6910500" y="3212904"/>
              <a:ext cx="395021" cy="302850"/>
              <a:chOff x="6910500" y="3212904"/>
              <a:chExt cx="395021" cy="302850"/>
            </a:xfrm>
          </p:grpSpPr>
          <p:sp>
            <p:nvSpPr>
              <p:cNvPr id="78" name="Rounded Rectangle 77"/>
              <p:cNvSpPr/>
              <p:nvPr/>
            </p:nvSpPr>
            <p:spPr>
              <a:xfrm>
                <a:off x="6910500" y="3212904"/>
                <a:ext cx="395021" cy="237012"/>
              </a:xfrm>
              <a:prstGeom prst="roundRect">
                <a:avLst>
                  <a:gd name="adj" fmla="val 7000"/>
                </a:avLst>
              </a:prstGeom>
              <a:solidFill>
                <a:srgbClr val="FFFFFF"/>
              </a:solidFill>
              <a:ln w="10972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6935189" y="3239239"/>
                <a:ext cx="345643" cy="184343"/>
              </a:xfrm>
              <a:prstGeom prst="rect">
                <a:avLst/>
              </a:pr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6959878" y="3344578"/>
                <a:ext cx="32918" cy="59253"/>
              </a:xfrm>
              <a:prstGeom prst="rect">
                <a:avLst/>
              </a:prstGeom>
              <a:solidFill>
                <a:srgbClr val="00336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7009256" y="3305075"/>
                <a:ext cx="32918" cy="9875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7058633" y="3272157"/>
                <a:ext cx="32918" cy="131674"/>
              </a:xfrm>
              <a:prstGeom prst="rect">
                <a:avLst/>
              </a:prstGeom>
              <a:solidFill>
                <a:srgbClr val="00336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7161503" y="3262282"/>
                <a:ext cx="65837" cy="65837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Freeform 16"/>
              <p:cNvSpPr/>
              <p:nvPr/>
            </p:nvSpPr>
            <p:spPr>
              <a:xfrm>
                <a:off x="7166770" y="3309684"/>
                <a:ext cx="55303" cy="48061"/>
              </a:xfrm>
              <a:custGeom>
                <a:avLst/>
                <a:gdLst/>
                <a:ahLst/>
                <a:cxnLst/>
                <a:rect l="l" t="t" r="r" b="b"/>
                <a:pathLst>
                  <a:path w="55303" h="48061">
                    <a:moveTo>
                      <a:pt x="0" y="0"/>
                    </a:moveTo>
                    <a:lnTo>
                      <a:pt x="55303" y="0"/>
                    </a:lnTo>
                    <a:lnTo>
                      <a:pt x="27652" y="4806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7181913" y="3282691"/>
                <a:ext cx="25018" cy="2501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7087437" y="3449916"/>
                <a:ext cx="41148" cy="39502"/>
              </a:xfrm>
              <a:prstGeom prst="rect">
                <a:avLst/>
              </a:prstGeom>
              <a:solidFill>
                <a:srgbClr val="00336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Rounded Rectangle 85"/>
              <p:cNvSpPr/>
              <p:nvPr/>
            </p:nvSpPr>
            <p:spPr>
              <a:xfrm>
                <a:off x="7025715" y="3489419"/>
                <a:ext cx="164592" cy="26335"/>
              </a:xfrm>
              <a:prstGeom prst="roundRect">
                <a:avLst>
                  <a:gd name="adj" fmla="val 50000"/>
                </a:avLst>
              </a:prstGeom>
              <a:solidFill>
                <a:srgbClr val="00336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87" name="TextBox 86"/>
            <p:cNvSpPr txBox="1"/>
            <p:nvPr/>
          </p:nvSpPr>
          <p:spPr>
            <a:xfrm>
              <a:off x="6422211" y="3754960"/>
              <a:ext cx="1371600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900" b="1" i="0">
                  <a:solidFill>
                    <a:srgbClr val="003366"/>
                  </a:solidFill>
                  <a:latin typeface="Arial"/>
                </a:rPr>
                <a:t>Management</a:t>
              </a:r>
            </a:p>
          </p:txBody>
        </p:sp>
        <p:sp>
          <p:nvSpPr>
            <p:cNvPr id="88" name="JIVA hub"/>
            <p:cNvSpPr/>
            <p:nvPr/>
          </p:nvSpPr>
          <p:spPr>
            <a:xfrm>
              <a:off x="7909560" y="3357220"/>
              <a:ext cx="1005840" cy="875081"/>
            </a:xfrm>
            <a:prstGeom prst="hexagon">
              <a:avLst/>
            </a:prstGeom>
            <a:solidFill>
              <a:srgbClr val="003366"/>
            </a:solidFill>
            <a:ln w="158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8288" tIns="0" rIns="18288" bIns="0">
              <a:noAutofit/>
            </a:bodyPr>
            <a:lstStyle/>
            <a:p>
              <a:pPr algn="ctr"/>
              <a:r>
                <a:rPr sz="1400" b="1" i="0">
                  <a:solidFill>
                    <a:srgbClr val="FFFFFF"/>
                  </a:solidFill>
                  <a:latin typeface="Arial"/>
                </a:rPr>
                <a:t>JIVA</a:t>
              </a:r>
            </a:p>
            <a:p>
              <a:pPr algn="ctr"/>
              <a:r>
                <a:rPr sz="900" b="0" i="0">
                  <a:solidFill>
                    <a:srgbClr val="D6E2EF"/>
                  </a:solidFill>
                  <a:latin typeface="Arial"/>
                </a:rPr>
                <a:t>shared care state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JIVA: CLOSED-LOOP HEALTHCARE COORDINATION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363" name="Rounded Rectangle 15362"/>
          <p:cNvSpPr/>
          <p:nvPr/>
        </p:nvSpPr>
        <p:spPr>
          <a:xfrm>
            <a:off x="548640" y="1143000"/>
            <a:ext cx="11091672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PROPOSED SOLUTION: The Closed-Loop Hospital Acceptance &amp; Dynamic Rerouting Engine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731520" y="1600200"/>
            <a:ext cx="1874519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457200" bIns="73152"/>
          <a:lstStyle/>
          <a:p>
            <a:pPr algn="ctr">
              <a:buNone/>
            </a:pPr>
            <a:r>
              <a:rPr sz="1100" b="1">
                <a:solidFill>
                  <a:srgbClr val="0070C0"/>
                </a:solidFill>
                <a:latin typeface="Arial"/>
              </a:rPr>
              <a:t>1. Emergency Intake
</a:t>
            </a:r>
            <a:r>
              <a:rPr sz="950">
                <a:solidFill>
                  <a:srgbClr val="4B5563"/>
                </a:solidFill>
                <a:latin typeface="Arial"/>
              </a:rPr>
              <a:t>Patient / Paramedic logs incident
Clinical requirements tagged
Canonical event ingested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2880360" y="1600200"/>
            <a:ext cx="1874519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457200" bIns="73152"/>
          <a:lstStyle/>
          <a:p>
            <a:pPr algn="ctr">
              <a:buNone/>
            </a:pPr>
            <a:r>
              <a:rPr sz="1100" b="1">
                <a:solidFill>
                  <a:srgbClr val="0070C0"/>
                </a:solidFill>
                <a:latin typeface="Arial"/>
              </a:rPr>
              <a:t>2. Feasibility Gate
</a:t>
            </a:r>
            <a:r>
              <a:rPr sz="950">
                <a:solidFill>
                  <a:srgbClr val="4B5563"/>
                </a:solidFill>
                <a:latin typeface="Arial"/>
              </a:rPr>
              <a:t>Candidate hospitals evaluated
Determinism &amp; freshness check
Identifies eligible facilities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5029200" y="1600200"/>
            <a:ext cx="1874519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457200" bIns="73152"/>
          <a:lstStyle/>
          <a:p>
            <a:pPr algn="ctr">
              <a:buNone/>
            </a:pPr>
            <a:r>
              <a:rPr sz="1100" b="1">
                <a:solidFill>
                  <a:srgbClr val="0070C0"/>
                </a:solidFill>
                <a:latin typeface="Arial"/>
              </a:rPr>
              <a:t>3. Acceptance SLA
</a:t>
            </a:r>
            <a:r>
              <a:rPr sz="950">
                <a:solidFill>
                  <a:srgbClr val="4B5563"/>
                </a:solidFill>
                <a:latin typeface="Arial"/>
              </a:rPr>
              <a:t>Targeted request dispatched
Case-scoped confirmation query
Strict timeout countdown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7178040" y="1600200"/>
            <a:ext cx="1874519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457200" bIns="73152"/>
          <a:lstStyle/>
          <a:p>
            <a:pPr algn="ctr">
              <a:buNone/>
            </a:pPr>
            <a:r>
              <a:rPr sz="1100" b="1">
                <a:solidFill>
                  <a:srgbClr val="0070C0"/>
                </a:solidFill>
                <a:latin typeface="Arial"/>
              </a:rPr>
              <a:t>4. Explicit Response
</a:t>
            </a:r>
            <a:r>
              <a:rPr sz="950">
                <a:solidFill>
                  <a:srgbClr val="4B5563"/>
                </a:solidFill>
                <a:latin typeface="Arial"/>
              </a:rPr>
              <a:t>Mandatory active confirmation: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9326880" y="1600200"/>
            <a:ext cx="1874519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457200" bIns="73152"/>
          <a:lstStyle/>
          <a:p>
            <a:pPr algn="ctr">
              <a:buNone/>
            </a:pPr>
            <a:r>
              <a:rPr sz="1100" b="1">
                <a:solidFill>
                  <a:srgbClr val="0070C0"/>
                </a:solidFill>
                <a:latin typeface="Arial"/>
              </a:rPr>
              <a:t>5. Dynamic Reroute
</a:t>
            </a:r>
            <a:r>
              <a:rPr sz="950">
                <a:solidFill>
                  <a:srgbClr val="4B5563"/>
                </a:solidFill>
                <a:latin typeface="Arial"/>
              </a:rPr>
              <a:t>Confirmed unit dispatched
Real-time GPS telemetry sync
Reroutes if hospital degrades</a:t>
            </a:r>
          </a:p>
        </p:txBody>
      </p:sp>
      <p:sp>
        <p:nvSpPr>
          <p:cNvPr id="15370" name="Right Arrow 15369"/>
          <p:cNvSpPr/>
          <p:nvPr/>
        </p:nvSpPr>
        <p:spPr>
          <a:xfrm>
            <a:off x="2651760" y="2331720"/>
            <a:ext cx="182880" cy="201168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Right Arrow 15370"/>
          <p:cNvSpPr/>
          <p:nvPr/>
        </p:nvSpPr>
        <p:spPr>
          <a:xfrm>
            <a:off x="4800600" y="2331720"/>
            <a:ext cx="182880" cy="201168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ight Arrow 15371"/>
          <p:cNvSpPr/>
          <p:nvPr/>
        </p:nvSpPr>
        <p:spPr>
          <a:xfrm>
            <a:off x="6949440" y="2331720"/>
            <a:ext cx="182880" cy="201168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Right Arrow 15372"/>
          <p:cNvSpPr/>
          <p:nvPr/>
        </p:nvSpPr>
        <p:spPr>
          <a:xfrm>
            <a:off x="9098280" y="2331720"/>
            <a:ext cx="182880" cy="201168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Rounded Rectangle 15373"/>
          <p:cNvSpPr/>
          <p:nvPr/>
        </p:nvSpPr>
        <p:spPr>
          <a:xfrm>
            <a:off x="548640" y="3611880"/>
            <a:ext cx="54406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46304"/>
          <a:lstStyle/>
          <a:p>
            <a:pPr algn="ctr">
              <a:buNone/>
            </a:pPr>
            <a:r>
              <a:rPr sz="1250" b="1">
                <a:solidFill>
                  <a:srgbClr val="B91C1C"/>
                </a:solidFill>
                <a:latin typeface="Arial"/>
              </a:rPr>
              <a:t>❌  EXISTING REALITY: Static &amp; Unverified Assumptions
</a:t>
            </a:r>
          </a:p>
          <a:p>
            <a:pPr marL="1371600">
              <a:lnSpc>
                <a:spcPct val="115000"/>
              </a:lnSpc>
              <a:spcBef>
                <a:spcPts val="300"/>
              </a:spcBef>
              <a:buNone/>
            </a:pPr>
            <a:r>
              <a:rPr sz="1000" b="1">
                <a:solidFill>
                  <a:srgbClr val="1F2937"/>
                </a:solidFill>
                <a:latin typeface="Arial"/>
              </a:rPr>
              <a:t>• Assumed Readiness: </a:t>
            </a:r>
            <a:r>
              <a:rPr sz="950">
                <a:solidFill>
                  <a:srgbClr val="4B5563"/>
                </a:solidFill>
                <a:latin typeface="Arial"/>
              </a:rPr>
              <a:t>Directory listings prove a hospital exists, not that an ICU bed or specialist is free right now.</a:t>
            </a:r>
          </a:p>
          <a:p>
            <a:pPr marL="1371600">
              <a:lnSpc>
                <a:spcPct val="115000"/>
              </a:lnSpc>
              <a:spcBef>
                <a:spcPts val="300"/>
              </a:spcBef>
              <a:buNone/>
            </a:pPr>
            <a:r>
              <a:rPr sz="1000" b="1">
                <a:solidFill>
                  <a:srgbClr val="1F2937"/>
                </a:solidFill>
                <a:latin typeface="Arial"/>
              </a:rPr>
              <a:t>• Fragmented Phone Calls: </a:t>
            </a:r>
            <a:r>
              <a:rPr sz="950">
                <a:solidFill>
                  <a:srgbClr val="4B5563"/>
                </a:solidFill>
                <a:latin typeface="Arial"/>
              </a:rPr>
              <a:t>Paramedics negotiate en-route over phone; no shared timestamped picture.</a:t>
            </a:r>
          </a:p>
          <a:p>
            <a:pPr marL="1371600">
              <a:lnSpc>
                <a:spcPct val="115000"/>
              </a:lnSpc>
              <a:spcBef>
                <a:spcPts val="300"/>
              </a:spcBef>
              <a:buNone/>
            </a:pPr>
            <a:r>
              <a:rPr sz="1000" b="1">
                <a:solidFill>
                  <a:srgbClr val="1F2937"/>
                </a:solidFill>
                <a:latin typeface="Arial"/>
              </a:rPr>
              <a:t>• Fatal ER Diversion: </a:t>
            </a:r>
            <a:r>
              <a:rPr sz="950">
                <a:solidFill>
                  <a:srgbClr val="4B5563"/>
                </a:solidFill>
                <a:latin typeface="Arial"/>
              </a:rPr>
              <a:t>Ambulance arrives unannounced at saturated emergency room → turned away at the door.</a:t>
            </a:r>
          </a:p>
          <a:p>
            <a:pPr marL="1371600">
              <a:lnSpc>
                <a:spcPct val="115000"/>
              </a:lnSpc>
              <a:spcBef>
                <a:spcPts val="300"/>
              </a:spcBef>
              <a:buNone/>
            </a:pPr>
            <a:r>
              <a:rPr sz="1000" b="1">
                <a:solidFill>
                  <a:srgbClr val="1F2937"/>
                </a:solidFill>
                <a:latin typeface="Arial"/>
              </a:rPr>
              <a:t>• Static Destination Lock: </a:t>
            </a:r>
            <a:r>
              <a:rPr sz="950">
                <a:solidFill>
                  <a:srgbClr val="4B5563"/>
                </a:solidFill>
                <a:latin typeface="Arial"/>
              </a:rPr>
              <a:t>Destination is chosen once at dispatch; zero awareness if conditions degrade en-route.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6199632" y="3611880"/>
            <a:ext cx="54406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46304"/>
          <a:lstStyle/>
          <a:p>
            <a:pPr algn="ctr">
              <a:buNone/>
            </a:pPr>
            <a:r>
              <a:rPr sz="1250" b="1">
                <a:solidFill>
                  <a:srgbClr val="15803D"/>
                </a:solidFill>
                <a:latin typeface="Arial"/>
              </a:rPr>
              <a:t>✔  JIVA SOLUTION: Closed-Loop Event-Driven Coordination
</a:t>
            </a:r>
          </a:p>
          <a:p>
            <a:pPr marL="1371600">
              <a:lnSpc>
                <a:spcPct val="115000"/>
              </a:lnSpc>
              <a:spcBef>
                <a:spcPts val="300"/>
              </a:spcBef>
              <a:buNone/>
            </a:pPr>
            <a:r>
              <a:rPr sz="1000" b="1">
                <a:solidFill>
                  <a:srgbClr val="1F2937"/>
                </a:solidFill>
                <a:latin typeface="Arial"/>
              </a:rPr>
              <a:t>• Explicit Confirmation: </a:t>
            </a:r>
            <a:r>
              <a:rPr sz="950">
                <a:solidFill>
                  <a:srgbClr val="4B5563"/>
                </a:solidFill>
                <a:latin typeface="Arial"/>
              </a:rPr>
              <a:t>Hospitals must actively confirm acceptance; unconfirmed requests deterministically expire to UNKNOWN.</a:t>
            </a:r>
          </a:p>
          <a:p>
            <a:pPr marL="1371600">
              <a:lnSpc>
                <a:spcPct val="115000"/>
              </a:lnSpc>
              <a:spcBef>
                <a:spcPts val="300"/>
              </a:spcBef>
              <a:buNone/>
            </a:pPr>
            <a:r>
              <a:rPr sz="1000" b="1">
                <a:solidFill>
                  <a:srgbClr val="1F2937"/>
                </a:solidFill>
                <a:latin typeface="Arial"/>
              </a:rPr>
              <a:t>• Live Dynamic Rerouting: </a:t>
            </a:r>
            <a:r>
              <a:rPr sz="950">
                <a:solidFill>
                  <a:srgbClr val="4B5563"/>
                </a:solidFill>
                <a:latin typeface="Arial"/>
              </a:rPr>
              <a:t>If an accepted hospital becomes UNAVAILABLE en-route, JIVA immediately triggers dynamic rerouting.</a:t>
            </a:r>
          </a:p>
          <a:p>
            <a:pPr marL="1371600">
              <a:lnSpc>
                <a:spcPct val="115000"/>
              </a:lnSpc>
              <a:spcBef>
                <a:spcPts val="300"/>
              </a:spcBef>
              <a:buNone/>
            </a:pPr>
            <a:r>
              <a:rPr sz="1000" b="1">
                <a:solidFill>
                  <a:srgbClr val="1F2937"/>
                </a:solidFill>
                <a:latin typeface="Arial"/>
              </a:rPr>
              <a:t>• Zero EHR Intrusion: </a:t>
            </a:r>
            <a:r>
              <a:rPr sz="950">
                <a:solidFill>
                  <a:srgbClr val="4B5563"/>
                </a:solidFill>
                <a:latin typeface="Arial"/>
              </a:rPr>
              <a:t>Lightweight web overlay across 5 role-scoped apps (:5173–:5177); zero costly HIS integrations.</a:t>
            </a:r>
          </a:p>
          <a:p>
            <a:pPr marL="1371600">
              <a:lnSpc>
                <a:spcPct val="115000"/>
              </a:lnSpc>
              <a:spcBef>
                <a:spcPts val="300"/>
              </a:spcBef>
              <a:buNone/>
            </a:pPr>
            <a:r>
              <a:rPr sz="1000" b="1">
                <a:solidFill>
                  <a:srgbClr val="1F2937"/>
                </a:solidFill>
                <a:latin typeface="Arial"/>
              </a:rPr>
              <a:t>• Deterministic Feasibility: </a:t>
            </a:r>
            <a:r>
              <a:rPr sz="950">
                <a:solidFill>
                  <a:srgbClr val="4B5563"/>
                </a:solidFill>
                <a:latin typeface="Arial"/>
              </a:rPr>
              <a:t>100% deterministic rule verification &amp; SHA-256-hashed decision audits; generative AI strictly advisory.</a:t>
            </a:r>
          </a:p>
        </p:txBody>
      </p:sp>
      <p:grpSp>
        <p:nvGrpSpPr>
          <p:cNvPr id="2" name="Ambulance illustration"/>
          <p:cNvGrpSpPr/>
          <p:nvPr/>
        </p:nvGrpSpPr>
        <p:grpSpPr>
          <a:xfrm>
            <a:off x="1202710" y="1728399"/>
            <a:ext cx="544068" cy="290688"/>
            <a:chOff x="1202710" y="1728399"/>
            <a:chExt cx="544068" cy="290688"/>
          </a:xfrm>
        </p:grpSpPr>
        <p:sp>
          <p:nvSpPr>
            <p:cNvPr id="15376" name="Rounded Rectangle 15375"/>
            <p:cNvSpPr/>
            <p:nvPr/>
          </p:nvSpPr>
          <p:spPr>
            <a:xfrm>
              <a:off x="1360490" y="1728399"/>
              <a:ext cx="70729" cy="34199"/>
            </a:xfrm>
            <a:prstGeom prst="roundRect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77" name="Rounded Rectangle 15376"/>
            <p:cNvSpPr/>
            <p:nvPr/>
          </p:nvSpPr>
          <p:spPr>
            <a:xfrm>
              <a:off x="1202710" y="1759488"/>
              <a:ext cx="350924" cy="2083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0363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Freeform 2"/>
            <p:cNvSpPr/>
            <p:nvPr/>
          </p:nvSpPr>
          <p:spPr>
            <a:xfrm>
              <a:off x="1540032" y="1815450"/>
              <a:ext cx="206746" cy="152339"/>
            </a:xfrm>
            <a:custGeom>
              <a:avLst/>
              <a:gdLst/>
              <a:ahLst/>
              <a:cxnLst/>
              <a:rect l="l" t="t" r="r" b="b"/>
              <a:pathLst>
                <a:path w="206746" h="152339">
                  <a:moveTo>
                    <a:pt x="0" y="0"/>
                  </a:moveTo>
                  <a:lnTo>
                    <a:pt x="97933" y="0"/>
                  </a:lnTo>
                  <a:lnTo>
                    <a:pt x="182263" y="65288"/>
                  </a:lnTo>
                  <a:lnTo>
                    <a:pt x="206746" y="77724"/>
                  </a:lnTo>
                  <a:lnTo>
                    <a:pt x="206746" y="152339"/>
                  </a:lnTo>
                  <a:lnTo>
                    <a:pt x="0" y="152339"/>
                  </a:lnTo>
                  <a:close/>
                </a:path>
              </a:pathLst>
            </a:custGeom>
            <a:solidFill>
              <a:srgbClr val="FFFFFF"/>
            </a:solidFill>
            <a:ln w="10363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1572677" y="1835658"/>
              <a:ext cx="116974" cy="48189"/>
            </a:xfrm>
            <a:custGeom>
              <a:avLst/>
              <a:gdLst/>
              <a:ahLst/>
              <a:cxnLst/>
              <a:rect l="l" t="t" r="r" b="b"/>
              <a:pathLst>
                <a:path w="116974" h="48189">
                  <a:moveTo>
                    <a:pt x="0" y="0"/>
                  </a:moveTo>
                  <a:lnTo>
                    <a:pt x="57127" y="0"/>
                  </a:lnTo>
                  <a:lnTo>
                    <a:pt x="116974" y="48189"/>
                  </a:lnTo>
                  <a:lnTo>
                    <a:pt x="0" y="48189"/>
                  </a:lnTo>
                  <a:close/>
                </a:path>
              </a:pathLst>
            </a:cu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78" name="Rectangle 15377"/>
            <p:cNvSpPr/>
            <p:nvPr/>
          </p:nvSpPr>
          <p:spPr>
            <a:xfrm>
              <a:off x="1205975" y="1905610"/>
              <a:ext cx="537539" cy="2020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79" name="Cross 15378"/>
            <p:cNvSpPr/>
            <p:nvPr/>
          </p:nvSpPr>
          <p:spPr>
            <a:xfrm>
              <a:off x="1330178" y="1787469"/>
              <a:ext cx="93269" cy="93269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80" name="Oval 15379"/>
            <p:cNvSpPr/>
            <p:nvPr/>
          </p:nvSpPr>
          <p:spPr>
            <a:xfrm>
              <a:off x="1266444" y="1928927"/>
              <a:ext cx="90160" cy="90160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81" name="Oval 15380"/>
            <p:cNvSpPr/>
            <p:nvPr/>
          </p:nvSpPr>
          <p:spPr>
            <a:xfrm>
              <a:off x="1294425" y="1956907"/>
              <a:ext cx="34199" cy="3419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82" name="Oval 15381"/>
            <p:cNvSpPr/>
            <p:nvPr/>
          </p:nvSpPr>
          <p:spPr>
            <a:xfrm>
              <a:off x="1587444" y="1928927"/>
              <a:ext cx="90160" cy="90160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83" name="Oval 15382"/>
            <p:cNvSpPr/>
            <p:nvPr/>
          </p:nvSpPr>
          <p:spPr>
            <a:xfrm>
              <a:off x="1615425" y="1956907"/>
              <a:ext cx="34199" cy="3419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Intake card illustration"/>
          <p:cNvGrpSpPr/>
          <p:nvPr/>
        </p:nvGrpSpPr>
        <p:grpSpPr>
          <a:xfrm>
            <a:off x="1832527" y="1673352"/>
            <a:ext cx="289726" cy="384048"/>
            <a:chOff x="1832527" y="1673352"/>
            <a:chExt cx="289726" cy="384048"/>
          </a:xfrm>
        </p:grpSpPr>
        <p:sp>
          <p:nvSpPr>
            <p:cNvPr id="15384" name="Rounded Rectangle 15383"/>
            <p:cNvSpPr/>
            <p:nvPr/>
          </p:nvSpPr>
          <p:spPr>
            <a:xfrm>
              <a:off x="1832527" y="1700235"/>
              <a:ext cx="289726" cy="357165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801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85" name="Rounded Rectangle 15384"/>
            <p:cNvSpPr/>
            <p:nvPr/>
          </p:nvSpPr>
          <p:spPr>
            <a:xfrm>
              <a:off x="1914406" y="1673352"/>
              <a:ext cx="125968" cy="53767"/>
            </a:xfrm>
            <a:prstGeom prst="roundRect">
              <a:avLst>
                <a:gd name="adj" fmla="val 30000"/>
              </a:avLst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86" name="Heart 15385"/>
            <p:cNvSpPr/>
            <p:nvPr/>
          </p:nvSpPr>
          <p:spPr>
            <a:xfrm>
              <a:off x="1862867" y="1767444"/>
              <a:ext cx="65288" cy="58759"/>
            </a:xfrm>
            <a:prstGeom prst="hear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1945898" y="1761683"/>
              <a:ext cx="144863" cy="80650"/>
            </a:xfrm>
            <a:custGeom>
              <a:avLst/>
              <a:gdLst/>
              <a:ahLst/>
              <a:cxnLst/>
              <a:rect l="l" t="t" r="r" b="b"/>
              <a:pathLst>
                <a:path w="144863" h="80650">
                  <a:moveTo>
                    <a:pt x="0" y="40325"/>
                  </a:moveTo>
                  <a:lnTo>
                    <a:pt x="31492" y="40325"/>
                  </a:lnTo>
                  <a:lnTo>
                    <a:pt x="47238" y="0"/>
                  </a:lnTo>
                  <a:lnTo>
                    <a:pt x="66133" y="80650"/>
                  </a:lnTo>
                  <a:lnTo>
                    <a:pt x="81879" y="40325"/>
                  </a:lnTo>
                  <a:lnTo>
                    <a:pt x="144863" y="40325"/>
                  </a:lnTo>
                </a:path>
              </a:pathLst>
            </a:custGeom>
            <a:noFill/>
            <a:ln w="11521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87" name="Rectangle 15386"/>
            <p:cNvSpPr/>
            <p:nvPr/>
          </p:nvSpPr>
          <p:spPr>
            <a:xfrm>
              <a:off x="1870317" y="1888419"/>
              <a:ext cx="214145" cy="19202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88" name="Rectangle 15387"/>
            <p:cNvSpPr/>
            <p:nvPr/>
          </p:nvSpPr>
          <p:spPr>
            <a:xfrm>
              <a:off x="1870317" y="1938345"/>
              <a:ext cx="176355" cy="19202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89" name="Rectangle 15388"/>
            <p:cNvSpPr/>
            <p:nvPr/>
          </p:nvSpPr>
          <p:spPr>
            <a:xfrm>
              <a:off x="1870317" y="1988271"/>
              <a:ext cx="195250" cy="19202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" name="Eligible hospital"/>
          <p:cNvGrpSpPr/>
          <p:nvPr/>
        </p:nvGrpSpPr>
        <p:grpSpPr>
          <a:xfrm>
            <a:off x="3325435" y="1667317"/>
            <a:ext cx="433124" cy="371795"/>
            <a:chOff x="3325435" y="1667317"/>
            <a:chExt cx="433124" cy="371795"/>
          </a:xfrm>
        </p:grpSpPr>
        <p:sp>
          <p:nvSpPr>
            <p:cNvPr id="15390" name="Rectangle 15389"/>
            <p:cNvSpPr/>
            <p:nvPr/>
          </p:nvSpPr>
          <p:spPr>
            <a:xfrm>
              <a:off x="3325435" y="1816730"/>
              <a:ext cx="135862" cy="222382"/>
            </a:xfrm>
            <a:prstGeom prst="rect">
              <a:avLst/>
            </a:prstGeom>
            <a:solidFill>
              <a:srgbClr val="FFFFFF"/>
            </a:solidFill>
            <a:ln w="1158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91" name="Rectangle 15390"/>
            <p:cNvSpPr/>
            <p:nvPr/>
          </p:nvSpPr>
          <p:spPr>
            <a:xfrm>
              <a:off x="3573183" y="1816730"/>
              <a:ext cx="135862" cy="222382"/>
            </a:xfrm>
            <a:prstGeom prst="rect">
              <a:avLst/>
            </a:prstGeom>
            <a:solidFill>
              <a:srgbClr val="FFFFFF"/>
            </a:solidFill>
            <a:ln w="1158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92" name="Rectangle 15391"/>
            <p:cNvSpPr/>
            <p:nvPr/>
          </p:nvSpPr>
          <p:spPr>
            <a:xfrm>
              <a:off x="3437321" y="1719438"/>
              <a:ext cx="159837" cy="319674"/>
            </a:xfrm>
            <a:prstGeom prst="rect">
              <a:avLst/>
            </a:prstGeom>
            <a:solidFill>
              <a:srgbClr val="FFFFFF"/>
            </a:solidFill>
            <a:ln w="1158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93" name="Cross 15392"/>
            <p:cNvSpPr/>
            <p:nvPr/>
          </p:nvSpPr>
          <p:spPr>
            <a:xfrm>
              <a:off x="3473806" y="1742023"/>
              <a:ext cx="86868" cy="86868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94" name="Rectangle 15393"/>
            <p:cNvSpPr/>
            <p:nvPr/>
          </p:nvSpPr>
          <p:spPr>
            <a:xfrm>
              <a:off x="3353407" y="1851477"/>
              <a:ext cx="79919" cy="3822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95" name="Rectangle 15394"/>
            <p:cNvSpPr/>
            <p:nvPr/>
          </p:nvSpPr>
          <p:spPr>
            <a:xfrm>
              <a:off x="3353407" y="1920972"/>
              <a:ext cx="79919" cy="3822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96" name="Rectangle 15395"/>
            <p:cNvSpPr/>
            <p:nvPr/>
          </p:nvSpPr>
          <p:spPr>
            <a:xfrm>
              <a:off x="3601154" y="1851477"/>
              <a:ext cx="79919" cy="3822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97" name="Rectangle 15396"/>
            <p:cNvSpPr/>
            <p:nvPr/>
          </p:nvSpPr>
          <p:spPr>
            <a:xfrm>
              <a:off x="3601154" y="1920972"/>
              <a:ext cx="79919" cy="3822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98" name="Rectangle 15397"/>
            <p:cNvSpPr/>
            <p:nvPr/>
          </p:nvSpPr>
          <p:spPr>
            <a:xfrm>
              <a:off x="3469288" y="1865376"/>
              <a:ext cx="95902" cy="34747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99" name="Rectangle 15398"/>
            <p:cNvSpPr/>
            <p:nvPr/>
          </p:nvSpPr>
          <p:spPr>
            <a:xfrm>
              <a:off x="3483274" y="1948769"/>
              <a:ext cx="67931" cy="9034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0" name="Badge ok"/>
            <p:cNvGrpSpPr/>
            <p:nvPr/>
          </p:nvGrpSpPr>
          <p:grpSpPr>
            <a:xfrm>
              <a:off x="3619570" y="1667317"/>
              <a:ext cx="138989" cy="138989"/>
              <a:chOff x="3619570" y="1667317"/>
              <a:chExt cx="138989" cy="138989"/>
            </a:xfrm>
          </p:grpSpPr>
          <p:sp>
            <p:nvSpPr>
              <p:cNvPr id="15400" name="Oval 15399"/>
              <p:cNvSpPr/>
              <p:nvPr/>
            </p:nvSpPr>
            <p:spPr>
              <a:xfrm>
                <a:off x="3619570" y="1667317"/>
                <a:ext cx="138989" cy="138989"/>
              </a:xfrm>
              <a:prstGeom prst="ellipse">
                <a:avLst/>
              </a:prstGeom>
              <a:solidFill>
                <a:srgbClr val="16A34A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Freeform 10"/>
              <p:cNvSpPr/>
              <p:nvPr/>
            </p:nvSpPr>
            <p:spPr>
              <a:xfrm>
                <a:off x="3655707" y="1713183"/>
                <a:ext cx="68105" cy="51426"/>
              </a:xfrm>
              <a:custGeom>
                <a:avLst/>
                <a:gdLst/>
                <a:ahLst/>
                <a:cxnLst/>
                <a:rect l="l" t="t" r="r" b="b"/>
                <a:pathLst>
                  <a:path w="68105" h="51426">
                    <a:moveTo>
                      <a:pt x="0" y="27798"/>
                    </a:moveTo>
                    <a:lnTo>
                      <a:pt x="23628" y="51426"/>
                    </a:lnTo>
                    <a:lnTo>
                      <a:pt x="68105" y="0"/>
                    </a:lnTo>
                  </a:path>
                </a:pathLst>
              </a:custGeom>
              <a:noFill/>
              <a:ln w="18338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2" name="Not eligible hospital"/>
          <p:cNvGrpSpPr/>
          <p:nvPr/>
        </p:nvGrpSpPr>
        <p:grpSpPr>
          <a:xfrm>
            <a:off x="3926196" y="1667317"/>
            <a:ext cx="433124" cy="371795"/>
            <a:chOff x="3926196" y="1667317"/>
            <a:chExt cx="433124" cy="371795"/>
          </a:xfrm>
        </p:grpSpPr>
        <p:sp>
          <p:nvSpPr>
            <p:cNvPr id="15401" name="Rectangle 15400"/>
            <p:cNvSpPr/>
            <p:nvPr/>
          </p:nvSpPr>
          <p:spPr>
            <a:xfrm>
              <a:off x="3926196" y="1816730"/>
              <a:ext cx="135862" cy="222382"/>
            </a:xfrm>
            <a:prstGeom prst="rect">
              <a:avLst/>
            </a:prstGeom>
            <a:solidFill>
              <a:srgbClr val="FFFFFF"/>
            </a:solidFill>
            <a:ln w="11582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02" name="Rectangle 15401"/>
            <p:cNvSpPr/>
            <p:nvPr/>
          </p:nvSpPr>
          <p:spPr>
            <a:xfrm>
              <a:off x="4173943" y="1816730"/>
              <a:ext cx="135862" cy="222382"/>
            </a:xfrm>
            <a:prstGeom prst="rect">
              <a:avLst/>
            </a:prstGeom>
            <a:solidFill>
              <a:srgbClr val="FFFFFF"/>
            </a:solidFill>
            <a:ln w="11582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03" name="Rectangle 15402"/>
            <p:cNvSpPr/>
            <p:nvPr/>
          </p:nvSpPr>
          <p:spPr>
            <a:xfrm>
              <a:off x="4038082" y="1719438"/>
              <a:ext cx="159837" cy="319674"/>
            </a:xfrm>
            <a:prstGeom prst="rect">
              <a:avLst/>
            </a:prstGeom>
            <a:solidFill>
              <a:srgbClr val="FFFFFF"/>
            </a:solidFill>
            <a:ln w="11582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04" name="Cross 15403"/>
            <p:cNvSpPr/>
            <p:nvPr/>
          </p:nvSpPr>
          <p:spPr>
            <a:xfrm>
              <a:off x="4074566" y="1742023"/>
              <a:ext cx="86868" cy="86868"/>
            </a:xfrm>
            <a:prstGeom prst="plus">
              <a:avLst>
                <a:gd name="adj" fmla="val 30000"/>
              </a:avLst>
            </a:prstGeom>
            <a:solidFill>
              <a:srgbClr val="9CA3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05" name="Rectangle 15404"/>
            <p:cNvSpPr/>
            <p:nvPr/>
          </p:nvSpPr>
          <p:spPr>
            <a:xfrm>
              <a:off x="3954167" y="1851477"/>
              <a:ext cx="79919" cy="38222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06" name="Rectangle 15405"/>
            <p:cNvSpPr/>
            <p:nvPr/>
          </p:nvSpPr>
          <p:spPr>
            <a:xfrm>
              <a:off x="3954167" y="1920972"/>
              <a:ext cx="79919" cy="38222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07" name="Rectangle 15406"/>
            <p:cNvSpPr/>
            <p:nvPr/>
          </p:nvSpPr>
          <p:spPr>
            <a:xfrm>
              <a:off x="4201915" y="1851477"/>
              <a:ext cx="79919" cy="38222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08" name="Rectangle 15407"/>
            <p:cNvSpPr/>
            <p:nvPr/>
          </p:nvSpPr>
          <p:spPr>
            <a:xfrm>
              <a:off x="4201915" y="1920972"/>
              <a:ext cx="79919" cy="38222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09" name="Rectangle 15408"/>
            <p:cNvSpPr/>
            <p:nvPr/>
          </p:nvSpPr>
          <p:spPr>
            <a:xfrm>
              <a:off x="4070049" y="1865376"/>
              <a:ext cx="95902" cy="34747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10" name="Rectangle 15409"/>
            <p:cNvSpPr/>
            <p:nvPr/>
          </p:nvSpPr>
          <p:spPr>
            <a:xfrm>
              <a:off x="4084035" y="1948769"/>
              <a:ext cx="67931" cy="90343"/>
            </a:xfrm>
            <a:prstGeom prst="rect">
              <a:avLst/>
            </a:prstGeom>
            <a:solidFill>
              <a:srgbClr val="9CA3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3" name="Badge no"/>
            <p:cNvGrpSpPr/>
            <p:nvPr/>
          </p:nvGrpSpPr>
          <p:grpSpPr>
            <a:xfrm>
              <a:off x="4220331" y="1667317"/>
              <a:ext cx="138989" cy="138989"/>
              <a:chOff x="4220331" y="1667317"/>
              <a:chExt cx="138989" cy="138989"/>
            </a:xfrm>
          </p:grpSpPr>
          <p:sp>
            <p:nvSpPr>
              <p:cNvPr id="15411" name="Oval 15410"/>
              <p:cNvSpPr/>
              <p:nvPr/>
            </p:nvSpPr>
            <p:spPr>
              <a:xfrm>
                <a:off x="4220331" y="1667317"/>
                <a:ext cx="138989" cy="138989"/>
              </a:xfrm>
              <a:prstGeom prst="ellipse">
                <a:avLst/>
              </a:prstGeom>
              <a:solidFill>
                <a:srgbClr val="DC2626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5412" name="Connector 15411"/>
              <p:cNvCxnSpPr/>
              <p:nvPr/>
            </p:nvCxnSpPr>
            <p:spPr>
              <a:xfrm>
                <a:off x="4264807" y="1711793"/>
                <a:ext cx="50036" cy="50036"/>
              </a:xfrm>
              <a:prstGeom prst="line">
                <a:avLst/>
              </a:prstGeom>
              <a:ln w="18338">
                <a:solidFill>
                  <a:srgbClr val="FF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13" name="Connector 15412"/>
              <p:cNvCxnSpPr/>
              <p:nvPr/>
            </p:nvCxnSpPr>
            <p:spPr>
              <a:xfrm flipH="1">
                <a:off x="4264807" y="1711793"/>
                <a:ext cx="50036" cy="50036"/>
              </a:xfrm>
              <a:prstGeom prst="line">
                <a:avLst/>
              </a:prstGeom>
              <a:ln w="18338">
                <a:solidFill>
                  <a:srgbClr val="FF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Timer illustration"/>
          <p:cNvGrpSpPr/>
          <p:nvPr/>
        </p:nvGrpSpPr>
        <p:grpSpPr>
          <a:xfrm>
            <a:off x="5801319" y="1664208"/>
            <a:ext cx="330281" cy="384048"/>
            <a:chOff x="5801319" y="1664208"/>
            <a:chExt cx="330281" cy="384048"/>
          </a:xfrm>
        </p:grpSpPr>
        <p:sp>
          <p:nvSpPr>
            <p:cNvPr id="15414" name="Rounded Rectangle 15413"/>
            <p:cNvSpPr/>
            <p:nvPr/>
          </p:nvSpPr>
          <p:spPr>
            <a:xfrm>
              <a:off x="5931896" y="1664208"/>
              <a:ext cx="69129" cy="46086"/>
            </a:xfrm>
            <a:prstGeom prst="round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15" name="Oval 15414"/>
            <p:cNvSpPr/>
            <p:nvPr/>
          </p:nvSpPr>
          <p:spPr>
            <a:xfrm>
              <a:off x="5801319" y="1717975"/>
              <a:ext cx="330281" cy="330281"/>
            </a:xfrm>
            <a:prstGeom prst="ellipse">
              <a:avLst/>
            </a:prstGeom>
            <a:solidFill>
              <a:srgbClr val="FFFFFF"/>
            </a:solidFill>
            <a:ln w="1600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416" name="Connector 15415"/>
            <p:cNvCxnSpPr/>
            <p:nvPr/>
          </p:nvCxnSpPr>
          <p:spPr>
            <a:xfrm flipV="1">
              <a:off x="5966460" y="1777425"/>
              <a:ext cx="0" cy="105690"/>
            </a:xfrm>
            <a:prstGeom prst="line">
              <a:avLst/>
            </a:prstGeom>
            <a:ln w="16002">
              <a:solidFill>
                <a:srgbClr val="003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7" name="Connector 15416"/>
            <p:cNvCxnSpPr/>
            <p:nvPr/>
          </p:nvCxnSpPr>
          <p:spPr>
            <a:xfrm>
              <a:off x="5966460" y="1883115"/>
              <a:ext cx="79268" cy="33028"/>
            </a:xfrm>
            <a:prstGeom prst="line">
              <a:avLst/>
            </a:prstGeom>
            <a:ln w="16002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418" name="Oval 15417"/>
            <p:cNvSpPr/>
            <p:nvPr/>
          </p:nvSpPr>
          <p:spPr>
            <a:xfrm>
              <a:off x="5949946" y="1866601"/>
              <a:ext cx="33028" cy="33028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Answering hospital"/>
          <p:cNvGrpSpPr/>
          <p:nvPr/>
        </p:nvGrpSpPr>
        <p:grpSpPr>
          <a:xfrm>
            <a:off x="7923495" y="1719438"/>
            <a:ext cx="383610" cy="319674"/>
            <a:chOff x="7923495" y="1719438"/>
            <a:chExt cx="383610" cy="319674"/>
          </a:xfrm>
        </p:grpSpPr>
        <p:sp>
          <p:nvSpPr>
            <p:cNvPr id="15419" name="Rectangle 15418"/>
            <p:cNvSpPr/>
            <p:nvPr/>
          </p:nvSpPr>
          <p:spPr>
            <a:xfrm>
              <a:off x="7923495" y="1816730"/>
              <a:ext cx="135862" cy="222382"/>
            </a:xfrm>
            <a:prstGeom prst="rect">
              <a:avLst/>
            </a:prstGeom>
            <a:solidFill>
              <a:srgbClr val="FFFFFF"/>
            </a:solidFill>
            <a:ln w="1158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20" name="Rectangle 15419"/>
            <p:cNvSpPr/>
            <p:nvPr/>
          </p:nvSpPr>
          <p:spPr>
            <a:xfrm>
              <a:off x="8171243" y="1816730"/>
              <a:ext cx="135862" cy="222382"/>
            </a:xfrm>
            <a:prstGeom prst="rect">
              <a:avLst/>
            </a:prstGeom>
            <a:solidFill>
              <a:srgbClr val="FFFFFF"/>
            </a:solidFill>
            <a:ln w="1158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21" name="Rectangle 15420"/>
            <p:cNvSpPr/>
            <p:nvPr/>
          </p:nvSpPr>
          <p:spPr>
            <a:xfrm>
              <a:off x="8035381" y="1719438"/>
              <a:ext cx="159837" cy="319674"/>
            </a:xfrm>
            <a:prstGeom prst="rect">
              <a:avLst/>
            </a:prstGeom>
            <a:solidFill>
              <a:srgbClr val="FFFFFF"/>
            </a:solidFill>
            <a:ln w="1158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22" name="Cross 15421"/>
            <p:cNvSpPr/>
            <p:nvPr/>
          </p:nvSpPr>
          <p:spPr>
            <a:xfrm>
              <a:off x="8071866" y="1742023"/>
              <a:ext cx="86868" cy="86868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23" name="Rectangle 15422"/>
            <p:cNvSpPr/>
            <p:nvPr/>
          </p:nvSpPr>
          <p:spPr>
            <a:xfrm>
              <a:off x="7951467" y="1851477"/>
              <a:ext cx="79919" cy="3822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24" name="Rectangle 15423"/>
            <p:cNvSpPr/>
            <p:nvPr/>
          </p:nvSpPr>
          <p:spPr>
            <a:xfrm>
              <a:off x="7951467" y="1920972"/>
              <a:ext cx="79919" cy="3822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25" name="Rectangle 15424"/>
            <p:cNvSpPr/>
            <p:nvPr/>
          </p:nvSpPr>
          <p:spPr>
            <a:xfrm>
              <a:off x="8199214" y="1851477"/>
              <a:ext cx="79919" cy="3822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26" name="Rectangle 15425"/>
            <p:cNvSpPr/>
            <p:nvPr/>
          </p:nvSpPr>
          <p:spPr>
            <a:xfrm>
              <a:off x="8199214" y="1920972"/>
              <a:ext cx="79919" cy="3822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27" name="Rectangle 15426"/>
            <p:cNvSpPr/>
            <p:nvPr/>
          </p:nvSpPr>
          <p:spPr>
            <a:xfrm>
              <a:off x="8067349" y="1865376"/>
              <a:ext cx="95902" cy="34747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28" name="Rectangle 15427"/>
            <p:cNvSpPr/>
            <p:nvPr/>
          </p:nvSpPr>
          <p:spPr>
            <a:xfrm>
              <a:off x="8081335" y="1948769"/>
              <a:ext cx="67931" cy="9034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5429" name="Answer ACCEPTED"/>
          <p:cNvSpPr/>
          <p:nvPr/>
        </p:nvSpPr>
        <p:spPr>
          <a:xfrm>
            <a:off x="7296912" y="2660904"/>
            <a:ext cx="786384" cy="17373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750" b="1" i="0">
                <a:solidFill>
                  <a:srgbClr val="15803D"/>
                </a:solidFill>
                <a:latin typeface="Arial"/>
              </a:rPr>
              <a:t>ACCEPTED</a:t>
            </a:r>
          </a:p>
        </p:txBody>
      </p:sp>
      <p:sp>
        <p:nvSpPr>
          <p:cNvPr id="15430" name="Answer LIMITED"/>
          <p:cNvSpPr/>
          <p:nvPr/>
        </p:nvSpPr>
        <p:spPr>
          <a:xfrm>
            <a:off x="8147304" y="2660904"/>
            <a:ext cx="786384" cy="17373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750" b="1" i="0">
                <a:solidFill>
                  <a:srgbClr val="15803D"/>
                </a:solidFill>
                <a:latin typeface="Arial"/>
              </a:rPr>
              <a:t>LIMITED</a:t>
            </a:r>
          </a:p>
        </p:txBody>
      </p:sp>
      <p:sp>
        <p:nvSpPr>
          <p:cNvPr id="15431" name="Answer REJECTED"/>
          <p:cNvSpPr/>
          <p:nvPr/>
        </p:nvSpPr>
        <p:spPr>
          <a:xfrm>
            <a:off x="7296912" y="2871216"/>
            <a:ext cx="786384" cy="173736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750" b="1" i="0">
                <a:solidFill>
                  <a:srgbClr val="B91C1C"/>
                </a:solidFill>
                <a:latin typeface="Arial"/>
              </a:rPr>
              <a:t>REJECTED</a:t>
            </a:r>
          </a:p>
        </p:txBody>
      </p:sp>
      <p:sp>
        <p:nvSpPr>
          <p:cNvPr id="15432" name="Answer UNAVAILABLE"/>
          <p:cNvSpPr/>
          <p:nvPr/>
        </p:nvSpPr>
        <p:spPr>
          <a:xfrm>
            <a:off x="8147304" y="2871216"/>
            <a:ext cx="786384" cy="17373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750" b="1" i="0">
                <a:solidFill>
                  <a:srgbClr val="B45309"/>
                </a:solidFill>
                <a:latin typeface="Arial"/>
              </a:rPr>
              <a:t>UNAVAILABLE</a:t>
            </a:r>
          </a:p>
        </p:txBody>
      </p:sp>
      <p:sp>
        <p:nvSpPr>
          <p:cNvPr id="15433" name="Expiry note"/>
          <p:cNvSpPr txBox="1"/>
          <p:nvPr/>
        </p:nvSpPr>
        <p:spPr>
          <a:xfrm>
            <a:off x="7223760" y="3063240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50" b="0" i="0">
                <a:solidFill>
                  <a:srgbClr val="4B5563"/>
                </a:solidFill>
                <a:latin typeface="Arial"/>
              </a:rPr>
              <a:t>Silence expires to UNKNOWN</a:t>
            </a:r>
          </a:p>
        </p:txBody>
      </p:sp>
      <p:grpSp>
        <p:nvGrpSpPr>
          <p:cNvPr id="16" name="Lost destination"/>
          <p:cNvGrpSpPr/>
          <p:nvPr/>
        </p:nvGrpSpPr>
        <p:grpSpPr>
          <a:xfrm>
            <a:off x="9737702" y="1677741"/>
            <a:ext cx="410328" cy="352227"/>
            <a:chOff x="9737702" y="1677741"/>
            <a:chExt cx="410328" cy="352227"/>
          </a:xfrm>
        </p:grpSpPr>
        <p:sp>
          <p:nvSpPr>
            <p:cNvPr id="15434" name="Rectangle 15433"/>
            <p:cNvSpPr/>
            <p:nvPr/>
          </p:nvSpPr>
          <p:spPr>
            <a:xfrm>
              <a:off x="9737702" y="1819290"/>
              <a:ext cx="128711" cy="210678"/>
            </a:xfrm>
            <a:prstGeom prst="rect">
              <a:avLst/>
            </a:prstGeom>
            <a:solidFill>
              <a:srgbClr val="FFFFFF"/>
            </a:solidFill>
            <a:ln w="1097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35" name="Rectangle 15434"/>
            <p:cNvSpPr/>
            <p:nvPr/>
          </p:nvSpPr>
          <p:spPr>
            <a:xfrm>
              <a:off x="9972410" y="1819290"/>
              <a:ext cx="128711" cy="210678"/>
            </a:xfrm>
            <a:prstGeom prst="rect">
              <a:avLst/>
            </a:prstGeom>
            <a:solidFill>
              <a:srgbClr val="FFFFFF"/>
            </a:solidFill>
            <a:ln w="1097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36" name="Rectangle 15435"/>
            <p:cNvSpPr/>
            <p:nvPr/>
          </p:nvSpPr>
          <p:spPr>
            <a:xfrm>
              <a:off x="9843699" y="1727119"/>
              <a:ext cx="151425" cy="302849"/>
            </a:xfrm>
            <a:prstGeom prst="rect">
              <a:avLst/>
            </a:prstGeom>
            <a:solidFill>
              <a:srgbClr val="FFFFFF"/>
            </a:solidFill>
            <a:ln w="1097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37" name="Cross 15436"/>
            <p:cNvSpPr/>
            <p:nvPr/>
          </p:nvSpPr>
          <p:spPr>
            <a:xfrm>
              <a:off x="9878263" y="1748516"/>
              <a:ext cx="82296" cy="82296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38" name="Rectangle 15437"/>
            <p:cNvSpPr/>
            <p:nvPr/>
          </p:nvSpPr>
          <p:spPr>
            <a:xfrm>
              <a:off x="9764201" y="1852209"/>
              <a:ext cx="75712" cy="36210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39" name="Rectangle 15438"/>
            <p:cNvSpPr/>
            <p:nvPr/>
          </p:nvSpPr>
          <p:spPr>
            <a:xfrm>
              <a:off x="9764201" y="1918045"/>
              <a:ext cx="75712" cy="36210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40" name="Rectangle 15439"/>
            <p:cNvSpPr/>
            <p:nvPr/>
          </p:nvSpPr>
          <p:spPr>
            <a:xfrm>
              <a:off x="9998909" y="1852209"/>
              <a:ext cx="75712" cy="36210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41" name="Rectangle 15440"/>
            <p:cNvSpPr/>
            <p:nvPr/>
          </p:nvSpPr>
          <p:spPr>
            <a:xfrm>
              <a:off x="9998909" y="1918045"/>
              <a:ext cx="75712" cy="36210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42" name="Rectangle 15441"/>
            <p:cNvSpPr/>
            <p:nvPr/>
          </p:nvSpPr>
          <p:spPr>
            <a:xfrm>
              <a:off x="9873984" y="1865376"/>
              <a:ext cx="90855" cy="32918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43" name="Rectangle 15442"/>
            <p:cNvSpPr/>
            <p:nvPr/>
          </p:nvSpPr>
          <p:spPr>
            <a:xfrm>
              <a:off x="9887233" y="1944380"/>
              <a:ext cx="64355" cy="8558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7" name="Badge no"/>
            <p:cNvGrpSpPr/>
            <p:nvPr/>
          </p:nvGrpSpPr>
          <p:grpSpPr>
            <a:xfrm>
              <a:off x="10016356" y="1677741"/>
              <a:ext cx="131674" cy="131674"/>
              <a:chOff x="10016356" y="1677741"/>
              <a:chExt cx="131674" cy="131674"/>
            </a:xfrm>
          </p:grpSpPr>
          <p:sp>
            <p:nvSpPr>
              <p:cNvPr id="15444" name="Oval 15443"/>
              <p:cNvSpPr/>
              <p:nvPr/>
            </p:nvSpPr>
            <p:spPr>
              <a:xfrm>
                <a:off x="10016356" y="1677741"/>
                <a:ext cx="131674" cy="131674"/>
              </a:xfrm>
              <a:prstGeom prst="ellipse">
                <a:avLst/>
              </a:prstGeom>
              <a:solidFill>
                <a:srgbClr val="DC2626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5445" name="Connector 15444"/>
              <p:cNvCxnSpPr/>
              <p:nvPr/>
            </p:nvCxnSpPr>
            <p:spPr>
              <a:xfrm>
                <a:off x="10058491" y="1719877"/>
                <a:ext cx="47403" cy="47402"/>
              </a:xfrm>
              <a:prstGeom prst="line">
                <a:avLst/>
              </a:prstGeom>
              <a:ln w="17373">
                <a:solidFill>
                  <a:srgbClr val="FF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46" name="Connector 15445"/>
              <p:cNvCxnSpPr/>
              <p:nvPr/>
            </p:nvCxnSpPr>
            <p:spPr>
              <a:xfrm flipH="1">
                <a:off x="10058491" y="1719877"/>
                <a:ext cx="47403" cy="47402"/>
              </a:xfrm>
              <a:prstGeom prst="line">
                <a:avLst/>
              </a:prstGeom>
              <a:ln w="17373">
                <a:solidFill>
                  <a:srgbClr val="FF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Alternative destination"/>
          <p:cNvGrpSpPr/>
          <p:nvPr/>
        </p:nvGrpSpPr>
        <p:grpSpPr>
          <a:xfrm>
            <a:off x="10427159" y="1677741"/>
            <a:ext cx="410328" cy="352227"/>
            <a:chOff x="10427159" y="1677741"/>
            <a:chExt cx="410328" cy="352227"/>
          </a:xfrm>
        </p:grpSpPr>
        <p:sp>
          <p:nvSpPr>
            <p:cNvPr id="15447" name="Rectangle 15446"/>
            <p:cNvSpPr/>
            <p:nvPr/>
          </p:nvSpPr>
          <p:spPr>
            <a:xfrm>
              <a:off x="10427159" y="1819290"/>
              <a:ext cx="128711" cy="210678"/>
            </a:xfrm>
            <a:prstGeom prst="rect">
              <a:avLst/>
            </a:prstGeom>
            <a:solidFill>
              <a:srgbClr val="FFFFFF"/>
            </a:solidFill>
            <a:ln w="1097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48" name="Rectangle 15447"/>
            <p:cNvSpPr/>
            <p:nvPr/>
          </p:nvSpPr>
          <p:spPr>
            <a:xfrm>
              <a:off x="10661867" y="1819290"/>
              <a:ext cx="128711" cy="210678"/>
            </a:xfrm>
            <a:prstGeom prst="rect">
              <a:avLst/>
            </a:prstGeom>
            <a:solidFill>
              <a:srgbClr val="FFFFFF"/>
            </a:solidFill>
            <a:ln w="1097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49" name="Rectangle 15448"/>
            <p:cNvSpPr/>
            <p:nvPr/>
          </p:nvSpPr>
          <p:spPr>
            <a:xfrm>
              <a:off x="10533156" y="1727119"/>
              <a:ext cx="151425" cy="302849"/>
            </a:xfrm>
            <a:prstGeom prst="rect">
              <a:avLst/>
            </a:prstGeom>
            <a:solidFill>
              <a:srgbClr val="FFFFFF"/>
            </a:solidFill>
            <a:ln w="1097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50" name="Cross 15449"/>
            <p:cNvSpPr/>
            <p:nvPr/>
          </p:nvSpPr>
          <p:spPr>
            <a:xfrm>
              <a:off x="10567721" y="1748516"/>
              <a:ext cx="82296" cy="82296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51" name="Rectangle 15450"/>
            <p:cNvSpPr/>
            <p:nvPr/>
          </p:nvSpPr>
          <p:spPr>
            <a:xfrm>
              <a:off x="10453659" y="1852209"/>
              <a:ext cx="75712" cy="36210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52" name="Rectangle 15451"/>
            <p:cNvSpPr/>
            <p:nvPr/>
          </p:nvSpPr>
          <p:spPr>
            <a:xfrm>
              <a:off x="10453659" y="1918045"/>
              <a:ext cx="75712" cy="36210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53" name="Rectangle 15452"/>
            <p:cNvSpPr/>
            <p:nvPr/>
          </p:nvSpPr>
          <p:spPr>
            <a:xfrm>
              <a:off x="10688367" y="1852209"/>
              <a:ext cx="75712" cy="36210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54" name="Rectangle 15453"/>
            <p:cNvSpPr/>
            <p:nvPr/>
          </p:nvSpPr>
          <p:spPr>
            <a:xfrm>
              <a:off x="10688367" y="1918045"/>
              <a:ext cx="75712" cy="36210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55" name="Rectangle 15454"/>
            <p:cNvSpPr/>
            <p:nvPr/>
          </p:nvSpPr>
          <p:spPr>
            <a:xfrm>
              <a:off x="10563441" y="1865376"/>
              <a:ext cx="90855" cy="32918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56" name="Rectangle 15455"/>
            <p:cNvSpPr/>
            <p:nvPr/>
          </p:nvSpPr>
          <p:spPr>
            <a:xfrm>
              <a:off x="10576691" y="1944380"/>
              <a:ext cx="64355" cy="8558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9" name="Badge ok"/>
            <p:cNvGrpSpPr/>
            <p:nvPr/>
          </p:nvGrpSpPr>
          <p:grpSpPr>
            <a:xfrm>
              <a:off x="10705813" y="1677741"/>
              <a:ext cx="131674" cy="131674"/>
              <a:chOff x="10705813" y="1677741"/>
              <a:chExt cx="131674" cy="131674"/>
            </a:xfrm>
          </p:grpSpPr>
          <p:sp>
            <p:nvSpPr>
              <p:cNvPr id="15457" name="Oval 15456"/>
              <p:cNvSpPr/>
              <p:nvPr/>
            </p:nvSpPr>
            <p:spPr>
              <a:xfrm>
                <a:off x="10705813" y="1677741"/>
                <a:ext cx="131674" cy="131674"/>
              </a:xfrm>
              <a:prstGeom prst="ellipse">
                <a:avLst/>
              </a:prstGeom>
              <a:solidFill>
                <a:srgbClr val="16A34A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Freeform 19"/>
              <p:cNvSpPr/>
              <p:nvPr/>
            </p:nvSpPr>
            <p:spPr>
              <a:xfrm>
                <a:off x="10740049" y="1721193"/>
                <a:ext cx="64520" cy="48720"/>
              </a:xfrm>
              <a:custGeom>
                <a:avLst/>
                <a:gdLst/>
                <a:ahLst/>
                <a:cxnLst/>
                <a:rect l="l" t="t" r="r" b="b"/>
                <a:pathLst>
                  <a:path w="64520" h="48720">
                    <a:moveTo>
                      <a:pt x="0" y="26335"/>
                    </a:moveTo>
                    <a:lnTo>
                      <a:pt x="22384" y="48720"/>
                    </a:lnTo>
                    <a:lnTo>
                      <a:pt x="64520" y="0"/>
                    </a:lnTo>
                  </a:path>
                </a:pathLst>
              </a:custGeom>
              <a:noFill/>
              <a:ln w="17373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cxnSp>
        <p:nvCxnSpPr>
          <p:cNvPr id="15458" name="Connector 15457"/>
          <p:cNvCxnSpPr/>
          <p:nvPr/>
        </p:nvCxnSpPr>
        <p:spPr>
          <a:xfrm>
            <a:off x="10145268" y="1901952"/>
            <a:ext cx="237744" cy="0"/>
          </a:xfrm>
          <a:prstGeom prst="line">
            <a:avLst/>
          </a:prstGeom>
          <a:ln w="1905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Fragmented care illustration"/>
          <p:cNvGrpSpPr/>
          <p:nvPr/>
        </p:nvGrpSpPr>
        <p:grpSpPr>
          <a:xfrm>
            <a:off x="640080" y="4345229"/>
            <a:ext cx="1371600" cy="1653235"/>
            <a:chOff x="640080" y="4345229"/>
            <a:chExt cx="1371600" cy="1653235"/>
          </a:xfrm>
        </p:grpSpPr>
        <p:cxnSp>
          <p:nvCxnSpPr>
            <p:cNvPr id="15459" name="Connector 15458"/>
            <p:cNvCxnSpPr/>
            <p:nvPr/>
          </p:nvCxnSpPr>
          <p:spPr>
            <a:xfrm>
              <a:off x="989838" y="4507992"/>
              <a:ext cx="738378" cy="9144"/>
            </a:xfrm>
            <a:prstGeom prst="line">
              <a:avLst/>
            </a:prstGeom>
            <a:ln w="15875">
              <a:solidFill>
                <a:srgbClr val="DC262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Badge no"/>
            <p:cNvGrpSpPr/>
            <p:nvPr/>
          </p:nvGrpSpPr>
          <p:grpSpPr>
            <a:xfrm>
              <a:off x="1281303" y="4434840"/>
              <a:ext cx="155448" cy="155448"/>
              <a:chOff x="1281303" y="4434840"/>
              <a:chExt cx="155448" cy="155448"/>
            </a:xfrm>
          </p:grpSpPr>
          <p:sp>
            <p:nvSpPr>
              <p:cNvPr id="15460" name="Oval 15459"/>
              <p:cNvSpPr/>
              <p:nvPr/>
            </p:nvSpPr>
            <p:spPr>
              <a:xfrm>
                <a:off x="1281303" y="4434840"/>
                <a:ext cx="155448" cy="155448"/>
              </a:xfrm>
              <a:prstGeom prst="ellipse">
                <a:avLst/>
              </a:prstGeom>
              <a:solidFill>
                <a:srgbClr val="DC2626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5461" name="Connector 15460"/>
              <p:cNvCxnSpPr/>
              <p:nvPr/>
            </p:nvCxnSpPr>
            <p:spPr>
              <a:xfrm>
                <a:off x="1331046" y="4484583"/>
                <a:ext cx="55962" cy="55962"/>
              </a:xfrm>
              <a:prstGeom prst="line">
                <a:avLst/>
              </a:prstGeom>
              <a:ln w="20510">
                <a:solidFill>
                  <a:srgbClr val="FF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62" name="Connector 15461"/>
              <p:cNvCxnSpPr/>
              <p:nvPr/>
            </p:nvCxnSpPr>
            <p:spPr>
              <a:xfrm flipH="1">
                <a:off x="1331046" y="4484583"/>
                <a:ext cx="55962" cy="55962"/>
              </a:xfrm>
              <a:prstGeom prst="line">
                <a:avLst/>
              </a:prstGeom>
              <a:ln w="20510">
                <a:solidFill>
                  <a:srgbClr val="FF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463" name="Connector 15462"/>
            <p:cNvCxnSpPr/>
            <p:nvPr/>
          </p:nvCxnSpPr>
          <p:spPr>
            <a:xfrm>
              <a:off x="989838" y="4507992"/>
              <a:ext cx="336042" cy="850392"/>
            </a:xfrm>
            <a:prstGeom prst="line">
              <a:avLst/>
            </a:prstGeom>
            <a:ln w="15875">
              <a:solidFill>
                <a:srgbClr val="DC262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Badge no"/>
            <p:cNvGrpSpPr/>
            <p:nvPr/>
          </p:nvGrpSpPr>
          <p:grpSpPr>
            <a:xfrm>
              <a:off x="1080135" y="4855464"/>
              <a:ext cx="155448" cy="155448"/>
              <a:chOff x="1080135" y="4855464"/>
              <a:chExt cx="155448" cy="155448"/>
            </a:xfrm>
          </p:grpSpPr>
          <p:sp>
            <p:nvSpPr>
              <p:cNvPr id="15464" name="Oval 15463"/>
              <p:cNvSpPr/>
              <p:nvPr/>
            </p:nvSpPr>
            <p:spPr>
              <a:xfrm>
                <a:off x="1080135" y="4855464"/>
                <a:ext cx="155448" cy="155448"/>
              </a:xfrm>
              <a:prstGeom prst="ellipse">
                <a:avLst/>
              </a:prstGeom>
              <a:solidFill>
                <a:srgbClr val="DC2626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5465" name="Connector 15464"/>
              <p:cNvCxnSpPr/>
              <p:nvPr/>
            </p:nvCxnSpPr>
            <p:spPr>
              <a:xfrm>
                <a:off x="1129878" y="4905207"/>
                <a:ext cx="55962" cy="55962"/>
              </a:xfrm>
              <a:prstGeom prst="line">
                <a:avLst/>
              </a:prstGeom>
              <a:ln w="20510">
                <a:solidFill>
                  <a:srgbClr val="FF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66" name="Connector 15465"/>
              <p:cNvCxnSpPr/>
              <p:nvPr/>
            </p:nvCxnSpPr>
            <p:spPr>
              <a:xfrm flipH="1">
                <a:off x="1129878" y="4905207"/>
                <a:ext cx="55962" cy="55962"/>
              </a:xfrm>
              <a:prstGeom prst="line">
                <a:avLst/>
              </a:prstGeom>
              <a:ln w="20510">
                <a:solidFill>
                  <a:srgbClr val="FF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467" name="Connector 15466"/>
            <p:cNvCxnSpPr/>
            <p:nvPr/>
          </p:nvCxnSpPr>
          <p:spPr>
            <a:xfrm flipH="1">
              <a:off x="1325880" y="4517136"/>
              <a:ext cx="402336" cy="841248"/>
            </a:xfrm>
            <a:prstGeom prst="line">
              <a:avLst/>
            </a:prstGeom>
            <a:ln w="15875">
              <a:solidFill>
                <a:srgbClr val="DC262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Badge no"/>
            <p:cNvGrpSpPr/>
            <p:nvPr/>
          </p:nvGrpSpPr>
          <p:grpSpPr>
            <a:xfrm>
              <a:off x="1449324" y="4860036"/>
              <a:ext cx="155448" cy="155448"/>
              <a:chOff x="1449324" y="4860036"/>
              <a:chExt cx="155448" cy="155448"/>
            </a:xfrm>
          </p:grpSpPr>
          <p:sp>
            <p:nvSpPr>
              <p:cNvPr id="15468" name="Oval 15467"/>
              <p:cNvSpPr/>
              <p:nvPr/>
            </p:nvSpPr>
            <p:spPr>
              <a:xfrm>
                <a:off x="1449324" y="4860036"/>
                <a:ext cx="155448" cy="155448"/>
              </a:xfrm>
              <a:prstGeom prst="ellipse">
                <a:avLst/>
              </a:prstGeom>
              <a:solidFill>
                <a:srgbClr val="DC2626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5469" name="Connector 15468"/>
              <p:cNvCxnSpPr/>
              <p:nvPr/>
            </p:nvCxnSpPr>
            <p:spPr>
              <a:xfrm>
                <a:off x="1499067" y="4909779"/>
                <a:ext cx="55962" cy="55962"/>
              </a:xfrm>
              <a:prstGeom prst="line">
                <a:avLst/>
              </a:prstGeom>
              <a:ln w="20510">
                <a:solidFill>
                  <a:srgbClr val="FF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70" name="Connector 15469"/>
              <p:cNvCxnSpPr/>
              <p:nvPr/>
            </p:nvCxnSpPr>
            <p:spPr>
              <a:xfrm flipH="1">
                <a:off x="1499067" y="4909779"/>
                <a:ext cx="55962" cy="55962"/>
              </a:xfrm>
              <a:prstGeom prst="line">
                <a:avLst/>
              </a:prstGeom>
              <a:ln w="20510">
                <a:solidFill>
                  <a:srgbClr val="FF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Ambulance illustration"/>
            <p:cNvGrpSpPr/>
            <p:nvPr/>
          </p:nvGrpSpPr>
          <p:grpSpPr>
            <a:xfrm>
              <a:off x="749808" y="4379062"/>
              <a:ext cx="480060" cy="256489"/>
              <a:chOff x="749808" y="4379062"/>
              <a:chExt cx="480060" cy="256489"/>
            </a:xfrm>
          </p:grpSpPr>
          <p:sp>
            <p:nvSpPr>
              <p:cNvPr id="15471" name="Rounded Rectangle 15470"/>
              <p:cNvSpPr/>
              <p:nvPr/>
            </p:nvSpPr>
            <p:spPr>
              <a:xfrm>
                <a:off x="889025" y="4379062"/>
                <a:ext cx="62408" cy="30175"/>
              </a:xfrm>
              <a:prstGeom prst="roundRect">
                <a:avLst>
                  <a:gd name="adj" fmla="val 30000"/>
                </a:avLst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72" name="Rounded Rectangle 15471"/>
              <p:cNvSpPr/>
              <p:nvPr/>
            </p:nvSpPr>
            <p:spPr>
              <a:xfrm>
                <a:off x="749808" y="4406494"/>
                <a:ext cx="309639" cy="183794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Freeform 25"/>
              <p:cNvSpPr/>
              <p:nvPr/>
            </p:nvSpPr>
            <p:spPr>
              <a:xfrm>
                <a:off x="1047445" y="4455871"/>
                <a:ext cx="182423" cy="134417"/>
              </a:xfrm>
              <a:custGeom>
                <a:avLst/>
                <a:gdLst/>
                <a:ahLst/>
                <a:cxnLst/>
                <a:rect l="l" t="t" r="r" b="b"/>
                <a:pathLst>
                  <a:path w="182423" h="134417">
                    <a:moveTo>
                      <a:pt x="0" y="0"/>
                    </a:moveTo>
                    <a:lnTo>
                      <a:pt x="86411" y="0"/>
                    </a:lnTo>
                    <a:lnTo>
                      <a:pt x="160820" y="57607"/>
                    </a:lnTo>
                    <a:lnTo>
                      <a:pt x="182423" y="68580"/>
                    </a:lnTo>
                    <a:lnTo>
                      <a:pt x="182423" y="134417"/>
                    </a:lnTo>
                    <a:lnTo>
                      <a:pt x="0" y="13441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Freeform 26"/>
              <p:cNvSpPr/>
              <p:nvPr/>
            </p:nvSpPr>
            <p:spPr>
              <a:xfrm>
                <a:off x="1076249" y="4473702"/>
                <a:ext cx="103213" cy="42520"/>
              </a:xfrm>
              <a:custGeom>
                <a:avLst/>
                <a:gdLst/>
                <a:ahLst/>
                <a:cxnLst/>
                <a:rect l="l" t="t" r="r" b="b"/>
                <a:pathLst>
                  <a:path w="103213" h="42520">
                    <a:moveTo>
                      <a:pt x="0" y="0"/>
                    </a:moveTo>
                    <a:lnTo>
                      <a:pt x="50406" y="0"/>
                    </a:lnTo>
                    <a:lnTo>
                      <a:pt x="103213" y="42520"/>
                    </a:lnTo>
                    <a:lnTo>
                      <a:pt x="0" y="42520"/>
                    </a:lnTo>
                    <a:close/>
                  </a:path>
                </a:pathLst>
              </a:cu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73" name="Rectangle 15472"/>
              <p:cNvSpPr/>
              <p:nvPr/>
            </p:nvSpPr>
            <p:spPr>
              <a:xfrm>
                <a:off x="752688" y="4535424"/>
                <a:ext cx="474299" cy="17831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74" name="Cross 15473"/>
              <p:cNvSpPr/>
              <p:nvPr/>
            </p:nvSpPr>
            <p:spPr>
              <a:xfrm>
                <a:off x="862279" y="4431182"/>
                <a:ext cx="82296" cy="82296"/>
              </a:xfrm>
              <a:prstGeom prst="plus">
                <a:avLst>
                  <a:gd name="adj" fmla="val 30000"/>
                </a:avLst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75" name="Oval 15474"/>
              <p:cNvSpPr/>
              <p:nvPr/>
            </p:nvSpPr>
            <p:spPr>
              <a:xfrm>
                <a:off x="806044" y="4555998"/>
                <a:ext cx="79553" cy="79553"/>
              </a:xfrm>
              <a:prstGeom prst="ellipse">
                <a:avLst/>
              </a:prstGeom>
              <a:solidFill>
                <a:srgbClr val="003366"/>
              </a:solidFill>
              <a:ln w="952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76" name="Oval 15475"/>
              <p:cNvSpPr/>
              <p:nvPr/>
            </p:nvSpPr>
            <p:spPr>
              <a:xfrm>
                <a:off x="830732" y="4580687"/>
                <a:ext cx="30175" cy="3017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77" name="Oval 15476"/>
              <p:cNvSpPr/>
              <p:nvPr/>
            </p:nvSpPr>
            <p:spPr>
              <a:xfrm>
                <a:off x="1089279" y="4555998"/>
                <a:ext cx="79553" cy="79553"/>
              </a:xfrm>
              <a:prstGeom prst="ellipse">
                <a:avLst/>
              </a:prstGeom>
              <a:solidFill>
                <a:srgbClr val="003366"/>
              </a:solidFill>
              <a:ln w="952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78" name="Oval 15477"/>
              <p:cNvSpPr/>
              <p:nvPr/>
            </p:nvSpPr>
            <p:spPr>
              <a:xfrm>
                <a:off x="1113968" y="4580687"/>
                <a:ext cx="30175" cy="3017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" name="Hospital illustration"/>
            <p:cNvGrpSpPr/>
            <p:nvPr/>
          </p:nvGrpSpPr>
          <p:grpSpPr>
            <a:xfrm>
              <a:off x="1526316" y="4345229"/>
              <a:ext cx="403799" cy="336499"/>
              <a:chOff x="1526316" y="4345229"/>
              <a:chExt cx="403799" cy="336499"/>
            </a:xfrm>
          </p:grpSpPr>
          <p:sp>
            <p:nvSpPr>
              <p:cNvPr id="15479" name="Rectangle 15478"/>
              <p:cNvSpPr/>
              <p:nvPr/>
            </p:nvSpPr>
            <p:spPr>
              <a:xfrm>
                <a:off x="1526316" y="4447642"/>
                <a:ext cx="143012" cy="234086"/>
              </a:xfrm>
              <a:prstGeom prst="rect">
                <a:avLst/>
              </a:prstGeom>
              <a:solidFill>
                <a:srgbClr val="FFFFFF"/>
              </a:solidFill>
              <a:ln w="12192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80" name="Rectangle 15479"/>
              <p:cNvSpPr/>
              <p:nvPr/>
            </p:nvSpPr>
            <p:spPr>
              <a:xfrm>
                <a:off x="1787103" y="4447642"/>
                <a:ext cx="143012" cy="234086"/>
              </a:xfrm>
              <a:prstGeom prst="rect">
                <a:avLst/>
              </a:prstGeom>
              <a:solidFill>
                <a:srgbClr val="FFFFFF"/>
              </a:solidFill>
              <a:ln w="12192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81" name="Rectangle 15480"/>
              <p:cNvSpPr/>
              <p:nvPr/>
            </p:nvSpPr>
            <p:spPr>
              <a:xfrm>
                <a:off x="1644091" y="4345229"/>
                <a:ext cx="168250" cy="336499"/>
              </a:xfrm>
              <a:prstGeom prst="rect">
                <a:avLst/>
              </a:prstGeom>
              <a:solidFill>
                <a:srgbClr val="FFFFFF"/>
              </a:solidFill>
              <a:ln w="12192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82" name="Cross 15481"/>
              <p:cNvSpPr/>
              <p:nvPr/>
            </p:nvSpPr>
            <p:spPr>
              <a:xfrm>
                <a:off x="1682496" y="4369003"/>
                <a:ext cx="91440" cy="91440"/>
              </a:xfrm>
              <a:prstGeom prst="plus">
                <a:avLst>
                  <a:gd name="adj" fmla="val 30000"/>
                </a:avLst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83" name="Rectangle 15482"/>
              <p:cNvSpPr/>
              <p:nvPr/>
            </p:nvSpPr>
            <p:spPr>
              <a:xfrm>
                <a:off x="1555760" y="4484218"/>
                <a:ext cx="84125" cy="40234"/>
              </a:xfrm>
              <a:prstGeom prst="rect">
                <a:avLst/>
              </a:pr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84" name="Rectangle 15483"/>
              <p:cNvSpPr/>
              <p:nvPr/>
            </p:nvSpPr>
            <p:spPr>
              <a:xfrm>
                <a:off x="1555760" y="4557370"/>
                <a:ext cx="84125" cy="40234"/>
              </a:xfrm>
              <a:prstGeom prst="rect">
                <a:avLst/>
              </a:pr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85" name="Rectangle 15484"/>
              <p:cNvSpPr/>
              <p:nvPr/>
            </p:nvSpPr>
            <p:spPr>
              <a:xfrm>
                <a:off x="1816547" y="4484218"/>
                <a:ext cx="84125" cy="40234"/>
              </a:xfrm>
              <a:prstGeom prst="rect">
                <a:avLst/>
              </a:pr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86" name="Rectangle 15485"/>
              <p:cNvSpPr/>
              <p:nvPr/>
            </p:nvSpPr>
            <p:spPr>
              <a:xfrm>
                <a:off x="1816547" y="4557370"/>
                <a:ext cx="84125" cy="40234"/>
              </a:xfrm>
              <a:prstGeom prst="rect">
                <a:avLst/>
              </a:pr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87" name="Rectangle 15486"/>
              <p:cNvSpPr/>
              <p:nvPr/>
            </p:nvSpPr>
            <p:spPr>
              <a:xfrm>
                <a:off x="1677741" y="4498848"/>
                <a:ext cx="100950" cy="36576"/>
              </a:xfrm>
              <a:prstGeom prst="rect">
                <a:avLst/>
              </a:pr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88" name="Rectangle 15487"/>
              <p:cNvSpPr/>
              <p:nvPr/>
            </p:nvSpPr>
            <p:spPr>
              <a:xfrm>
                <a:off x="1692463" y="4586630"/>
                <a:ext cx="71506" cy="95098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9" name="Doctor illustration"/>
            <p:cNvGrpSpPr/>
            <p:nvPr/>
          </p:nvGrpSpPr>
          <p:grpSpPr>
            <a:xfrm>
              <a:off x="1164580" y="5176418"/>
              <a:ext cx="322600" cy="364846"/>
              <a:chOff x="1164580" y="5176418"/>
              <a:chExt cx="322600" cy="364846"/>
            </a:xfrm>
          </p:grpSpPr>
          <p:sp>
            <p:nvSpPr>
              <p:cNvPr id="30" name="Freeform 29"/>
              <p:cNvSpPr/>
              <p:nvPr/>
            </p:nvSpPr>
            <p:spPr>
              <a:xfrm>
                <a:off x="1164580" y="5358841"/>
                <a:ext cx="322600" cy="182423"/>
              </a:xfrm>
              <a:custGeom>
                <a:avLst/>
                <a:gdLst/>
                <a:ahLst/>
                <a:cxnLst/>
                <a:rect l="l" t="t" r="r" b="b"/>
                <a:pathLst>
                  <a:path w="322600" h="182423">
                    <a:moveTo>
                      <a:pt x="0" y="182423"/>
                    </a:moveTo>
                    <a:lnTo>
                      <a:pt x="7681" y="105613"/>
                    </a:lnTo>
                    <a:lnTo>
                      <a:pt x="30724" y="53767"/>
                    </a:lnTo>
                    <a:lnTo>
                      <a:pt x="69128" y="19203"/>
                    </a:lnTo>
                    <a:lnTo>
                      <a:pt x="122895" y="0"/>
                    </a:lnTo>
                    <a:lnTo>
                      <a:pt x="199705" y="0"/>
                    </a:lnTo>
                    <a:lnTo>
                      <a:pt x="253472" y="19203"/>
                    </a:lnTo>
                    <a:lnTo>
                      <a:pt x="291876" y="53767"/>
                    </a:lnTo>
                    <a:lnTo>
                      <a:pt x="314919" y="105613"/>
                    </a:lnTo>
                    <a:lnTo>
                      <a:pt x="322600" y="182423"/>
                    </a:lnTo>
                    <a:close/>
                  </a:path>
                </a:pathLst>
              </a:custGeom>
              <a:solidFill>
                <a:srgbClr val="FFFFFF"/>
              </a:solidFill>
              <a:ln w="12801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Freeform 30"/>
              <p:cNvSpPr/>
              <p:nvPr/>
            </p:nvSpPr>
            <p:spPr>
              <a:xfrm>
                <a:off x="1289395" y="5360761"/>
                <a:ext cx="72970" cy="69129"/>
              </a:xfrm>
              <a:custGeom>
                <a:avLst/>
                <a:gdLst/>
                <a:ahLst/>
                <a:cxnLst/>
                <a:rect l="l" t="t" r="r" b="b"/>
                <a:pathLst>
                  <a:path w="72970" h="69129">
                    <a:moveTo>
                      <a:pt x="0" y="0"/>
                    </a:moveTo>
                    <a:lnTo>
                      <a:pt x="72970" y="0"/>
                    </a:lnTo>
                    <a:lnTo>
                      <a:pt x="36485" y="69129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5489" name="Connector 15488"/>
              <p:cNvCxnSpPr/>
              <p:nvPr/>
            </p:nvCxnSpPr>
            <p:spPr>
              <a:xfrm>
                <a:off x="1287475" y="5360761"/>
                <a:ext cx="26884" cy="126736"/>
              </a:xfrm>
              <a:prstGeom prst="line">
                <a:avLst/>
              </a:prstGeom>
              <a:ln w="7680">
                <a:solidFill>
                  <a:srgbClr val="00336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90" name="Connector 15489"/>
              <p:cNvCxnSpPr/>
              <p:nvPr/>
            </p:nvCxnSpPr>
            <p:spPr>
              <a:xfrm flipH="1">
                <a:off x="1337401" y="5360761"/>
                <a:ext cx="26884" cy="126736"/>
              </a:xfrm>
              <a:prstGeom prst="line">
                <a:avLst/>
              </a:prstGeom>
              <a:ln w="7680">
                <a:solidFill>
                  <a:srgbClr val="00336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Freeform 31"/>
              <p:cNvSpPr/>
              <p:nvPr/>
            </p:nvSpPr>
            <p:spPr>
              <a:xfrm>
                <a:off x="1243310" y="5368442"/>
                <a:ext cx="32644" cy="96012"/>
              </a:xfrm>
              <a:custGeom>
                <a:avLst/>
                <a:gdLst/>
                <a:ahLst/>
                <a:cxnLst/>
                <a:rect l="l" t="t" r="r" b="b"/>
                <a:pathLst>
                  <a:path w="32644" h="96012">
                    <a:moveTo>
                      <a:pt x="32644" y="0"/>
                    </a:moveTo>
                    <a:lnTo>
                      <a:pt x="5760" y="34565"/>
                    </a:lnTo>
                    <a:lnTo>
                      <a:pt x="0" y="72970"/>
                    </a:lnTo>
                    <a:lnTo>
                      <a:pt x="9601" y="96012"/>
                    </a:lnTo>
                  </a:path>
                </a:pathLst>
              </a:custGeom>
              <a:noFill/>
              <a:ln w="12801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91" name="Oval 15490"/>
              <p:cNvSpPr/>
              <p:nvPr/>
            </p:nvSpPr>
            <p:spPr>
              <a:xfrm>
                <a:off x="1233708" y="5454853"/>
                <a:ext cx="42245" cy="42245"/>
              </a:xfrm>
              <a:prstGeom prst="ellipse">
                <a:avLst/>
              </a:prstGeom>
              <a:solidFill>
                <a:srgbClr val="0070C0"/>
              </a:solidFill>
              <a:ln w="7680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92" name="Cross 15491"/>
              <p:cNvSpPr/>
              <p:nvPr/>
            </p:nvSpPr>
            <p:spPr>
              <a:xfrm>
                <a:off x="1385407" y="5443332"/>
                <a:ext cx="42245" cy="42245"/>
              </a:xfrm>
              <a:prstGeom prst="plus">
                <a:avLst>
                  <a:gd name="adj" fmla="val 30000"/>
                </a:avLst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93" name="Oval 15492"/>
              <p:cNvSpPr/>
              <p:nvPr/>
            </p:nvSpPr>
            <p:spPr>
              <a:xfrm>
                <a:off x="1256751" y="5176418"/>
                <a:ext cx="138257" cy="157460"/>
              </a:xfrm>
              <a:prstGeom prst="ellipse">
                <a:avLst/>
              </a:prstGeom>
              <a:solidFill>
                <a:srgbClr val="FFFFFF"/>
              </a:solidFill>
              <a:ln w="12801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5494" name="TextBox 15493"/>
            <p:cNvSpPr txBox="1"/>
            <p:nvPr/>
          </p:nvSpPr>
          <p:spPr>
            <a:xfrm>
              <a:off x="640080" y="5687568"/>
              <a:ext cx="1371600" cy="3108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800" b="1" i="1">
                  <a:solidFill>
                    <a:srgbClr val="B91C1C"/>
                  </a:solidFill>
                  <a:latin typeface="Arial"/>
                </a:rPr>
                <a:t>Isolated calls, no shared picture</a:t>
              </a:r>
            </a:p>
          </p:txBody>
        </p:sp>
      </p:grpSp>
      <p:grpSp>
        <p:nvGrpSpPr>
          <p:cNvPr id="33" name="Connected care illustration"/>
          <p:cNvGrpSpPr/>
          <p:nvPr/>
        </p:nvGrpSpPr>
        <p:grpSpPr>
          <a:xfrm>
            <a:off x="6291072" y="4345229"/>
            <a:ext cx="1371600" cy="1653235"/>
            <a:chOff x="6291072" y="4345229"/>
            <a:chExt cx="1371600" cy="1653235"/>
          </a:xfrm>
        </p:grpSpPr>
        <p:cxnSp>
          <p:nvCxnSpPr>
            <p:cNvPr id="15495" name="Connector 15494"/>
            <p:cNvCxnSpPr/>
            <p:nvPr/>
          </p:nvCxnSpPr>
          <p:spPr>
            <a:xfrm flipH="1" flipV="1">
              <a:off x="6640830" y="4507992"/>
              <a:ext cx="345186" cy="32004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96" name="Connector 15495"/>
            <p:cNvCxnSpPr/>
            <p:nvPr/>
          </p:nvCxnSpPr>
          <p:spPr>
            <a:xfrm flipV="1">
              <a:off x="6986016" y="4517136"/>
              <a:ext cx="393192" cy="310896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97" name="Connector 15496"/>
            <p:cNvCxnSpPr/>
            <p:nvPr/>
          </p:nvCxnSpPr>
          <p:spPr>
            <a:xfrm flipH="1">
              <a:off x="6976872" y="4828032"/>
              <a:ext cx="9144" cy="530352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Ambulance illustration"/>
            <p:cNvGrpSpPr/>
            <p:nvPr/>
          </p:nvGrpSpPr>
          <p:grpSpPr>
            <a:xfrm>
              <a:off x="6400800" y="4379062"/>
              <a:ext cx="480060" cy="256489"/>
              <a:chOff x="6400800" y="4379062"/>
              <a:chExt cx="480060" cy="256489"/>
            </a:xfrm>
          </p:grpSpPr>
          <p:sp>
            <p:nvSpPr>
              <p:cNvPr id="15498" name="Rounded Rectangle 15497"/>
              <p:cNvSpPr/>
              <p:nvPr/>
            </p:nvSpPr>
            <p:spPr>
              <a:xfrm>
                <a:off x="6540017" y="4379062"/>
                <a:ext cx="62408" cy="30175"/>
              </a:xfrm>
              <a:prstGeom prst="roundRect">
                <a:avLst>
                  <a:gd name="adj" fmla="val 30000"/>
                </a:avLst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99" name="Rounded Rectangle 15498"/>
              <p:cNvSpPr/>
              <p:nvPr/>
            </p:nvSpPr>
            <p:spPr>
              <a:xfrm>
                <a:off x="6400800" y="4406494"/>
                <a:ext cx="309639" cy="183794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Freeform 34"/>
              <p:cNvSpPr/>
              <p:nvPr/>
            </p:nvSpPr>
            <p:spPr>
              <a:xfrm>
                <a:off x="6698437" y="4455871"/>
                <a:ext cx="182423" cy="134417"/>
              </a:xfrm>
              <a:custGeom>
                <a:avLst/>
                <a:gdLst/>
                <a:ahLst/>
                <a:cxnLst/>
                <a:rect l="l" t="t" r="r" b="b"/>
                <a:pathLst>
                  <a:path w="182423" h="134417">
                    <a:moveTo>
                      <a:pt x="0" y="0"/>
                    </a:moveTo>
                    <a:lnTo>
                      <a:pt x="86411" y="0"/>
                    </a:lnTo>
                    <a:lnTo>
                      <a:pt x="160820" y="57607"/>
                    </a:lnTo>
                    <a:lnTo>
                      <a:pt x="182423" y="68580"/>
                    </a:lnTo>
                    <a:lnTo>
                      <a:pt x="182423" y="134417"/>
                    </a:lnTo>
                    <a:lnTo>
                      <a:pt x="0" y="13441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Freeform 35"/>
              <p:cNvSpPr/>
              <p:nvPr/>
            </p:nvSpPr>
            <p:spPr>
              <a:xfrm>
                <a:off x="6727241" y="4473702"/>
                <a:ext cx="103213" cy="42520"/>
              </a:xfrm>
              <a:custGeom>
                <a:avLst/>
                <a:gdLst/>
                <a:ahLst/>
                <a:cxnLst/>
                <a:rect l="l" t="t" r="r" b="b"/>
                <a:pathLst>
                  <a:path w="103213" h="42520">
                    <a:moveTo>
                      <a:pt x="0" y="0"/>
                    </a:moveTo>
                    <a:lnTo>
                      <a:pt x="50406" y="0"/>
                    </a:lnTo>
                    <a:lnTo>
                      <a:pt x="103213" y="42520"/>
                    </a:lnTo>
                    <a:lnTo>
                      <a:pt x="0" y="42520"/>
                    </a:lnTo>
                    <a:close/>
                  </a:path>
                </a:pathLst>
              </a:cu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00" name="Rectangle 15499"/>
              <p:cNvSpPr/>
              <p:nvPr/>
            </p:nvSpPr>
            <p:spPr>
              <a:xfrm>
                <a:off x="6403680" y="4535424"/>
                <a:ext cx="474299" cy="17831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01" name="Cross 15500"/>
              <p:cNvSpPr/>
              <p:nvPr/>
            </p:nvSpPr>
            <p:spPr>
              <a:xfrm>
                <a:off x="6513271" y="4431182"/>
                <a:ext cx="82296" cy="82296"/>
              </a:xfrm>
              <a:prstGeom prst="plus">
                <a:avLst>
                  <a:gd name="adj" fmla="val 30000"/>
                </a:avLst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02" name="Oval 15501"/>
              <p:cNvSpPr/>
              <p:nvPr/>
            </p:nvSpPr>
            <p:spPr>
              <a:xfrm>
                <a:off x="6457036" y="4555998"/>
                <a:ext cx="79553" cy="79553"/>
              </a:xfrm>
              <a:prstGeom prst="ellipse">
                <a:avLst/>
              </a:prstGeom>
              <a:solidFill>
                <a:srgbClr val="003366"/>
              </a:solidFill>
              <a:ln w="952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03" name="Oval 15502"/>
              <p:cNvSpPr/>
              <p:nvPr/>
            </p:nvSpPr>
            <p:spPr>
              <a:xfrm>
                <a:off x="6481724" y="4580687"/>
                <a:ext cx="30175" cy="3017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04" name="Oval 15503"/>
              <p:cNvSpPr/>
              <p:nvPr/>
            </p:nvSpPr>
            <p:spPr>
              <a:xfrm>
                <a:off x="6740271" y="4555998"/>
                <a:ext cx="79553" cy="79553"/>
              </a:xfrm>
              <a:prstGeom prst="ellipse">
                <a:avLst/>
              </a:prstGeom>
              <a:solidFill>
                <a:srgbClr val="003366"/>
              </a:solidFill>
              <a:ln w="952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05" name="Oval 15504"/>
              <p:cNvSpPr/>
              <p:nvPr/>
            </p:nvSpPr>
            <p:spPr>
              <a:xfrm>
                <a:off x="6764960" y="4580687"/>
                <a:ext cx="30175" cy="3017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7" name="Hospital illustration"/>
            <p:cNvGrpSpPr/>
            <p:nvPr/>
          </p:nvGrpSpPr>
          <p:grpSpPr>
            <a:xfrm>
              <a:off x="7177308" y="4345229"/>
              <a:ext cx="403799" cy="336499"/>
              <a:chOff x="7177308" y="4345229"/>
              <a:chExt cx="403799" cy="336499"/>
            </a:xfrm>
          </p:grpSpPr>
          <p:sp>
            <p:nvSpPr>
              <p:cNvPr id="15506" name="Rectangle 15505"/>
              <p:cNvSpPr/>
              <p:nvPr/>
            </p:nvSpPr>
            <p:spPr>
              <a:xfrm>
                <a:off x="7177308" y="4447642"/>
                <a:ext cx="143012" cy="234086"/>
              </a:xfrm>
              <a:prstGeom prst="rect">
                <a:avLst/>
              </a:prstGeom>
              <a:solidFill>
                <a:srgbClr val="FFFFFF"/>
              </a:solidFill>
              <a:ln w="12192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07" name="Rectangle 15506"/>
              <p:cNvSpPr/>
              <p:nvPr/>
            </p:nvSpPr>
            <p:spPr>
              <a:xfrm>
                <a:off x="7438095" y="4447642"/>
                <a:ext cx="143012" cy="234086"/>
              </a:xfrm>
              <a:prstGeom prst="rect">
                <a:avLst/>
              </a:prstGeom>
              <a:solidFill>
                <a:srgbClr val="FFFFFF"/>
              </a:solidFill>
              <a:ln w="12192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08" name="Rectangle 15507"/>
              <p:cNvSpPr/>
              <p:nvPr/>
            </p:nvSpPr>
            <p:spPr>
              <a:xfrm>
                <a:off x="7295083" y="4345229"/>
                <a:ext cx="168250" cy="336499"/>
              </a:xfrm>
              <a:prstGeom prst="rect">
                <a:avLst/>
              </a:prstGeom>
              <a:solidFill>
                <a:srgbClr val="FFFFFF"/>
              </a:solidFill>
              <a:ln w="12192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09" name="Cross 15508"/>
              <p:cNvSpPr/>
              <p:nvPr/>
            </p:nvSpPr>
            <p:spPr>
              <a:xfrm>
                <a:off x="7333488" y="4369003"/>
                <a:ext cx="91440" cy="91440"/>
              </a:xfrm>
              <a:prstGeom prst="plus">
                <a:avLst>
                  <a:gd name="adj" fmla="val 30000"/>
                </a:avLst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10" name="Rectangle 15509"/>
              <p:cNvSpPr/>
              <p:nvPr/>
            </p:nvSpPr>
            <p:spPr>
              <a:xfrm>
                <a:off x="7206752" y="4484218"/>
                <a:ext cx="84125" cy="40234"/>
              </a:xfrm>
              <a:prstGeom prst="rect">
                <a:avLst/>
              </a:pr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11" name="Rectangle 15510"/>
              <p:cNvSpPr/>
              <p:nvPr/>
            </p:nvSpPr>
            <p:spPr>
              <a:xfrm>
                <a:off x="7206752" y="4557370"/>
                <a:ext cx="84125" cy="40234"/>
              </a:xfrm>
              <a:prstGeom prst="rect">
                <a:avLst/>
              </a:pr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12" name="Rectangle 15511"/>
              <p:cNvSpPr/>
              <p:nvPr/>
            </p:nvSpPr>
            <p:spPr>
              <a:xfrm>
                <a:off x="7467539" y="4484218"/>
                <a:ext cx="84125" cy="40234"/>
              </a:xfrm>
              <a:prstGeom prst="rect">
                <a:avLst/>
              </a:pr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13" name="Rectangle 15512"/>
              <p:cNvSpPr/>
              <p:nvPr/>
            </p:nvSpPr>
            <p:spPr>
              <a:xfrm>
                <a:off x="7467539" y="4557370"/>
                <a:ext cx="84125" cy="40234"/>
              </a:xfrm>
              <a:prstGeom prst="rect">
                <a:avLst/>
              </a:pr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14" name="Rectangle 15513"/>
              <p:cNvSpPr/>
              <p:nvPr/>
            </p:nvSpPr>
            <p:spPr>
              <a:xfrm>
                <a:off x="7328733" y="4498848"/>
                <a:ext cx="100950" cy="36576"/>
              </a:xfrm>
              <a:prstGeom prst="rect">
                <a:avLst/>
              </a:pr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15" name="Rectangle 15514"/>
              <p:cNvSpPr/>
              <p:nvPr/>
            </p:nvSpPr>
            <p:spPr>
              <a:xfrm>
                <a:off x="7343455" y="4586630"/>
                <a:ext cx="71506" cy="95098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8" name="Doctor illustration"/>
            <p:cNvGrpSpPr/>
            <p:nvPr/>
          </p:nvGrpSpPr>
          <p:grpSpPr>
            <a:xfrm>
              <a:off x="6815572" y="5176418"/>
              <a:ext cx="322600" cy="364846"/>
              <a:chOff x="6815572" y="5176418"/>
              <a:chExt cx="322600" cy="364846"/>
            </a:xfrm>
          </p:grpSpPr>
          <p:sp>
            <p:nvSpPr>
              <p:cNvPr id="39" name="Freeform 38"/>
              <p:cNvSpPr/>
              <p:nvPr/>
            </p:nvSpPr>
            <p:spPr>
              <a:xfrm>
                <a:off x="6815572" y="5358841"/>
                <a:ext cx="322600" cy="182423"/>
              </a:xfrm>
              <a:custGeom>
                <a:avLst/>
                <a:gdLst/>
                <a:ahLst/>
                <a:cxnLst/>
                <a:rect l="l" t="t" r="r" b="b"/>
                <a:pathLst>
                  <a:path w="322600" h="182423">
                    <a:moveTo>
                      <a:pt x="0" y="182423"/>
                    </a:moveTo>
                    <a:lnTo>
                      <a:pt x="7681" y="105613"/>
                    </a:lnTo>
                    <a:lnTo>
                      <a:pt x="30724" y="53767"/>
                    </a:lnTo>
                    <a:lnTo>
                      <a:pt x="69128" y="19203"/>
                    </a:lnTo>
                    <a:lnTo>
                      <a:pt x="122895" y="0"/>
                    </a:lnTo>
                    <a:lnTo>
                      <a:pt x="199705" y="0"/>
                    </a:lnTo>
                    <a:lnTo>
                      <a:pt x="253472" y="19203"/>
                    </a:lnTo>
                    <a:lnTo>
                      <a:pt x="291876" y="53767"/>
                    </a:lnTo>
                    <a:lnTo>
                      <a:pt x="314919" y="105613"/>
                    </a:lnTo>
                    <a:lnTo>
                      <a:pt x="322600" y="182423"/>
                    </a:lnTo>
                    <a:close/>
                  </a:path>
                </a:pathLst>
              </a:custGeom>
              <a:solidFill>
                <a:srgbClr val="FFFFFF"/>
              </a:solidFill>
              <a:ln w="12801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Freeform 39"/>
              <p:cNvSpPr/>
              <p:nvPr/>
            </p:nvSpPr>
            <p:spPr>
              <a:xfrm>
                <a:off x="6940387" y="5360761"/>
                <a:ext cx="72970" cy="69129"/>
              </a:xfrm>
              <a:custGeom>
                <a:avLst/>
                <a:gdLst/>
                <a:ahLst/>
                <a:cxnLst/>
                <a:rect l="l" t="t" r="r" b="b"/>
                <a:pathLst>
                  <a:path w="72970" h="69129">
                    <a:moveTo>
                      <a:pt x="0" y="0"/>
                    </a:moveTo>
                    <a:lnTo>
                      <a:pt x="72970" y="0"/>
                    </a:lnTo>
                    <a:lnTo>
                      <a:pt x="36485" y="69129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5516" name="Connector 15515"/>
              <p:cNvCxnSpPr/>
              <p:nvPr/>
            </p:nvCxnSpPr>
            <p:spPr>
              <a:xfrm>
                <a:off x="6938467" y="5360761"/>
                <a:ext cx="26884" cy="126736"/>
              </a:xfrm>
              <a:prstGeom prst="line">
                <a:avLst/>
              </a:prstGeom>
              <a:ln w="7680">
                <a:solidFill>
                  <a:srgbClr val="00336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17" name="Connector 15516"/>
              <p:cNvCxnSpPr/>
              <p:nvPr/>
            </p:nvCxnSpPr>
            <p:spPr>
              <a:xfrm flipH="1">
                <a:off x="6988393" y="5360761"/>
                <a:ext cx="26884" cy="126736"/>
              </a:xfrm>
              <a:prstGeom prst="line">
                <a:avLst/>
              </a:prstGeom>
              <a:ln w="7680">
                <a:solidFill>
                  <a:srgbClr val="00336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Freeform 40"/>
              <p:cNvSpPr/>
              <p:nvPr/>
            </p:nvSpPr>
            <p:spPr>
              <a:xfrm>
                <a:off x="6894302" y="5368442"/>
                <a:ext cx="32644" cy="96012"/>
              </a:xfrm>
              <a:custGeom>
                <a:avLst/>
                <a:gdLst/>
                <a:ahLst/>
                <a:cxnLst/>
                <a:rect l="l" t="t" r="r" b="b"/>
                <a:pathLst>
                  <a:path w="32644" h="96012">
                    <a:moveTo>
                      <a:pt x="32644" y="0"/>
                    </a:moveTo>
                    <a:lnTo>
                      <a:pt x="5760" y="34565"/>
                    </a:lnTo>
                    <a:lnTo>
                      <a:pt x="0" y="72970"/>
                    </a:lnTo>
                    <a:lnTo>
                      <a:pt x="9601" y="96012"/>
                    </a:lnTo>
                  </a:path>
                </a:pathLst>
              </a:custGeom>
              <a:noFill/>
              <a:ln w="12801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18" name="Oval 15517"/>
              <p:cNvSpPr/>
              <p:nvPr/>
            </p:nvSpPr>
            <p:spPr>
              <a:xfrm>
                <a:off x="6884700" y="5454853"/>
                <a:ext cx="42245" cy="42245"/>
              </a:xfrm>
              <a:prstGeom prst="ellipse">
                <a:avLst/>
              </a:prstGeom>
              <a:solidFill>
                <a:srgbClr val="0070C0"/>
              </a:solidFill>
              <a:ln w="7680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19" name="Cross 15518"/>
              <p:cNvSpPr/>
              <p:nvPr/>
            </p:nvSpPr>
            <p:spPr>
              <a:xfrm>
                <a:off x="7036399" y="5443332"/>
                <a:ext cx="42245" cy="42245"/>
              </a:xfrm>
              <a:prstGeom prst="plus">
                <a:avLst>
                  <a:gd name="adj" fmla="val 30000"/>
                </a:avLst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20" name="Oval 15519"/>
              <p:cNvSpPr/>
              <p:nvPr/>
            </p:nvSpPr>
            <p:spPr>
              <a:xfrm>
                <a:off x="6907743" y="5176418"/>
                <a:ext cx="138257" cy="157460"/>
              </a:xfrm>
              <a:prstGeom prst="ellipse">
                <a:avLst/>
              </a:prstGeom>
              <a:solidFill>
                <a:srgbClr val="FFFFFF"/>
              </a:solidFill>
              <a:ln w="12801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5521" name="JIVA hub"/>
            <p:cNvSpPr/>
            <p:nvPr/>
          </p:nvSpPr>
          <p:spPr>
            <a:xfrm>
              <a:off x="6803136" y="4668926"/>
              <a:ext cx="365760" cy="318211"/>
            </a:xfrm>
            <a:prstGeom prst="hexagon">
              <a:avLst/>
            </a:prstGeom>
            <a:solidFill>
              <a:srgbClr val="003366"/>
            </a:solidFill>
            <a:ln w="158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8288" tIns="0" rIns="18288" bIns="0">
              <a:noAutofit/>
            </a:bodyPr>
            <a:lstStyle/>
            <a:p>
              <a:pPr algn="ctr"/>
              <a:r>
                <a:rPr sz="700" b="1" i="0">
                  <a:solidFill>
                    <a:srgbClr val="FFFFFF"/>
                  </a:solidFill>
                  <a:latin typeface="Arial"/>
                </a:rPr>
                <a:t>JIVA</a:t>
              </a:r>
            </a:p>
          </p:txBody>
        </p:sp>
        <p:sp>
          <p:nvSpPr>
            <p:cNvPr id="15522" name="TextBox 15521"/>
            <p:cNvSpPr txBox="1"/>
            <p:nvPr/>
          </p:nvSpPr>
          <p:spPr>
            <a:xfrm>
              <a:off x="6291072" y="5687568"/>
              <a:ext cx="1371600" cy="3108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800" b="1" i="1">
                  <a:solidFill>
                    <a:srgbClr val="15803D"/>
                  </a:solidFill>
                  <a:latin typeface="Arial"/>
                </a:rPr>
                <a:t>One shared, timestamped state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TECHNICAL APPROACH &amp;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143000"/>
            <a:ext cx="11091672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731520" y="11887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SYSTEM ARCHITECTURE: Hybrid Local-to-Cloud Event-Driven Mesh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48640" y="4389120"/>
            <a:ext cx="11091672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731520" y="443484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03366"/>
                </a:solidFill>
                <a:latin typeface="Arial"/>
              </a:defRPr>
            </a:pPr>
            <a:r>
              <a:t>IMPLEMENTATION METHODOLOGY &amp; AUTOMATED VERIFICATION BASELINE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731520" y="4736592"/>
            <a:ext cx="1737360" cy="6949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buNone/>
            </a:pPr>
            <a:r>
              <a:rPr sz="1000" b="1">
                <a:solidFill>
                  <a:srgbClr val="0070C0"/>
                </a:solidFill>
                <a:latin typeface="Arial"/>
              </a:rPr>
              <a:t>Phase 1: Ingestion
</a:t>
            </a:r>
            <a:r>
              <a:rPr sz="850">
                <a:solidFill>
                  <a:srgbClr val="4B5563"/>
                </a:solidFill>
                <a:latin typeface="Arial"/>
              </a:rPr>
              <a:t>Zod schemas, event bus, &amp; role contracts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2537460" y="4736592"/>
            <a:ext cx="1737360" cy="6949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buNone/>
            </a:pPr>
            <a:r>
              <a:rPr sz="1000" b="1">
                <a:solidFill>
                  <a:srgbClr val="0070C0"/>
                </a:solidFill>
                <a:latin typeface="Arial"/>
              </a:rPr>
              <a:t>Phase 2: Acceptance
</a:t>
            </a:r>
            <a:r>
              <a:rPr sz="850">
                <a:solidFill>
                  <a:srgbClr val="4B5563"/>
                </a:solidFill>
                <a:latin typeface="Arial"/>
              </a:rPr>
              <a:t>Case-scoped requests &amp; timeout SLA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343400" y="4736592"/>
            <a:ext cx="1737360" cy="6949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buNone/>
            </a:pPr>
            <a:r>
              <a:rPr sz="1000" b="1">
                <a:solidFill>
                  <a:srgbClr val="0070C0"/>
                </a:solidFill>
                <a:latin typeface="Arial"/>
              </a:rPr>
              <a:t>Phase 3: Dynamic Reroute
</a:t>
            </a:r>
            <a:r>
              <a:rPr sz="850">
                <a:solidFill>
                  <a:srgbClr val="4B5563"/>
                </a:solidFill>
                <a:latin typeface="Arial"/>
              </a:rPr>
              <a:t>Auto-rerouting upon hospital degradation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149340" y="4736592"/>
            <a:ext cx="1737360" cy="6949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buNone/>
            </a:pPr>
            <a:r>
              <a:rPr sz="1000" b="1">
                <a:solidFill>
                  <a:srgbClr val="0070C0"/>
                </a:solidFill>
                <a:latin typeface="Arial"/>
              </a:rPr>
              <a:t>Phase 4: Multi-App Mesh
</a:t>
            </a:r>
            <a:r>
              <a:rPr sz="850">
                <a:solidFill>
                  <a:srgbClr val="4B5563"/>
                </a:solidFill>
                <a:latin typeface="Arial"/>
              </a:rPr>
              <a:t>4 role-scoped apps + Live Demo portal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731520" y="5486400"/>
            <a:ext cx="3383280" cy="5486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buNone/>
            </a:pPr>
            <a:r>
              <a:rPr sz="900" b="1">
                <a:solidFill>
                  <a:srgbClr val="15803D"/>
                </a:solidFill>
                <a:latin typeface="Arial"/>
              </a:rPr>
              <a:t>✔ 124/124 Runtime Checks Passing
Flagship simulation &amp; parity verified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389120" y="5486400"/>
            <a:ext cx="3383280" cy="5486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buNone/>
            </a:pPr>
            <a:r>
              <a:rPr sz="900" b="1">
                <a:solidFill>
                  <a:srgbClr val="15803D"/>
                </a:solidFill>
                <a:latin typeface="Arial"/>
              </a:rPr>
              <a:t>✔ 25 Unit Test Suites Verified
Domain, transit, &amp; auth coverage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8046720" y="5486400"/>
            <a:ext cx="3566160" cy="5486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buNone/>
            </a:pPr>
            <a:r>
              <a:rPr sz="900" b="1">
                <a:solidFill>
                  <a:srgbClr val="15803D"/>
                </a:solidFill>
                <a:latin typeface="Arial"/>
              </a:rPr>
              <a:t>✔ 7 Lambda Bundles &amp; CDK Synth
esbuild compiled &amp; cleanly synthesized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731520" y="1499616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1" i="0">
                <a:solidFill>
                  <a:srgbClr val="0070C0"/>
                </a:solidFill>
                <a:latin typeface="Arial"/>
              </a:rPr>
              <a:t>ROLE-SCOPED INTERFACES · React 19 + Vite</a:t>
            </a:r>
          </a:p>
        </p:txBody>
      </p:sp>
      <p:sp>
        <p:nvSpPr>
          <p:cNvPr id="17430" name="Ambulance interface"/>
          <p:cNvSpPr/>
          <p:nvPr/>
        </p:nvSpPr>
        <p:spPr>
          <a:xfrm>
            <a:off x="731520" y="1700784"/>
            <a:ext cx="2057400" cy="338328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5488" tIns="0" rIns="36576" bIns="0">
            <a:noAutofit/>
          </a:bodyPr>
          <a:lstStyle/>
          <a:p>
            <a:pPr algn="l"/>
            <a:r>
              <a:rPr sz="900" b="1" i="0">
                <a:solidFill>
                  <a:srgbClr val="003366"/>
                </a:solidFill>
                <a:latin typeface="Arial"/>
              </a:rPr>
              <a:t>Ambulance</a:t>
            </a:r>
            <a:r>
              <a:rPr sz="750" b="0" i="0">
                <a:solidFill>
                  <a:srgbClr val="4B5563"/>
                </a:solidFill>
                <a:latin typeface="Arial"/>
              </a:rPr>
              <a:t>  :5174</a:t>
            </a:r>
          </a:p>
          <a:p>
            <a:pPr algn="l"/>
            <a:r>
              <a:rPr sz="750" b="0" i="0">
                <a:solidFill>
                  <a:srgbClr val="4B5563"/>
                </a:solidFill>
                <a:latin typeface="Arial"/>
              </a:rPr>
              <a:t>crew intake, route</a:t>
            </a:r>
          </a:p>
        </p:txBody>
      </p:sp>
      <p:grpSp>
        <p:nvGrpSpPr>
          <p:cNvPr id="2" name="Ambulance illustration"/>
          <p:cNvGrpSpPr/>
          <p:nvPr/>
        </p:nvGrpSpPr>
        <p:grpSpPr>
          <a:xfrm>
            <a:off x="786384" y="1779422"/>
            <a:ext cx="320040" cy="170993"/>
            <a:chOff x="786384" y="1779422"/>
            <a:chExt cx="320040" cy="170993"/>
          </a:xfrm>
        </p:grpSpPr>
        <p:sp>
          <p:nvSpPr>
            <p:cNvPr id="17431" name="Rounded Rectangle 17430"/>
            <p:cNvSpPr/>
            <p:nvPr/>
          </p:nvSpPr>
          <p:spPr>
            <a:xfrm>
              <a:off x="879196" y="1779422"/>
              <a:ext cx="41605" cy="20117"/>
            </a:xfrm>
            <a:prstGeom prst="roundRect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2" name="Rounded Rectangle 17431"/>
            <p:cNvSpPr/>
            <p:nvPr/>
          </p:nvSpPr>
          <p:spPr>
            <a:xfrm>
              <a:off x="786384" y="1797710"/>
              <a:ext cx="206426" cy="12253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Freeform 2"/>
            <p:cNvSpPr/>
            <p:nvPr/>
          </p:nvSpPr>
          <p:spPr>
            <a:xfrm>
              <a:off x="984809" y="1830629"/>
              <a:ext cx="121615" cy="89611"/>
            </a:xfrm>
            <a:custGeom>
              <a:avLst/>
              <a:gdLst/>
              <a:ahLst/>
              <a:cxnLst/>
              <a:rect l="l" t="t" r="r" b="b"/>
              <a:pathLst>
                <a:path w="121615" h="89611">
                  <a:moveTo>
                    <a:pt x="0" y="0"/>
                  </a:moveTo>
                  <a:lnTo>
                    <a:pt x="57607" y="0"/>
                  </a:lnTo>
                  <a:lnTo>
                    <a:pt x="107213" y="38405"/>
                  </a:lnTo>
                  <a:lnTo>
                    <a:pt x="121615" y="45720"/>
                  </a:lnTo>
                  <a:lnTo>
                    <a:pt x="121615" y="89611"/>
                  </a:lnTo>
                  <a:lnTo>
                    <a:pt x="0" y="89611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1004011" y="1842516"/>
              <a:ext cx="68809" cy="28346"/>
            </a:xfrm>
            <a:custGeom>
              <a:avLst/>
              <a:gdLst/>
              <a:ahLst/>
              <a:cxnLst/>
              <a:rect l="l" t="t" r="r" b="b"/>
              <a:pathLst>
                <a:path w="68809" h="28346">
                  <a:moveTo>
                    <a:pt x="0" y="0"/>
                  </a:moveTo>
                  <a:lnTo>
                    <a:pt x="33604" y="0"/>
                  </a:lnTo>
                  <a:lnTo>
                    <a:pt x="68809" y="28346"/>
                  </a:lnTo>
                  <a:lnTo>
                    <a:pt x="0" y="28346"/>
                  </a:lnTo>
                  <a:close/>
                </a:path>
              </a:pathLst>
            </a:cu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3" name="Rectangle 17432"/>
            <p:cNvSpPr/>
            <p:nvPr/>
          </p:nvSpPr>
          <p:spPr>
            <a:xfrm>
              <a:off x="788304" y="1883664"/>
              <a:ext cx="316200" cy="1188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4" name="Cross 17433"/>
            <p:cNvSpPr/>
            <p:nvPr/>
          </p:nvSpPr>
          <p:spPr>
            <a:xfrm>
              <a:off x="861365" y="1814170"/>
              <a:ext cx="54864" cy="54864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5" name="Oval 17434"/>
            <p:cNvSpPr/>
            <p:nvPr/>
          </p:nvSpPr>
          <p:spPr>
            <a:xfrm>
              <a:off x="823874" y="1897380"/>
              <a:ext cx="53035" cy="53035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6" name="Oval 17435"/>
            <p:cNvSpPr/>
            <p:nvPr/>
          </p:nvSpPr>
          <p:spPr>
            <a:xfrm>
              <a:off x="840334" y="1913839"/>
              <a:ext cx="20117" cy="201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7" name="Oval 17436"/>
            <p:cNvSpPr/>
            <p:nvPr/>
          </p:nvSpPr>
          <p:spPr>
            <a:xfrm>
              <a:off x="1012698" y="1897380"/>
              <a:ext cx="53035" cy="53035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8" name="Oval 17437"/>
            <p:cNvSpPr/>
            <p:nvPr/>
          </p:nvSpPr>
          <p:spPr>
            <a:xfrm>
              <a:off x="1029157" y="1913839"/>
              <a:ext cx="20117" cy="201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439" name="Hospital interface"/>
          <p:cNvSpPr/>
          <p:nvPr/>
        </p:nvSpPr>
        <p:spPr>
          <a:xfrm>
            <a:off x="731520" y="2075688"/>
            <a:ext cx="2057400" cy="338328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5488" tIns="0" rIns="36576" bIns="0">
            <a:noAutofit/>
          </a:bodyPr>
          <a:lstStyle/>
          <a:p>
            <a:pPr algn="l"/>
            <a:r>
              <a:rPr sz="900" b="1" i="0">
                <a:solidFill>
                  <a:srgbClr val="003366"/>
                </a:solidFill>
                <a:latin typeface="Arial"/>
              </a:rPr>
              <a:t>Hospital</a:t>
            </a:r>
            <a:r>
              <a:rPr sz="750" b="0" i="0">
                <a:solidFill>
                  <a:srgbClr val="4B5563"/>
                </a:solidFill>
                <a:latin typeface="Arial"/>
              </a:rPr>
              <a:t>  :5175</a:t>
            </a:r>
          </a:p>
          <a:p>
            <a:pPr algn="l"/>
            <a:r>
              <a:rPr sz="750" b="0" i="0">
                <a:solidFill>
                  <a:srgbClr val="4B5563"/>
                </a:solidFill>
                <a:latin typeface="Arial"/>
              </a:rPr>
              <a:t>referral answers, capacity</a:t>
            </a:r>
          </a:p>
        </p:txBody>
      </p:sp>
      <p:grpSp>
        <p:nvGrpSpPr>
          <p:cNvPr id="5" name="Hospital illustration"/>
          <p:cNvGrpSpPr/>
          <p:nvPr/>
        </p:nvGrpSpPr>
        <p:grpSpPr>
          <a:xfrm>
            <a:off x="847137" y="2132747"/>
            <a:ext cx="282660" cy="235549"/>
            <a:chOff x="847137" y="2132747"/>
            <a:chExt cx="282660" cy="235549"/>
          </a:xfrm>
        </p:grpSpPr>
        <p:sp>
          <p:nvSpPr>
            <p:cNvPr id="17440" name="Rectangle 17439"/>
            <p:cNvSpPr/>
            <p:nvPr/>
          </p:nvSpPr>
          <p:spPr>
            <a:xfrm>
              <a:off x="847137" y="2204436"/>
              <a:ext cx="100109" cy="163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1" name="Rectangle 17440"/>
            <p:cNvSpPr/>
            <p:nvPr/>
          </p:nvSpPr>
          <p:spPr>
            <a:xfrm>
              <a:off x="1029688" y="2204436"/>
              <a:ext cx="100109" cy="163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2" name="Rectangle 17441"/>
            <p:cNvSpPr/>
            <p:nvPr/>
          </p:nvSpPr>
          <p:spPr>
            <a:xfrm>
              <a:off x="929579" y="2132747"/>
              <a:ext cx="117775" cy="2355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3" name="Cross 17442"/>
            <p:cNvSpPr/>
            <p:nvPr/>
          </p:nvSpPr>
          <p:spPr>
            <a:xfrm>
              <a:off x="956462" y="2149389"/>
              <a:ext cx="64008" cy="64008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4" name="Rectangle 17443"/>
            <p:cNvSpPr/>
            <p:nvPr/>
          </p:nvSpPr>
          <p:spPr>
            <a:xfrm>
              <a:off x="867747" y="2230039"/>
              <a:ext cx="58887" cy="2816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5" name="Rectangle 17444"/>
            <p:cNvSpPr/>
            <p:nvPr/>
          </p:nvSpPr>
          <p:spPr>
            <a:xfrm>
              <a:off x="867747" y="2281245"/>
              <a:ext cx="58887" cy="2816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6" name="Rectangle 17445"/>
            <p:cNvSpPr/>
            <p:nvPr/>
          </p:nvSpPr>
          <p:spPr>
            <a:xfrm>
              <a:off x="1050298" y="2230039"/>
              <a:ext cx="58887" cy="2816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7" name="Rectangle 17446"/>
            <p:cNvSpPr/>
            <p:nvPr/>
          </p:nvSpPr>
          <p:spPr>
            <a:xfrm>
              <a:off x="1050298" y="2281245"/>
              <a:ext cx="58887" cy="2816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8" name="Rectangle 17447"/>
            <p:cNvSpPr/>
            <p:nvPr/>
          </p:nvSpPr>
          <p:spPr>
            <a:xfrm>
              <a:off x="953134" y="2240280"/>
              <a:ext cx="70665" cy="25603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9" name="Rectangle 17448"/>
            <p:cNvSpPr/>
            <p:nvPr/>
          </p:nvSpPr>
          <p:spPr>
            <a:xfrm>
              <a:off x="963439" y="2301728"/>
              <a:ext cx="50054" cy="6656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450" name="Doctor interface"/>
          <p:cNvSpPr/>
          <p:nvPr/>
        </p:nvSpPr>
        <p:spPr>
          <a:xfrm>
            <a:off x="731520" y="2450592"/>
            <a:ext cx="2057400" cy="338328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5488" tIns="0" rIns="36576" bIns="0">
            <a:noAutofit/>
          </a:bodyPr>
          <a:lstStyle/>
          <a:p>
            <a:pPr algn="l"/>
            <a:r>
              <a:rPr sz="900" b="1" i="0">
                <a:solidFill>
                  <a:srgbClr val="003366"/>
                </a:solidFill>
                <a:latin typeface="Arial"/>
              </a:rPr>
              <a:t>Doctor</a:t>
            </a:r>
            <a:r>
              <a:rPr sz="750" b="0" i="0">
                <a:solidFill>
                  <a:srgbClr val="4B5563"/>
                </a:solidFill>
                <a:latin typeface="Arial"/>
              </a:rPr>
              <a:t>  :5177</a:t>
            </a:r>
          </a:p>
          <a:p>
            <a:pPr algn="l"/>
            <a:r>
              <a:rPr sz="750" b="0" i="0">
                <a:solidFill>
                  <a:srgbClr val="4B5563"/>
                </a:solidFill>
                <a:latin typeface="Arial"/>
              </a:rPr>
              <a:t>clinical workspace</a:t>
            </a:r>
          </a:p>
        </p:txBody>
      </p:sp>
      <p:grpSp>
        <p:nvGrpSpPr>
          <p:cNvPr id="7" name="Doctor illustration"/>
          <p:cNvGrpSpPr/>
          <p:nvPr/>
        </p:nvGrpSpPr>
        <p:grpSpPr>
          <a:xfrm>
            <a:off x="844906" y="2491740"/>
            <a:ext cx="230428" cy="260604"/>
            <a:chOff x="844906" y="2491740"/>
            <a:chExt cx="230428" cy="260604"/>
          </a:xfrm>
        </p:grpSpPr>
        <p:sp>
          <p:nvSpPr>
            <p:cNvPr id="8" name="Freeform 7"/>
            <p:cNvSpPr/>
            <p:nvPr/>
          </p:nvSpPr>
          <p:spPr>
            <a:xfrm>
              <a:off x="844906" y="2622042"/>
              <a:ext cx="230428" cy="130302"/>
            </a:xfrm>
            <a:custGeom>
              <a:avLst/>
              <a:gdLst/>
              <a:ahLst/>
              <a:cxnLst/>
              <a:rect l="l" t="t" r="r" b="b"/>
              <a:pathLst>
                <a:path w="230428" h="130302">
                  <a:moveTo>
                    <a:pt x="0" y="130302"/>
                  </a:moveTo>
                  <a:lnTo>
                    <a:pt x="5486" y="75438"/>
                  </a:lnTo>
                  <a:lnTo>
                    <a:pt x="21945" y="38405"/>
                  </a:lnTo>
                  <a:lnTo>
                    <a:pt x="49377" y="13716"/>
                  </a:lnTo>
                  <a:lnTo>
                    <a:pt x="87782" y="0"/>
                  </a:lnTo>
                  <a:lnTo>
                    <a:pt x="142646" y="0"/>
                  </a:lnTo>
                  <a:lnTo>
                    <a:pt x="181051" y="13716"/>
                  </a:lnTo>
                  <a:lnTo>
                    <a:pt x="208483" y="38405"/>
                  </a:lnTo>
                  <a:lnTo>
                    <a:pt x="224942" y="75438"/>
                  </a:lnTo>
                  <a:lnTo>
                    <a:pt x="230428" y="13030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934060" y="2623414"/>
              <a:ext cx="52120" cy="49377"/>
            </a:xfrm>
            <a:custGeom>
              <a:avLst/>
              <a:gdLst/>
              <a:ahLst/>
              <a:cxnLst/>
              <a:rect l="l" t="t" r="r" b="b"/>
              <a:pathLst>
                <a:path w="52120" h="49377">
                  <a:moveTo>
                    <a:pt x="0" y="0"/>
                  </a:moveTo>
                  <a:lnTo>
                    <a:pt x="52120" y="0"/>
                  </a:lnTo>
                  <a:lnTo>
                    <a:pt x="26060" y="49377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451" name="Connector 17450"/>
            <p:cNvCxnSpPr/>
            <p:nvPr/>
          </p:nvCxnSpPr>
          <p:spPr>
            <a:xfrm>
              <a:off x="932688" y="2623414"/>
              <a:ext cx="19202" cy="90525"/>
            </a:xfrm>
            <a:prstGeom prst="line">
              <a:avLst/>
            </a:prstGeom>
            <a:ln w="6350">
              <a:solidFill>
                <a:srgbClr val="003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2" name="Connector 17451"/>
            <p:cNvCxnSpPr/>
            <p:nvPr/>
          </p:nvCxnSpPr>
          <p:spPr>
            <a:xfrm flipH="1">
              <a:off x="968350" y="2623414"/>
              <a:ext cx="19202" cy="90525"/>
            </a:xfrm>
            <a:prstGeom prst="line">
              <a:avLst/>
            </a:prstGeom>
            <a:ln w="6350">
              <a:solidFill>
                <a:srgbClr val="003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 10"/>
            <p:cNvSpPr/>
            <p:nvPr/>
          </p:nvSpPr>
          <p:spPr>
            <a:xfrm>
              <a:off x="901141" y="2628900"/>
              <a:ext cx="23317" cy="68580"/>
            </a:xfrm>
            <a:custGeom>
              <a:avLst/>
              <a:gdLst/>
              <a:ahLst/>
              <a:cxnLst/>
              <a:rect l="l" t="t" r="r" b="b"/>
              <a:pathLst>
                <a:path w="23317" h="68580">
                  <a:moveTo>
                    <a:pt x="23317" y="0"/>
                  </a:moveTo>
                  <a:lnTo>
                    <a:pt x="4115" y="24689"/>
                  </a:lnTo>
                  <a:lnTo>
                    <a:pt x="0" y="52121"/>
                  </a:lnTo>
                  <a:lnTo>
                    <a:pt x="6858" y="68580"/>
                  </a:lnTo>
                </a:path>
              </a:pathLst>
            </a:custGeom>
            <a:noFill/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3" name="Oval 17452"/>
            <p:cNvSpPr/>
            <p:nvPr/>
          </p:nvSpPr>
          <p:spPr>
            <a:xfrm>
              <a:off x="894283" y="2690622"/>
              <a:ext cx="30175" cy="30175"/>
            </a:xfrm>
            <a:prstGeom prst="ellipse">
              <a:avLst/>
            </a:prstGeom>
            <a:solidFill>
              <a:srgbClr val="0070C0"/>
            </a:solidFill>
            <a:ln w="6350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4" name="Cross 17453"/>
            <p:cNvSpPr/>
            <p:nvPr/>
          </p:nvSpPr>
          <p:spPr>
            <a:xfrm>
              <a:off x="1002640" y="2682392"/>
              <a:ext cx="30175" cy="30175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5" name="Oval 17454"/>
            <p:cNvSpPr/>
            <p:nvPr/>
          </p:nvSpPr>
          <p:spPr>
            <a:xfrm>
              <a:off x="910742" y="2491740"/>
              <a:ext cx="98755" cy="112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456" name="Rounded Rectangle 17455"/>
          <p:cNvSpPr/>
          <p:nvPr/>
        </p:nvSpPr>
        <p:spPr>
          <a:xfrm>
            <a:off x="2157984" y="2505456"/>
            <a:ext cx="566928" cy="1371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650" b="1" i="0">
                <a:solidFill>
                  <a:srgbClr val="B45309"/>
                </a:solidFill>
                <a:latin typeface="Arial"/>
              </a:rPr>
              <a:t>IN DEV</a:t>
            </a:r>
          </a:p>
        </p:txBody>
      </p:sp>
      <p:sp>
        <p:nvSpPr>
          <p:cNvPr id="17457" name="Patient interface"/>
          <p:cNvSpPr/>
          <p:nvPr/>
        </p:nvSpPr>
        <p:spPr>
          <a:xfrm>
            <a:off x="731520" y="2825496"/>
            <a:ext cx="2057400" cy="338328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5488" tIns="0" rIns="36576" bIns="0">
            <a:noAutofit/>
          </a:bodyPr>
          <a:lstStyle/>
          <a:p>
            <a:pPr algn="l"/>
            <a:r>
              <a:rPr sz="900" b="1" i="0">
                <a:solidFill>
                  <a:srgbClr val="003366"/>
                </a:solidFill>
                <a:latin typeface="Arial"/>
              </a:rPr>
              <a:t>Patient</a:t>
            </a:r>
            <a:r>
              <a:rPr sz="750" b="0" i="0">
                <a:solidFill>
                  <a:srgbClr val="4B5563"/>
                </a:solidFill>
                <a:latin typeface="Arial"/>
              </a:rPr>
              <a:t>  :5176</a:t>
            </a:r>
          </a:p>
          <a:p>
            <a:pPr algn="l"/>
            <a:r>
              <a:rPr sz="750" b="0" i="0">
                <a:solidFill>
                  <a:srgbClr val="4B5563"/>
                </a:solidFill>
                <a:latin typeface="Arial"/>
              </a:rPr>
              <a:t>case status and updates</a:t>
            </a:r>
          </a:p>
        </p:txBody>
      </p:sp>
      <p:grpSp>
        <p:nvGrpSpPr>
          <p:cNvPr id="12" name="Patient illustration"/>
          <p:cNvGrpSpPr/>
          <p:nvPr/>
        </p:nvGrpSpPr>
        <p:grpSpPr>
          <a:xfrm>
            <a:off x="844906" y="2866644"/>
            <a:ext cx="230428" cy="260604"/>
            <a:chOff x="844906" y="2866644"/>
            <a:chExt cx="230428" cy="260604"/>
          </a:xfrm>
        </p:grpSpPr>
        <p:sp>
          <p:nvSpPr>
            <p:cNvPr id="13" name="Freeform 12"/>
            <p:cNvSpPr/>
            <p:nvPr/>
          </p:nvSpPr>
          <p:spPr>
            <a:xfrm>
              <a:off x="844906" y="2996946"/>
              <a:ext cx="230428" cy="130302"/>
            </a:xfrm>
            <a:custGeom>
              <a:avLst/>
              <a:gdLst/>
              <a:ahLst/>
              <a:cxnLst/>
              <a:rect l="l" t="t" r="r" b="b"/>
              <a:pathLst>
                <a:path w="230428" h="130302">
                  <a:moveTo>
                    <a:pt x="0" y="130302"/>
                  </a:moveTo>
                  <a:lnTo>
                    <a:pt x="5486" y="75438"/>
                  </a:lnTo>
                  <a:lnTo>
                    <a:pt x="21945" y="38405"/>
                  </a:lnTo>
                  <a:lnTo>
                    <a:pt x="49377" y="13716"/>
                  </a:lnTo>
                  <a:lnTo>
                    <a:pt x="87782" y="0"/>
                  </a:lnTo>
                  <a:lnTo>
                    <a:pt x="142646" y="0"/>
                  </a:lnTo>
                  <a:lnTo>
                    <a:pt x="181051" y="13716"/>
                  </a:lnTo>
                  <a:lnTo>
                    <a:pt x="208483" y="38405"/>
                  </a:lnTo>
                  <a:lnTo>
                    <a:pt x="224942" y="75438"/>
                  </a:lnTo>
                  <a:lnTo>
                    <a:pt x="230428" y="130302"/>
                  </a:lnTo>
                  <a:close/>
                </a:path>
              </a:pathLst>
            </a:custGeom>
            <a:solidFill>
              <a:srgbClr val="0070C0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8" name="Heart 17457"/>
            <p:cNvSpPr/>
            <p:nvPr/>
          </p:nvSpPr>
          <p:spPr>
            <a:xfrm>
              <a:off x="929945" y="3033979"/>
              <a:ext cx="60350" cy="54315"/>
            </a:xfrm>
            <a:prstGeom prst="hear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9" name="Oval 17458"/>
            <p:cNvSpPr/>
            <p:nvPr/>
          </p:nvSpPr>
          <p:spPr>
            <a:xfrm>
              <a:off x="910742" y="2866644"/>
              <a:ext cx="98755" cy="112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460" name="Management interface"/>
          <p:cNvSpPr/>
          <p:nvPr/>
        </p:nvSpPr>
        <p:spPr>
          <a:xfrm>
            <a:off x="731520" y="3200400"/>
            <a:ext cx="2057400" cy="338328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5488" tIns="0" rIns="36576" bIns="0">
            <a:noAutofit/>
          </a:bodyPr>
          <a:lstStyle/>
          <a:p>
            <a:pPr algn="l"/>
            <a:r>
              <a:rPr sz="900" b="1" i="0">
                <a:solidFill>
                  <a:srgbClr val="003366"/>
                </a:solidFill>
                <a:latin typeface="Arial"/>
              </a:rPr>
              <a:t>Management</a:t>
            </a:r>
            <a:r>
              <a:rPr sz="750" b="0" i="0">
                <a:solidFill>
                  <a:srgbClr val="4B5563"/>
                </a:solidFill>
                <a:latin typeface="Arial"/>
              </a:rPr>
              <a:t>  :5173</a:t>
            </a:r>
          </a:p>
          <a:p>
            <a:pPr algn="l"/>
            <a:r>
              <a:rPr sz="750" b="0" i="0">
                <a:solidFill>
                  <a:srgbClr val="4B5563"/>
                </a:solidFill>
                <a:latin typeface="Arial"/>
              </a:rPr>
              <a:t>regional dashboard</a:t>
            </a:r>
          </a:p>
        </p:txBody>
      </p:sp>
      <p:grpSp>
        <p:nvGrpSpPr>
          <p:cNvPr id="14" name="Dashboard illustration"/>
          <p:cNvGrpSpPr/>
          <p:nvPr/>
        </p:nvGrpSpPr>
        <p:grpSpPr>
          <a:xfrm>
            <a:off x="810844" y="3251058"/>
            <a:ext cx="296266" cy="227137"/>
            <a:chOff x="810844" y="3251058"/>
            <a:chExt cx="296266" cy="227137"/>
          </a:xfrm>
        </p:grpSpPr>
        <p:sp>
          <p:nvSpPr>
            <p:cNvPr id="17461" name="Rounded Rectangle 17460"/>
            <p:cNvSpPr/>
            <p:nvPr/>
          </p:nvSpPr>
          <p:spPr>
            <a:xfrm>
              <a:off x="810844" y="3251058"/>
              <a:ext cx="296266" cy="177759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2" name="Rectangle 17461"/>
            <p:cNvSpPr/>
            <p:nvPr/>
          </p:nvSpPr>
          <p:spPr>
            <a:xfrm>
              <a:off x="829361" y="3270809"/>
              <a:ext cx="259232" cy="138257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3" name="Rectangle 17462"/>
            <p:cNvSpPr/>
            <p:nvPr/>
          </p:nvSpPr>
          <p:spPr>
            <a:xfrm>
              <a:off x="847877" y="3349813"/>
              <a:ext cx="24689" cy="4444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4" name="Rectangle 17463"/>
            <p:cNvSpPr/>
            <p:nvPr/>
          </p:nvSpPr>
          <p:spPr>
            <a:xfrm>
              <a:off x="884911" y="3320186"/>
              <a:ext cx="24689" cy="7406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5" name="Rectangle 17464"/>
            <p:cNvSpPr/>
            <p:nvPr/>
          </p:nvSpPr>
          <p:spPr>
            <a:xfrm>
              <a:off x="921944" y="3295498"/>
              <a:ext cx="24689" cy="98755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6" name="Oval 17465"/>
            <p:cNvSpPr/>
            <p:nvPr/>
          </p:nvSpPr>
          <p:spPr>
            <a:xfrm>
              <a:off x="999096" y="3288091"/>
              <a:ext cx="49378" cy="49378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1003047" y="3323643"/>
              <a:ext cx="41477" cy="36045"/>
            </a:xfrm>
            <a:custGeom>
              <a:avLst/>
              <a:gdLst/>
              <a:ahLst/>
              <a:cxnLst/>
              <a:rect l="l" t="t" r="r" b="b"/>
              <a:pathLst>
                <a:path w="41477" h="36045">
                  <a:moveTo>
                    <a:pt x="0" y="0"/>
                  </a:moveTo>
                  <a:lnTo>
                    <a:pt x="41477" y="0"/>
                  </a:lnTo>
                  <a:lnTo>
                    <a:pt x="20738" y="36045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7" name="Oval 17466"/>
            <p:cNvSpPr/>
            <p:nvPr/>
          </p:nvSpPr>
          <p:spPr>
            <a:xfrm>
              <a:off x="1014403" y="3303398"/>
              <a:ext cx="18763" cy="187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8" name="Rectangle 17467"/>
            <p:cNvSpPr/>
            <p:nvPr/>
          </p:nvSpPr>
          <p:spPr>
            <a:xfrm>
              <a:off x="943547" y="3428817"/>
              <a:ext cx="30861" cy="29627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9" name="Rounded Rectangle 17468"/>
            <p:cNvSpPr/>
            <p:nvPr/>
          </p:nvSpPr>
          <p:spPr>
            <a:xfrm>
              <a:off x="897255" y="3458444"/>
              <a:ext cx="123444" cy="19751"/>
            </a:xfrm>
            <a:prstGeom prst="roundRect">
              <a:avLst>
                <a:gd name="adj" fmla="val 50000"/>
              </a:avLst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470" name="Demo portal (separate)"/>
          <p:cNvSpPr/>
          <p:nvPr/>
        </p:nvSpPr>
        <p:spPr>
          <a:xfrm>
            <a:off x="731520" y="3639312"/>
            <a:ext cx="2057400" cy="512064"/>
          </a:xfrm>
          <a:prstGeom prst="roundRect">
            <a:avLst>
              <a:gd name="adj" fmla="val 14285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75488" tIns="0" rIns="36576" bIns="0">
            <a:noAutofit/>
          </a:bodyPr>
          <a:lstStyle/>
          <a:p>
            <a:pPr algn="l"/>
            <a:r>
              <a:rPr sz="900" b="1" i="0">
                <a:solidFill>
                  <a:srgbClr val="B45309"/>
                </a:solidFill>
                <a:latin typeface="Arial"/>
              </a:rPr>
              <a:t>Demo portal</a:t>
            </a:r>
            <a:r>
              <a:rPr sz="750" b="0" i="0">
                <a:solidFill>
                  <a:srgbClr val="4B5563"/>
                </a:solidFill>
                <a:latin typeface="Arial"/>
              </a:rPr>
              <a:t>  :5178 · separate</a:t>
            </a:r>
          </a:p>
          <a:p>
            <a:pPr algn="l"/>
            <a:r>
              <a:rPr sz="700" b="0" i="0">
                <a:solidFill>
                  <a:srgbClr val="4B5563"/>
                </a:solidFill>
                <a:latin typeface="Arial"/>
              </a:rPr>
              <a:t>synthetic scenarios, same API and role checks; off in operational mode</a:t>
            </a:r>
          </a:p>
        </p:txBody>
      </p:sp>
      <p:grpSp>
        <p:nvGrpSpPr>
          <p:cNvPr id="16" name="Demo portal illustration"/>
          <p:cNvGrpSpPr/>
          <p:nvPr/>
        </p:nvGrpSpPr>
        <p:grpSpPr>
          <a:xfrm>
            <a:off x="792556" y="3753978"/>
            <a:ext cx="296266" cy="227137"/>
            <a:chOff x="792556" y="3753978"/>
            <a:chExt cx="296266" cy="227137"/>
          </a:xfrm>
        </p:grpSpPr>
        <p:sp>
          <p:nvSpPr>
            <p:cNvPr id="17471" name="Rounded Rectangle 17470"/>
            <p:cNvSpPr/>
            <p:nvPr/>
          </p:nvSpPr>
          <p:spPr>
            <a:xfrm>
              <a:off x="792556" y="3753978"/>
              <a:ext cx="296266" cy="177759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2" name="Rectangle 17471"/>
            <p:cNvSpPr/>
            <p:nvPr/>
          </p:nvSpPr>
          <p:spPr>
            <a:xfrm>
              <a:off x="811073" y="3773729"/>
              <a:ext cx="259232" cy="138257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3" name="Isosceles Triangle 17472"/>
            <p:cNvSpPr/>
            <p:nvPr/>
          </p:nvSpPr>
          <p:spPr>
            <a:xfrm rot="5400000">
              <a:off x="897484" y="3805824"/>
              <a:ext cx="74066" cy="74066"/>
            </a:xfrm>
            <a:prstGeom prst="triangle">
              <a:avLst/>
            </a:prstGeom>
            <a:solidFill>
              <a:srgbClr val="D9770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4" name="Rectangle 17473"/>
            <p:cNvSpPr/>
            <p:nvPr/>
          </p:nvSpPr>
          <p:spPr>
            <a:xfrm>
              <a:off x="977722" y="3823106"/>
              <a:ext cx="61722" cy="11110"/>
            </a:xfrm>
            <a:prstGeom prst="rect">
              <a:avLst/>
            </a:prstGeom>
            <a:solidFill>
              <a:srgbClr val="9CA3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5" name="Rectangle 17474"/>
            <p:cNvSpPr/>
            <p:nvPr/>
          </p:nvSpPr>
          <p:spPr>
            <a:xfrm>
              <a:off x="977722" y="3852733"/>
              <a:ext cx="61722" cy="11110"/>
            </a:xfrm>
            <a:prstGeom prst="rect">
              <a:avLst/>
            </a:prstGeom>
            <a:solidFill>
              <a:srgbClr val="9CA3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6" name="Rectangle 17475"/>
            <p:cNvSpPr/>
            <p:nvPr/>
          </p:nvSpPr>
          <p:spPr>
            <a:xfrm>
              <a:off x="977722" y="3882360"/>
              <a:ext cx="61722" cy="11110"/>
            </a:xfrm>
            <a:prstGeom prst="rect">
              <a:avLst/>
            </a:prstGeom>
            <a:solidFill>
              <a:srgbClr val="9CA3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7" name="Rectangle 17476"/>
            <p:cNvSpPr/>
            <p:nvPr/>
          </p:nvSpPr>
          <p:spPr>
            <a:xfrm>
              <a:off x="925259" y="3931737"/>
              <a:ext cx="30861" cy="29627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8" name="Rounded Rectangle 17477"/>
            <p:cNvSpPr/>
            <p:nvPr/>
          </p:nvSpPr>
          <p:spPr>
            <a:xfrm>
              <a:off x="878967" y="3961364"/>
              <a:ext cx="123444" cy="19751"/>
            </a:xfrm>
            <a:prstGeom prst="roundRect">
              <a:avLst>
                <a:gd name="adj" fmla="val 50000"/>
              </a:avLst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7479" name="Commands"/>
          <p:cNvCxnSpPr/>
          <p:nvPr/>
        </p:nvCxnSpPr>
        <p:spPr>
          <a:xfrm>
            <a:off x="2816352" y="2286000"/>
            <a:ext cx="566928" cy="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0" name="TextBox 17479"/>
          <p:cNvSpPr txBox="1"/>
          <p:nvPr/>
        </p:nvSpPr>
        <p:spPr>
          <a:xfrm>
            <a:off x="2798064" y="2084832"/>
            <a:ext cx="603504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 i="0">
                <a:solidFill>
                  <a:srgbClr val="4B5563"/>
                </a:solidFill>
                <a:latin typeface="Arial"/>
              </a:rPr>
              <a:t>commands</a:t>
            </a:r>
          </a:p>
        </p:txBody>
      </p:sp>
      <p:cxnSp>
        <p:nvCxnSpPr>
          <p:cNvPr id="17481" name="Live events"/>
          <p:cNvCxnSpPr/>
          <p:nvPr/>
        </p:nvCxnSpPr>
        <p:spPr>
          <a:xfrm flipH="1">
            <a:off x="2816352" y="2880360"/>
            <a:ext cx="566928" cy="0"/>
          </a:xfrm>
          <a:prstGeom prst="line">
            <a:avLst/>
          </a:prstGeom>
          <a:ln w="22225">
            <a:solidFill>
              <a:srgbClr val="0070C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2" name="TextBox 17481"/>
          <p:cNvSpPr txBox="1"/>
          <p:nvPr/>
        </p:nvSpPr>
        <p:spPr>
          <a:xfrm>
            <a:off x="2798064" y="2907792"/>
            <a:ext cx="603504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 i="0">
                <a:solidFill>
                  <a:srgbClr val="4B5563"/>
                </a:solidFill>
                <a:latin typeface="Arial"/>
              </a:rPr>
              <a:t>live events</a:t>
            </a:r>
          </a:p>
        </p:txBody>
      </p:sp>
      <p:cxnSp>
        <p:nvCxnSpPr>
          <p:cNvPr id="17483" name="Same API"/>
          <p:cNvCxnSpPr/>
          <p:nvPr/>
        </p:nvCxnSpPr>
        <p:spPr>
          <a:xfrm>
            <a:off x="2816352" y="3895344"/>
            <a:ext cx="566928" cy="0"/>
          </a:xfrm>
          <a:prstGeom prst="line">
            <a:avLst/>
          </a:prstGeom>
          <a:ln w="15875">
            <a:solidFill>
              <a:srgbClr val="D9770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4" name="TextBox 17483"/>
          <p:cNvSpPr txBox="1"/>
          <p:nvPr/>
        </p:nvSpPr>
        <p:spPr>
          <a:xfrm>
            <a:off x="2798064" y="3694176"/>
            <a:ext cx="603504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 i="0">
                <a:solidFill>
                  <a:srgbClr val="B45309"/>
                </a:solidFill>
                <a:latin typeface="Arial"/>
              </a:rPr>
              <a:t>same API</a:t>
            </a:r>
          </a:p>
        </p:txBody>
      </p:sp>
      <p:sp>
        <p:nvSpPr>
          <p:cNvPr id="17485" name="JIVA backend"/>
          <p:cNvSpPr/>
          <p:nvPr/>
        </p:nvSpPr>
        <p:spPr>
          <a:xfrm>
            <a:off x="3401568" y="1499616"/>
            <a:ext cx="5358384" cy="2670048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6" name="TextBox 17485"/>
          <p:cNvSpPr txBox="1"/>
          <p:nvPr/>
        </p:nvSpPr>
        <p:spPr>
          <a:xfrm>
            <a:off x="3547872" y="1545336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003366"/>
                </a:solidFill>
                <a:latin typeface="Arial"/>
              </a:rPr>
              <a:t>JIVA BACKEND</a:t>
            </a:r>
            <a:r>
              <a:rPr sz="950" b="0" i="0">
                <a:solidFill>
                  <a:srgbClr val="4B5563"/>
                </a:solidFill>
                <a:latin typeface="Arial"/>
              </a:rPr>
              <a:t> · local API: Node.js 20 + Express, REST + Socket.IO</a:t>
            </a:r>
          </a:p>
        </p:txBody>
      </p:sp>
      <p:sp>
        <p:nvSpPr>
          <p:cNvPr id="17487" name="Security band"/>
          <p:cNvSpPr/>
          <p:nvPr/>
        </p:nvSpPr>
        <p:spPr>
          <a:xfrm>
            <a:off x="3529584" y="1792224"/>
            <a:ext cx="5102352" cy="402336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tIns="18288" rIns="54864" bIns="18288">
            <a:noAutofit/>
          </a:bodyPr>
          <a:lstStyle/>
          <a:p>
            <a:pPr algn="l"/>
            <a:r>
              <a:rPr sz="800" b="1" i="0">
                <a:solidFill>
                  <a:srgbClr val="003366"/>
                </a:solidFill>
                <a:latin typeface="Arial"/>
              </a:rPr>
              <a:t>SECURITY &amp; PRIVACY  </a:t>
            </a:r>
            <a:r>
              <a:rPr sz="750" b="0" i="0">
                <a:solidFill>
                  <a:srgbClr val="4B5563"/>
                </a:solidFill>
                <a:latin typeface="Arial"/>
              </a:rPr>
              <a:t>role checks on the server for every request · Zod schemas, strict payload filtering · idempotent, audited commands · policy hash · SHA-256-hashed decision audits</a:t>
            </a:r>
          </a:p>
        </p:txBody>
      </p:sp>
      <p:grpSp>
        <p:nvGrpSpPr>
          <p:cNvPr id="17" name="Shield illustration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8" name="Freeform 17"/>
            <p:cNvSpPr/>
            <p:nvPr/>
          </p:nvSpPr>
          <p:spPr>
            <a:xfrm>
              <a:off x="3621712" y="1847088"/>
              <a:ext cx="226127" cy="292608"/>
            </a:xfrm>
            <a:custGeom>
              <a:avLst/>
              <a:gdLst/>
              <a:ahLst/>
              <a:cxnLst/>
              <a:rect l="l" t="t" r="r" b="b"/>
              <a:pathLst>
                <a:path w="226127" h="292608">
                  <a:moveTo>
                    <a:pt x="113063" y="0"/>
                  </a:moveTo>
                  <a:lnTo>
                    <a:pt x="226127" y="40965"/>
                  </a:lnTo>
                  <a:lnTo>
                    <a:pt x="218753" y="152156"/>
                  </a:lnTo>
                  <a:lnTo>
                    <a:pt x="181885" y="228234"/>
                  </a:lnTo>
                  <a:lnTo>
                    <a:pt x="113063" y="292608"/>
                  </a:lnTo>
                  <a:lnTo>
                    <a:pt x="44242" y="228234"/>
                  </a:lnTo>
                  <a:lnTo>
                    <a:pt x="7373" y="152156"/>
                  </a:lnTo>
                  <a:lnTo>
                    <a:pt x="0" y="40965"/>
                  </a:ln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3680701" y="1946575"/>
              <a:ext cx="110606" cy="93634"/>
            </a:xfrm>
            <a:custGeom>
              <a:avLst/>
              <a:gdLst/>
              <a:ahLst/>
              <a:cxnLst/>
              <a:rect l="l" t="t" r="r" b="b"/>
              <a:pathLst>
                <a:path w="110606" h="93634">
                  <a:moveTo>
                    <a:pt x="0" y="46817"/>
                  </a:moveTo>
                  <a:lnTo>
                    <a:pt x="39327" y="93634"/>
                  </a:lnTo>
                  <a:lnTo>
                    <a:pt x="110606" y="0"/>
                  </a:lnTo>
                </a:path>
              </a:pathLst>
            </a:custGeom>
            <a:noFill/>
            <a:ln w="16256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488" name="Backend: REFERRALS &amp; ROUTING"/>
          <p:cNvSpPr/>
          <p:nvPr/>
        </p:nvSpPr>
        <p:spPr>
          <a:xfrm>
            <a:off x="3529584" y="2267712"/>
            <a:ext cx="1645920" cy="1316736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54864" rIns="36576" bIns="18288">
            <a:noAutofit/>
          </a:bodyPr>
          <a:lstStyle/>
          <a:p>
            <a:pPr algn="l"/>
            <a:r>
              <a:rPr sz="800" b="1" i="0">
                <a:solidFill>
                  <a:srgbClr val="0070C0"/>
                </a:solidFill>
                <a:latin typeface="Arial"/>
              </a:rPr>
              <a:t>REFERRALS &amp; ROUTING</a:t>
            </a:r>
          </a:p>
          <a:p>
            <a:pPr algn="l">
              <a:spcBef>
                <a:spcPts val="150"/>
              </a:spcBef>
            </a:pPr>
            <a:r>
              <a:rPr sz="750" b="0" i="0">
                <a:solidFill>
                  <a:srgbClr val="1F2937"/>
                </a:solidFill>
                <a:latin typeface="Arial"/>
              </a:rPr>
              <a:t>• eligibility engine</a:t>
            </a:r>
          </a:p>
          <a:p>
            <a:pPr algn="l">
              <a:spcBef>
                <a:spcPts val="150"/>
              </a:spcBef>
            </a:pPr>
            <a:r>
              <a:rPr sz="750" b="0" i="0">
                <a:solidFill>
                  <a:srgbClr val="1F2937"/>
                </a:solidFill>
                <a:latin typeface="Arial"/>
              </a:rPr>
              <a:t>• time-limited referrals, expiry</a:t>
            </a:r>
          </a:p>
          <a:p>
            <a:pPr algn="l">
              <a:spcBef>
                <a:spcPts val="150"/>
              </a:spcBef>
            </a:pPr>
            <a:r>
              <a:rPr sz="750" b="0" i="0">
                <a:solidFill>
                  <a:srgbClr val="1F2937"/>
                </a:solidFill>
                <a:latin typeface="Arial"/>
              </a:rPr>
              <a:t>• destination &amp; reroute</a:t>
            </a:r>
          </a:p>
          <a:p>
            <a:pPr algn="l">
              <a:spcBef>
                <a:spcPts val="150"/>
              </a:spcBef>
            </a:pPr>
            <a:r>
              <a:rPr sz="750" b="0" i="0">
                <a:solidFill>
                  <a:srgbClr val="1F2937"/>
                </a:solidFill>
                <a:latin typeface="Arial"/>
              </a:rPr>
              <a:t>• SHADOW feasibility check (no authority)</a:t>
            </a:r>
          </a:p>
          <a:p>
            <a:pPr algn="l">
              <a:spcBef>
                <a:spcPts val="150"/>
              </a:spcBef>
            </a:pPr>
            <a:r>
              <a:rPr sz="750" b="0" i="0">
                <a:solidFill>
                  <a:srgbClr val="1F2937"/>
                </a:solidFill>
                <a:latin typeface="Arial"/>
              </a:rPr>
              <a:t>• ETA unknown, never faked</a:t>
            </a:r>
          </a:p>
        </p:txBody>
      </p:sp>
      <p:sp>
        <p:nvSpPr>
          <p:cNvPr id="17489" name="Backend: CLINICAL RECORDS"/>
          <p:cNvSpPr/>
          <p:nvPr/>
        </p:nvSpPr>
        <p:spPr>
          <a:xfrm>
            <a:off x="5257800" y="2267712"/>
            <a:ext cx="1645920" cy="1316736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54864" rIns="36576" bIns="18288">
            <a:noAutofit/>
          </a:bodyPr>
          <a:lstStyle/>
          <a:p>
            <a:pPr algn="l"/>
            <a:r>
              <a:rPr sz="800" b="1" i="0">
                <a:solidFill>
                  <a:srgbClr val="B45309"/>
                </a:solidFill>
                <a:latin typeface="Arial"/>
              </a:rPr>
              <a:t>CLINICAL RECORDS</a:t>
            </a:r>
          </a:p>
          <a:p>
            <a:pPr algn="l">
              <a:spcBef>
                <a:spcPts val="150"/>
              </a:spcBef>
            </a:pPr>
            <a:r>
              <a:rPr sz="750" b="0" i="0">
                <a:solidFill>
                  <a:srgbClr val="1F2937"/>
                </a:solidFill>
                <a:latin typeface="Arial"/>
              </a:rPr>
              <a:t>• encounters, arrival, handover</a:t>
            </a:r>
          </a:p>
          <a:p>
            <a:pPr algn="l">
              <a:spcBef>
                <a:spcPts val="150"/>
              </a:spcBef>
            </a:pPr>
            <a:r>
              <a:rPr sz="750" b="0" i="0">
                <a:solidFill>
                  <a:srgbClr val="1F2937"/>
                </a:solidFill>
                <a:latin typeface="Arial"/>
              </a:rPr>
              <a:t>• vitals with provenance</a:t>
            </a:r>
          </a:p>
          <a:p>
            <a:pPr algn="l">
              <a:spcBef>
                <a:spcPts val="150"/>
              </a:spcBef>
            </a:pPr>
            <a:r>
              <a:rPr sz="750" b="0" i="0">
                <a:solidFill>
                  <a:srgbClr val="1F2937"/>
                </a:solidFill>
                <a:latin typeface="Arial"/>
              </a:rPr>
              <a:t>• documents (SHA-256 checked)</a:t>
            </a:r>
          </a:p>
          <a:p>
            <a:pPr algn="l">
              <a:spcBef>
                <a:spcPts val="150"/>
              </a:spcBef>
            </a:pPr>
            <a:r>
              <a:rPr sz="750" b="0" i="0">
                <a:solidFill>
                  <a:srgbClr val="1F2937"/>
                </a:solidFill>
                <a:latin typeface="Arial"/>
              </a:rPr>
              <a:t>• prescriptions, reports, notes</a:t>
            </a:r>
          </a:p>
          <a:p>
            <a:pPr algn="l">
              <a:spcBef>
                <a:spcPts val="150"/>
              </a:spcBef>
            </a:pPr>
            <a:r>
              <a:rPr sz="750" b="0" i="0">
                <a:solidFill>
                  <a:srgbClr val="1F2937"/>
                </a:solidFill>
                <a:latin typeface="Arial"/>
              </a:rPr>
              <a:t>• clinical catalogue</a:t>
            </a:r>
          </a:p>
        </p:txBody>
      </p:sp>
      <p:sp>
        <p:nvSpPr>
          <p:cNvPr id="17490" name="Rounded Rectangle 17489"/>
          <p:cNvSpPr/>
          <p:nvPr/>
        </p:nvSpPr>
        <p:spPr>
          <a:xfrm>
            <a:off x="5330952" y="3364992"/>
            <a:ext cx="1005840" cy="14630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650" b="1" i="0">
                <a:solidFill>
                  <a:srgbClr val="B45309"/>
                </a:solidFill>
                <a:latin typeface="Arial"/>
              </a:rPr>
              <a:t>IN DEVELOPMENT</a:t>
            </a:r>
          </a:p>
        </p:txBody>
      </p:sp>
      <p:sp>
        <p:nvSpPr>
          <p:cNvPr id="17491" name="Backend: REAL-TIME EVENTS"/>
          <p:cNvSpPr/>
          <p:nvPr/>
        </p:nvSpPr>
        <p:spPr>
          <a:xfrm>
            <a:off x="6986016" y="2267712"/>
            <a:ext cx="1645920" cy="1316736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54864" rIns="36576" bIns="18288">
            <a:noAutofit/>
          </a:bodyPr>
          <a:lstStyle/>
          <a:p>
            <a:pPr algn="l"/>
            <a:r>
              <a:rPr sz="800" b="1" i="0">
                <a:solidFill>
                  <a:srgbClr val="0070C0"/>
                </a:solidFill>
                <a:latin typeface="Arial"/>
              </a:rPr>
              <a:t>REAL-TIME EVENTS</a:t>
            </a:r>
          </a:p>
          <a:p>
            <a:pPr algn="l">
              <a:spcBef>
                <a:spcPts val="150"/>
              </a:spcBef>
            </a:pPr>
            <a:r>
              <a:rPr sz="750" b="0" i="0">
                <a:solidFill>
                  <a:srgbClr val="1F2937"/>
                </a:solidFill>
                <a:latin typeface="Arial"/>
              </a:rPr>
              <a:t>• canonical event bus</a:t>
            </a:r>
          </a:p>
          <a:p>
            <a:pPr algn="l">
              <a:spcBef>
                <a:spcPts val="150"/>
              </a:spcBef>
            </a:pPr>
            <a:r>
              <a:rPr sz="750" b="0" i="0">
                <a:solidFill>
                  <a:srgbClr val="1F2937"/>
                </a:solidFill>
                <a:latin typeface="Arial"/>
              </a:rPr>
              <a:t>• state engines project state</a:t>
            </a:r>
          </a:p>
          <a:p>
            <a:pPr algn="l">
              <a:spcBef>
                <a:spcPts val="150"/>
              </a:spcBef>
            </a:pPr>
            <a:r>
              <a:rPr sz="750" b="0" i="0">
                <a:solidFill>
                  <a:srgbClr val="1F2937"/>
                </a:solidFill>
                <a:latin typeface="Arial"/>
              </a:rPr>
              <a:t>• content-free clinical events</a:t>
            </a:r>
          </a:p>
          <a:p>
            <a:pPr algn="l">
              <a:spcBef>
                <a:spcPts val="150"/>
              </a:spcBef>
            </a:pPr>
            <a:r>
              <a:rPr sz="750" b="0" i="0">
                <a:solidFill>
                  <a:srgbClr val="1F2937"/>
                </a:solidFill>
                <a:latin typeface="Arial"/>
              </a:rPr>
              <a:t>• per-recipient copies (Socket.IO)</a:t>
            </a:r>
          </a:p>
          <a:p>
            <a:pPr algn="l">
              <a:spcBef>
                <a:spcPts val="150"/>
              </a:spcBef>
            </a:pPr>
            <a:r>
              <a:rPr sz="750" b="0" i="0">
                <a:solidFill>
                  <a:srgbClr val="1F2937"/>
                </a:solidFill>
                <a:latin typeface="Arial"/>
              </a:rPr>
              <a:t>• Bedrock: advisory text only</a:t>
            </a:r>
          </a:p>
        </p:txBody>
      </p:sp>
      <p:sp>
        <p:nvSpPr>
          <p:cNvPr id="17492" name="State and event stores"/>
          <p:cNvSpPr/>
          <p:nvPr/>
        </p:nvSpPr>
        <p:spPr>
          <a:xfrm>
            <a:off x="3529584" y="3657600"/>
            <a:ext cx="5102352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tIns="18288" rIns="54864" bIns="18288">
            <a:noAutofit/>
          </a:bodyPr>
          <a:lstStyle/>
          <a:p>
            <a:pPr algn="l"/>
            <a:r>
              <a:rPr sz="800" b="1" i="0">
                <a:solidFill>
                  <a:srgbClr val="003366"/>
                </a:solidFill>
                <a:latin typeface="Arial"/>
              </a:rPr>
              <a:t>STATE &amp; EVENT STORES  </a:t>
            </a:r>
            <a:r>
              <a:rPr sz="750" b="0" i="0">
                <a:solidFill>
                  <a:srgbClr val="4B5563"/>
                </a:solidFill>
                <a:latin typeface="Arial"/>
              </a:rPr>
              <a:t>in memory locally — lost on restart · DynamoDB store defined in code, not deployed</a:t>
            </a:r>
          </a:p>
        </p:txBody>
      </p:sp>
      <p:sp>
        <p:nvSpPr>
          <p:cNvPr id="17493" name="Data store"/>
          <p:cNvSpPr/>
          <p:nvPr/>
        </p:nvSpPr>
        <p:spPr>
          <a:xfrm>
            <a:off x="3630168" y="3712464"/>
            <a:ext cx="237744" cy="310896"/>
          </a:xfrm>
          <a:prstGeom prst="can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4" name="TextBox 17493"/>
          <p:cNvSpPr txBox="1"/>
          <p:nvPr/>
        </p:nvSpPr>
        <p:spPr>
          <a:xfrm>
            <a:off x="9125712" y="1499616"/>
            <a:ext cx="2331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1" i="0">
                <a:solidFill>
                  <a:srgbClr val="0070C0"/>
                </a:solidFill>
                <a:latin typeface="Arial"/>
              </a:rPr>
              <a:t>DATA &amp; INTEGRATIONS</a:t>
            </a:r>
          </a:p>
        </p:txBody>
      </p:sp>
      <p:sp>
        <p:nvSpPr>
          <p:cNvPr id="17495" name="Integration: Maps"/>
          <p:cNvSpPr/>
          <p:nvPr/>
        </p:nvSpPr>
        <p:spPr>
          <a:xfrm>
            <a:off x="9125712" y="1700784"/>
            <a:ext cx="23317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800" b="1" i="0">
                <a:solidFill>
                  <a:srgbClr val="003366"/>
                </a:solidFill>
                <a:latin typeface="Arial"/>
              </a:rPr>
              <a:t>Maps</a:t>
            </a:r>
          </a:p>
          <a:p>
            <a:pPr algn="l"/>
            <a:r>
              <a:rPr sz="700" b="0" i="0">
                <a:solidFill>
                  <a:srgbClr val="4B5563"/>
                </a:solidFill>
                <a:latin typeface="Arial"/>
              </a:rPr>
              <a:t>MapLibre GL + OpenStreetMap tiles</a:t>
            </a:r>
          </a:p>
        </p:txBody>
      </p:sp>
      <p:sp>
        <p:nvSpPr>
          <p:cNvPr id="17496" name="Integration: Routing"/>
          <p:cNvSpPr/>
          <p:nvPr/>
        </p:nvSpPr>
        <p:spPr>
          <a:xfrm>
            <a:off x="9125712" y="2189988"/>
            <a:ext cx="23317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800" b="1" i="0">
                <a:solidFill>
                  <a:srgbClr val="003366"/>
                </a:solidFill>
                <a:latin typeface="Arial"/>
              </a:rPr>
              <a:t>Routing</a:t>
            </a:r>
          </a:p>
          <a:p>
            <a:pPr algn="l"/>
            <a:r>
              <a:rPr sz="700" b="0" i="0">
                <a:solidFill>
                  <a:srgbClr val="4B5563"/>
                </a:solidFill>
                <a:latin typeface="Arial"/>
              </a:rPr>
              <a:t>Valhalla → OSRM → labelled mock fallback</a:t>
            </a:r>
          </a:p>
        </p:txBody>
      </p:sp>
      <p:sp>
        <p:nvSpPr>
          <p:cNvPr id="17497" name="Integration: Facility data"/>
          <p:cNvSpPr/>
          <p:nvPr/>
        </p:nvSpPr>
        <p:spPr>
          <a:xfrm>
            <a:off x="9125712" y="2679192"/>
            <a:ext cx="23317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800" b="1" i="0">
                <a:solidFill>
                  <a:srgbClr val="003366"/>
                </a:solidFill>
                <a:latin typeface="Arial"/>
              </a:rPr>
              <a:t>Facility data</a:t>
            </a:r>
          </a:p>
          <a:p>
            <a:pPr algn="l"/>
            <a:r>
              <a:rPr sz="700" b="0" i="0">
                <a:solidFill>
                  <a:srgbClr val="4B5563"/>
                </a:solidFill>
                <a:latin typeface="Arial"/>
              </a:rPr>
              <a:t>public listings; capacity unknown unless reported</a:t>
            </a:r>
          </a:p>
        </p:txBody>
      </p:sp>
      <p:sp>
        <p:nvSpPr>
          <p:cNvPr id="17498" name="Integration: AI"/>
          <p:cNvSpPr/>
          <p:nvPr/>
        </p:nvSpPr>
        <p:spPr>
          <a:xfrm>
            <a:off x="9125712" y="3168396"/>
            <a:ext cx="2331720" cy="420624"/>
          </a:xfrm>
          <a:prstGeom prst="roundRect">
            <a:avLst>
              <a:gd name="adj" fmla="val 17391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  <a:latin typeface="Arial"/>
              </a:rPr>
              <a:t>AI</a:t>
            </a:r>
          </a:p>
          <a:p>
            <a:pPr algn="l"/>
            <a:r>
              <a:rPr sz="700" b="0" i="0">
                <a:solidFill>
                  <a:srgbClr val="4B5563"/>
                </a:solidFill>
                <a:latin typeface="Arial"/>
              </a:rPr>
              <a:t>Amazon Bedrock advisory summaries; mock locally</a:t>
            </a:r>
          </a:p>
        </p:txBody>
      </p:sp>
      <p:sp>
        <p:nvSpPr>
          <p:cNvPr id="17499" name="Integration: AWS"/>
          <p:cNvSpPr/>
          <p:nvPr/>
        </p:nvSpPr>
        <p:spPr>
          <a:xfrm>
            <a:off x="9125712" y="3657600"/>
            <a:ext cx="2331720" cy="420624"/>
          </a:xfrm>
          <a:prstGeom prst="roundRect">
            <a:avLst>
              <a:gd name="adj" fmla="val 17391"/>
            </a:avLst>
          </a:prstGeom>
          <a:solidFill>
            <a:srgbClr val="E8F1FA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800" b="1" i="0">
                <a:solidFill>
                  <a:srgbClr val="0070C0"/>
                </a:solidFill>
                <a:latin typeface="Arial"/>
              </a:rPr>
              <a:t>AWS</a:t>
            </a:r>
          </a:p>
          <a:p>
            <a:pPr algn="l"/>
            <a:r>
              <a:rPr sz="700" b="0" i="0">
                <a:solidFill>
                  <a:srgbClr val="4B5563"/>
                </a:solidFill>
                <a:latin typeface="Arial"/>
              </a:rPr>
              <a:t>CDK stack synthesized — not deployed</a:t>
            </a:r>
          </a:p>
        </p:txBody>
      </p:sp>
      <p:cxnSp>
        <p:nvCxnSpPr>
          <p:cNvPr id="17500" name="Integration calls"/>
          <p:cNvCxnSpPr/>
          <p:nvPr/>
        </p:nvCxnSpPr>
        <p:spPr>
          <a:xfrm>
            <a:off x="8778240" y="2834640"/>
            <a:ext cx="329184" cy="0"/>
          </a:xfrm>
          <a:prstGeom prst="line">
            <a:avLst/>
          </a:prstGeom>
          <a:ln w="1905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1" name="Phase 5: Clinical Care Layer"/>
          <p:cNvSpPr/>
          <p:nvPr/>
        </p:nvSpPr>
        <p:spPr>
          <a:xfrm>
            <a:off x="7955280" y="4736592"/>
            <a:ext cx="1737360" cy="694944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 rIns="54864" bIns="36576">
            <a:noAutofit/>
          </a:bodyPr>
          <a:lstStyle/>
          <a:p>
            <a:pPr algn="ctr"/>
            <a:r>
              <a:rPr sz="1000" b="1" i="0">
                <a:solidFill>
                  <a:srgbClr val="B45309"/>
                </a:solidFill>
                <a:latin typeface="Arial"/>
              </a:rPr>
              <a:t>Phase 5: Clinical Care Layer</a:t>
            </a:r>
          </a:p>
          <a:p>
            <a:pPr algn="ctr"/>
            <a:r>
              <a:rPr sz="900" b="0" i="0">
                <a:solidFill>
                  <a:srgbClr val="4B5563"/>
                </a:solidFill>
                <a:latin typeface="Arial"/>
              </a:rPr>
              <a:t>Handover, doctor workspace, documents, prescriptions</a:t>
            </a:r>
          </a:p>
        </p:txBody>
      </p:sp>
      <p:sp>
        <p:nvSpPr>
          <p:cNvPr id="17502" name="Next: Production Path"/>
          <p:cNvSpPr/>
          <p:nvPr/>
        </p:nvSpPr>
        <p:spPr>
          <a:xfrm>
            <a:off x="9761220" y="4736592"/>
            <a:ext cx="1737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 rIns="54864" bIns="36576">
            <a:noAutofit/>
          </a:bodyPr>
          <a:lstStyle/>
          <a:p>
            <a:pPr algn="ctr"/>
            <a:r>
              <a:rPr sz="1000" b="1" i="0">
                <a:solidFill>
                  <a:srgbClr val="4B5563"/>
                </a:solidFill>
                <a:latin typeface="Arial"/>
              </a:rPr>
              <a:t>Next: Production Path</a:t>
            </a:r>
          </a:p>
          <a:p>
            <a:pPr algn="ctr"/>
            <a:r>
              <a:rPr sz="900" b="0" i="0">
                <a:solidFill>
                  <a:srgbClr val="4B5563"/>
                </a:solidFill>
                <a:latin typeface="Arial"/>
              </a:rPr>
              <a:t>Durable storage, AWS deployment, real identity</a:t>
            </a:r>
          </a:p>
        </p:txBody>
      </p:sp>
      <p:grpSp>
        <p:nvGrpSpPr>
          <p:cNvPr id="20" name="Badge ok"/>
          <p:cNvGrpSpPr/>
          <p:nvPr/>
        </p:nvGrpSpPr>
        <p:grpSpPr>
          <a:xfrm>
            <a:off x="2350008" y="4663440"/>
            <a:ext cx="182880" cy="182880"/>
            <a:chOff x="2350008" y="4663440"/>
            <a:chExt cx="182880" cy="182880"/>
          </a:xfrm>
        </p:grpSpPr>
        <p:sp>
          <p:nvSpPr>
            <p:cNvPr id="17503" name="Oval 17502"/>
            <p:cNvSpPr/>
            <p:nvPr/>
          </p:nvSpPr>
          <p:spPr>
            <a:xfrm>
              <a:off x="2350008" y="4663440"/>
              <a:ext cx="182880" cy="182880"/>
            </a:xfrm>
            <a:prstGeom prst="ellipse">
              <a:avLst/>
            </a:prstGeom>
            <a:solidFill>
              <a:srgbClr val="16A34A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2397557" y="4723790"/>
              <a:ext cx="89611" cy="67666"/>
            </a:xfrm>
            <a:custGeom>
              <a:avLst/>
              <a:gdLst/>
              <a:ahLst/>
              <a:cxnLst/>
              <a:rect l="l" t="t" r="r" b="b"/>
              <a:pathLst>
                <a:path w="89611" h="67666">
                  <a:moveTo>
                    <a:pt x="0" y="36576"/>
                  </a:moveTo>
                  <a:lnTo>
                    <a:pt x="31089" y="67666"/>
                  </a:lnTo>
                  <a:lnTo>
                    <a:pt x="89611" y="0"/>
                  </a:lnTo>
                </a:path>
              </a:pathLst>
            </a:custGeom>
            <a:noFill/>
            <a:ln w="2413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Badge ok"/>
          <p:cNvGrpSpPr/>
          <p:nvPr/>
        </p:nvGrpSpPr>
        <p:grpSpPr>
          <a:xfrm>
            <a:off x="4155948" y="4663440"/>
            <a:ext cx="182880" cy="182880"/>
            <a:chOff x="4155948" y="4663440"/>
            <a:chExt cx="182880" cy="182880"/>
          </a:xfrm>
        </p:grpSpPr>
        <p:sp>
          <p:nvSpPr>
            <p:cNvPr id="17504" name="Oval 17503"/>
            <p:cNvSpPr/>
            <p:nvPr/>
          </p:nvSpPr>
          <p:spPr>
            <a:xfrm>
              <a:off x="4155948" y="4663440"/>
              <a:ext cx="182880" cy="182880"/>
            </a:xfrm>
            <a:prstGeom prst="ellipse">
              <a:avLst/>
            </a:prstGeom>
            <a:solidFill>
              <a:srgbClr val="16A34A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4203497" y="4723790"/>
              <a:ext cx="89611" cy="67666"/>
            </a:xfrm>
            <a:custGeom>
              <a:avLst/>
              <a:gdLst/>
              <a:ahLst/>
              <a:cxnLst/>
              <a:rect l="l" t="t" r="r" b="b"/>
              <a:pathLst>
                <a:path w="89611" h="67666">
                  <a:moveTo>
                    <a:pt x="0" y="36576"/>
                  </a:moveTo>
                  <a:lnTo>
                    <a:pt x="31089" y="67666"/>
                  </a:lnTo>
                  <a:lnTo>
                    <a:pt x="89611" y="0"/>
                  </a:lnTo>
                </a:path>
              </a:pathLst>
            </a:custGeom>
            <a:noFill/>
            <a:ln w="2413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" name="Badge ok"/>
          <p:cNvGrpSpPr/>
          <p:nvPr/>
        </p:nvGrpSpPr>
        <p:grpSpPr>
          <a:xfrm>
            <a:off x="5961888" y="4663440"/>
            <a:ext cx="182880" cy="182880"/>
            <a:chOff x="5961888" y="4663440"/>
            <a:chExt cx="182880" cy="182880"/>
          </a:xfrm>
        </p:grpSpPr>
        <p:sp>
          <p:nvSpPr>
            <p:cNvPr id="17505" name="Oval 17504"/>
            <p:cNvSpPr/>
            <p:nvPr/>
          </p:nvSpPr>
          <p:spPr>
            <a:xfrm>
              <a:off x="5961888" y="4663440"/>
              <a:ext cx="182880" cy="182880"/>
            </a:xfrm>
            <a:prstGeom prst="ellipse">
              <a:avLst/>
            </a:prstGeom>
            <a:solidFill>
              <a:srgbClr val="16A34A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6009437" y="4723790"/>
              <a:ext cx="89611" cy="67666"/>
            </a:xfrm>
            <a:custGeom>
              <a:avLst/>
              <a:gdLst/>
              <a:ahLst/>
              <a:cxnLst/>
              <a:rect l="l" t="t" r="r" b="b"/>
              <a:pathLst>
                <a:path w="89611" h="67666">
                  <a:moveTo>
                    <a:pt x="0" y="36576"/>
                  </a:moveTo>
                  <a:lnTo>
                    <a:pt x="31089" y="67666"/>
                  </a:lnTo>
                  <a:lnTo>
                    <a:pt x="89611" y="0"/>
                  </a:lnTo>
                </a:path>
              </a:pathLst>
            </a:custGeom>
            <a:noFill/>
            <a:ln w="2413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" name="Badge ok"/>
          <p:cNvGrpSpPr/>
          <p:nvPr/>
        </p:nvGrpSpPr>
        <p:grpSpPr>
          <a:xfrm>
            <a:off x="7767828" y="4663440"/>
            <a:ext cx="182880" cy="182880"/>
            <a:chOff x="7767828" y="4663440"/>
            <a:chExt cx="182880" cy="182880"/>
          </a:xfrm>
        </p:grpSpPr>
        <p:sp>
          <p:nvSpPr>
            <p:cNvPr id="17506" name="Oval 17505"/>
            <p:cNvSpPr/>
            <p:nvPr/>
          </p:nvSpPr>
          <p:spPr>
            <a:xfrm>
              <a:off x="7767828" y="4663440"/>
              <a:ext cx="182880" cy="182880"/>
            </a:xfrm>
            <a:prstGeom prst="ellipse">
              <a:avLst/>
            </a:prstGeom>
            <a:solidFill>
              <a:srgbClr val="16A34A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7815377" y="4723790"/>
              <a:ext cx="89611" cy="67666"/>
            </a:xfrm>
            <a:custGeom>
              <a:avLst/>
              <a:gdLst/>
              <a:ahLst/>
              <a:cxnLst/>
              <a:rect l="l" t="t" r="r" b="b"/>
              <a:pathLst>
                <a:path w="89611" h="67666">
                  <a:moveTo>
                    <a:pt x="0" y="36576"/>
                  </a:moveTo>
                  <a:lnTo>
                    <a:pt x="31089" y="67666"/>
                  </a:lnTo>
                  <a:lnTo>
                    <a:pt x="89611" y="0"/>
                  </a:lnTo>
                </a:path>
              </a:pathLst>
            </a:custGeom>
            <a:noFill/>
            <a:ln w="2413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" name="Badge busy"/>
          <p:cNvGrpSpPr/>
          <p:nvPr/>
        </p:nvGrpSpPr>
        <p:grpSpPr>
          <a:xfrm>
            <a:off x="9573768" y="4663440"/>
            <a:ext cx="182880" cy="182880"/>
            <a:chOff x="9573768" y="4663440"/>
            <a:chExt cx="182880" cy="182880"/>
          </a:xfrm>
        </p:grpSpPr>
        <p:sp>
          <p:nvSpPr>
            <p:cNvPr id="17507" name="Oval 17506"/>
            <p:cNvSpPr/>
            <p:nvPr/>
          </p:nvSpPr>
          <p:spPr>
            <a:xfrm>
              <a:off x="9573768" y="4663440"/>
              <a:ext cx="182880" cy="182880"/>
            </a:xfrm>
            <a:prstGeom prst="ellipse">
              <a:avLst/>
            </a:prstGeom>
            <a:solidFill>
              <a:srgbClr val="D9770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08" name="Rectangle 17507"/>
            <p:cNvSpPr/>
            <p:nvPr/>
          </p:nvSpPr>
          <p:spPr>
            <a:xfrm>
              <a:off x="9617659" y="4742078"/>
              <a:ext cx="95098" cy="256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509" name="Planned marker"/>
          <p:cNvSpPr/>
          <p:nvPr/>
        </p:nvSpPr>
        <p:spPr>
          <a:xfrm>
            <a:off x="11379708" y="4663440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9" name="Badge ok"/>
          <p:cNvGrpSpPr/>
          <p:nvPr/>
        </p:nvGrpSpPr>
        <p:grpSpPr>
          <a:xfrm>
            <a:off x="7292340" y="4475988"/>
            <a:ext cx="137160" cy="137160"/>
            <a:chOff x="7292340" y="4475988"/>
            <a:chExt cx="137160" cy="137160"/>
          </a:xfrm>
        </p:grpSpPr>
        <p:sp>
          <p:nvSpPr>
            <p:cNvPr id="17510" name="Oval 17509"/>
            <p:cNvSpPr/>
            <p:nvPr/>
          </p:nvSpPr>
          <p:spPr>
            <a:xfrm>
              <a:off x="7292340" y="4475988"/>
              <a:ext cx="137160" cy="137160"/>
            </a:xfrm>
            <a:prstGeom prst="ellipse">
              <a:avLst/>
            </a:prstGeom>
            <a:solidFill>
              <a:srgbClr val="16A34A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7328002" y="4521251"/>
              <a:ext cx="67208" cy="50749"/>
            </a:xfrm>
            <a:custGeom>
              <a:avLst/>
              <a:gdLst/>
              <a:ahLst/>
              <a:cxnLst/>
              <a:rect l="l" t="t" r="r" b="b"/>
              <a:pathLst>
                <a:path w="67208" h="50749">
                  <a:moveTo>
                    <a:pt x="0" y="27432"/>
                  </a:moveTo>
                  <a:lnTo>
                    <a:pt x="23317" y="50749"/>
                  </a:lnTo>
                  <a:lnTo>
                    <a:pt x="67208" y="0"/>
                  </a:lnTo>
                </a:path>
              </a:pathLst>
            </a:custGeom>
            <a:noFill/>
            <a:ln w="1809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511" name="TextBox 17510"/>
          <p:cNvSpPr txBox="1"/>
          <p:nvPr/>
        </p:nvSpPr>
        <p:spPr>
          <a:xfrm>
            <a:off x="7470648" y="44622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4B5563"/>
                </a:solidFill>
                <a:latin typeface="Arial"/>
              </a:rPr>
              <a:t>implemented</a:t>
            </a:r>
          </a:p>
        </p:txBody>
      </p:sp>
      <p:grpSp>
        <p:nvGrpSpPr>
          <p:cNvPr id="31" name="Badge busy"/>
          <p:cNvGrpSpPr/>
          <p:nvPr/>
        </p:nvGrpSpPr>
        <p:grpSpPr>
          <a:xfrm>
            <a:off x="8481060" y="4475988"/>
            <a:ext cx="137160" cy="137160"/>
            <a:chOff x="8481060" y="4475988"/>
            <a:chExt cx="137160" cy="137160"/>
          </a:xfrm>
        </p:grpSpPr>
        <p:sp>
          <p:nvSpPr>
            <p:cNvPr id="17512" name="Oval 17511"/>
            <p:cNvSpPr/>
            <p:nvPr/>
          </p:nvSpPr>
          <p:spPr>
            <a:xfrm>
              <a:off x="8481060" y="4475988"/>
              <a:ext cx="137160" cy="137160"/>
            </a:xfrm>
            <a:prstGeom prst="ellipse">
              <a:avLst/>
            </a:prstGeom>
            <a:solidFill>
              <a:srgbClr val="D9770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13" name="Rectangle 17512"/>
            <p:cNvSpPr/>
            <p:nvPr/>
          </p:nvSpPr>
          <p:spPr>
            <a:xfrm>
              <a:off x="8513978" y="4534967"/>
              <a:ext cx="71323" cy="192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514" name="TextBox 17513"/>
          <p:cNvSpPr txBox="1"/>
          <p:nvPr/>
        </p:nvSpPr>
        <p:spPr>
          <a:xfrm>
            <a:off x="8659368" y="44622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4B5563"/>
                </a:solidFill>
                <a:latin typeface="Arial"/>
              </a:rPr>
              <a:t>in development</a:t>
            </a:r>
          </a:p>
        </p:txBody>
      </p:sp>
      <p:sp>
        <p:nvSpPr>
          <p:cNvPr id="17515" name="Oval 17514"/>
          <p:cNvSpPr/>
          <p:nvPr/>
        </p:nvSpPr>
        <p:spPr>
          <a:xfrm>
            <a:off x="9852660" y="4475988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6" name="TextBox 17515"/>
          <p:cNvSpPr txBox="1"/>
          <p:nvPr/>
        </p:nvSpPr>
        <p:spPr>
          <a:xfrm>
            <a:off x="10030968" y="44622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4B5563"/>
                </a:solidFill>
                <a:latin typeface="Arial"/>
              </a:rPr>
              <a:t>planned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600" b="1">
                <a:solidFill>
                  <a:srgbClr val="003366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143000"/>
            <a:ext cx="35204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buNone/>
            </a:pPr>
            <a:r>
              <a:rPr sz="1200" b="1">
                <a:solidFill>
                  <a:srgbClr val="003366"/>
                </a:solidFill>
                <a:latin typeface="Arial"/>
              </a:rPr>
              <a:t>Operational Feasibility
</a:t>
            </a:r>
            <a:r>
              <a:rPr sz="950" b="1">
                <a:solidFill>
                  <a:srgbClr val="0070C0"/>
                </a:solidFill>
                <a:latin typeface="Arial"/>
              </a:rPr>
              <a:t>Zero EHR Intrusion
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Lightweight Web Overlay: </a:t>
            </a:r>
            <a:r>
              <a:rPr sz="850">
                <a:solidFill>
                  <a:srgbClr val="4B5563"/>
                </a:solidFill>
                <a:latin typeface="Arial"/>
              </a:rPr>
              <a:t>Runs in any browser without costly integration into proprietary hospital EHR/HIS systems.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Zero Hardware Lock-In: </a:t>
            </a:r>
            <a:r>
              <a:rPr sz="850">
                <a:solidFill>
                  <a:srgbClr val="4B5563"/>
                </a:solidFill>
                <a:latin typeface="Arial"/>
              </a:rPr>
              <a:t>Compatible with any ambulance tablet, phone, or ER desktop; no device integration.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Sub-50ms Processing: </a:t>
            </a:r>
            <a:r>
              <a:rPr sz="850">
                <a:solidFill>
                  <a:srgbClr val="4B5563"/>
                </a:solidFill>
                <a:latin typeface="Arial"/>
              </a:rPr>
              <a:t>Synchronous in-memory pipeline ensures instant operational response times.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343400" y="1143000"/>
            <a:ext cx="35204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buNone/>
            </a:pPr>
            <a:r>
              <a:rPr sz="1200" b="1">
                <a:solidFill>
                  <a:srgbClr val="003366"/>
                </a:solidFill>
                <a:latin typeface="Arial"/>
              </a:rPr>
              <a:t>Technical Feasibility
</a:t>
            </a:r>
            <a:r>
              <a:rPr sz="950" b="1">
                <a:solidFill>
                  <a:srgbClr val="0070C0"/>
                </a:solidFill>
                <a:latin typeface="Arial"/>
              </a:rPr>
              <a:t>Offline-First to Cloud
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Self-Contained Local Prototype: </a:t>
            </a:r>
            <a:r>
              <a:rPr sz="850">
                <a:solidFill>
                  <a:srgbClr val="4B5563"/>
                </a:solidFill>
                <a:latin typeface="Arial"/>
              </a:rPr>
              <a:t>100% offline-capable on port-isolated Vite servers for field / hackathon resilience.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CDK Serverless Architecture: </a:t>
            </a:r>
            <a:r>
              <a:rPr sz="850">
                <a:solidFill>
                  <a:srgbClr val="4B5563"/>
                </a:solidFill>
                <a:latin typeface="Arial"/>
              </a:rPr>
              <a:t>Clean 1:1 mapping from local components to AWS EventBridge, Lambda, and DynamoDB.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Shadow Engine Verification: </a:t>
            </a:r>
            <a:r>
              <a:rPr sz="850">
                <a:solidFill>
                  <a:srgbClr val="4B5563"/>
                </a:solidFill>
                <a:latin typeface="Arial"/>
              </a:rPr>
              <a:t>Runs parallel deterministic checks with 0 regression disagreements.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138160" y="1143000"/>
            <a:ext cx="35204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buNone/>
            </a:pPr>
            <a:r>
              <a:rPr sz="1200" b="1">
                <a:solidFill>
                  <a:srgbClr val="003366"/>
                </a:solidFill>
                <a:latin typeface="Arial"/>
              </a:rPr>
              <a:t>Economic Viability
</a:t>
            </a:r>
            <a:r>
              <a:rPr sz="950" b="1">
                <a:solidFill>
                  <a:srgbClr val="0070C0"/>
                </a:solidFill>
                <a:latin typeface="Arial"/>
              </a:rPr>
              <a:t>High-Impact Cost Efficiency
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Serverless Pay-Per-Event: </a:t>
            </a:r>
            <a:r>
              <a:rPr sz="850">
                <a:solidFill>
                  <a:srgbClr val="4B5563"/>
                </a:solidFill>
                <a:latin typeface="Arial"/>
              </a:rPr>
              <a:t>Negligible idle cost; scales dynamically with emergency call volume at fractions of a cent.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Prevents Fatal Diversions: </a:t>
            </a:r>
            <a:r>
              <a:rPr sz="850">
                <a:solidFill>
                  <a:srgbClr val="4B5563"/>
                </a:solidFill>
                <a:latin typeface="Arial"/>
              </a:rPr>
              <a:t>Eliminates catastrophic costs associated with secondary transfers and ER turnaways.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Resource Optimization: </a:t>
            </a:r>
            <a:r>
              <a:rPr sz="850">
                <a:solidFill>
                  <a:srgbClr val="4B5563"/>
                </a:solidFill>
                <a:latin typeface="Arial"/>
              </a:rPr>
              <a:t>Reduces wasted ambulance mileage and enables prepared hospital intake.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48640" y="3291840"/>
            <a:ext cx="11091672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731520" y="336499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RISK VS. STRATEGY MITIGATION MATRIX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731520" y="3657600"/>
            <a:ext cx="5120640" cy="53035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buNone/>
            </a:pPr>
            <a:r>
              <a:rPr sz="900" b="1">
                <a:solidFill>
                  <a:srgbClr val="B91C1C"/>
                </a:solidFill>
                <a:latin typeface="Arial"/>
              </a:rPr>
              <a:t>⚠ [RISK] Public Directory Blind Spots: </a:t>
            </a:r>
            <a:r>
              <a:rPr sz="850">
                <a:solidFill>
                  <a:srgbClr val="1F2937"/>
                </a:solidFill>
                <a:latin typeface="Arial"/>
              </a:rPr>
              <a:t>Govt hospital registries list facilities but lack live ICU / bed status.</a:t>
            </a:r>
          </a:p>
        </p:txBody>
      </p:sp>
      <p:sp>
        <p:nvSpPr>
          <p:cNvPr id="17417" name="Right Arrow 17416"/>
          <p:cNvSpPr/>
          <p:nvPr/>
        </p:nvSpPr>
        <p:spPr>
          <a:xfrm>
            <a:off x="5943600" y="3822192"/>
            <a:ext cx="164592" cy="1828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6199632" y="3657600"/>
            <a:ext cx="5257800" cy="53035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buNone/>
            </a:pPr>
            <a:r>
              <a:rPr sz="900" b="1">
                <a:solidFill>
                  <a:srgbClr val="15803D"/>
                </a:solidFill>
                <a:latin typeface="Arial"/>
              </a:rPr>
              <a:t>✔ [STRATEGY] Honest Availability Semantics: </a:t>
            </a:r>
            <a:r>
              <a:rPr sz="850">
                <a:solidFill>
                  <a:srgbClr val="1F2937"/>
                </a:solidFill>
                <a:latin typeface="Arial"/>
              </a:rPr>
              <a:t>Unconfirmed capacities strictly flagged UNKNOWN; explicit acceptance is mandatory.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31520" y="4251960"/>
            <a:ext cx="5120640" cy="53035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buNone/>
            </a:pPr>
            <a:r>
              <a:rPr sz="900" b="1">
                <a:solidFill>
                  <a:srgbClr val="B91C1C"/>
                </a:solidFill>
                <a:latin typeface="Arial"/>
              </a:rPr>
              <a:t>⚠ [RISK] Urban Transit Cellular Drops: </a:t>
            </a:r>
            <a:r>
              <a:rPr sz="850">
                <a:solidFill>
                  <a:srgbClr val="1F2937"/>
                </a:solidFill>
                <a:latin typeface="Arial"/>
              </a:rPr>
              <a:t>Mobile connectivity fluctuates during high-speed ambulance transit.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5943600" y="4416552"/>
            <a:ext cx="164592" cy="1828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6199632" y="4251960"/>
            <a:ext cx="5257800" cy="53035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buNone/>
            </a:pPr>
            <a:r>
              <a:rPr sz="900" b="1">
                <a:solidFill>
                  <a:srgbClr val="15803D"/>
                </a:solidFill>
                <a:latin typeface="Arial"/>
              </a:rPr>
              <a:t>✔ [STRATEGY] Offline Caching &amp; Reconnection: </a:t>
            </a:r>
            <a:r>
              <a:rPr sz="850">
                <a:solidFill>
                  <a:srgbClr val="1F2937"/>
                </a:solidFill>
                <a:latin typeface="Arial"/>
              </a:rPr>
              <a:t>Local client state caching, auto Socket.IO backoff; keeps last GPS with UNKNOWN ETA.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731520" y="4846320"/>
            <a:ext cx="5120640" cy="53035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buNone/>
            </a:pPr>
            <a:r>
              <a:rPr sz="900" b="1">
                <a:solidFill>
                  <a:srgbClr val="B91C1C"/>
                </a:solidFill>
                <a:latin typeface="Arial"/>
              </a:rPr>
              <a:t>⚠ [RISK] In-Memory State Volatility: </a:t>
            </a:r>
            <a:r>
              <a:rPr sz="850">
                <a:solidFill>
                  <a:srgbClr val="1F2937"/>
                </a:solidFill>
                <a:latin typeface="Arial"/>
              </a:rPr>
              <a:t>Prototype runs in memory; process crash resets active emergency session.</a:t>
            </a:r>
          </a:p>
        </p:txBody>
      </p:sp>
      <p:sp>
        <p:nvSpPr>
          <p:cNvPr id="17423" name="Right Arrow 17422"/>
          <p:cNvSpPr/>
          <p:nvPr/>
        </p:nvSpPr>
        <p:spPr>
          <a:xfrm>
            <a:off x="5943600" y="5010912"/>
            <a:ext cx="164592" cy="1828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6199632" y="4846320"/>
            <a:ext cx="5257800" cy="53035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buNone/>
            </a:pPr>
            <a:r>
              <a:rPr sz="900" b="1">
                <a:solidFill>
                  <a:srgbClr val="15803D"/>
                </a:solidFill>
                <a:latin typeface="Arial"/>
              </a:rPr>
              <a:t>✔ [STRATEGY] Enterprise Persistence Path: </a:t>
            </a:r>
            <a:r>
              <a:rPr sz="850">
                <a:solidFill>
                  <a:srgbClr val="1F2937"/>
                </a:solidFill>
                <a:latin typeface="Arial"/>
              </a:rPr>
              <a:t>Migration roadmap mapped to transactional SQLite locally and DynamoDB single-table cloud.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731520" y="5440680"/>
            <a:ext cx="5120640" cy="53035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buNone/>
            </a:pPr>
            <a:r>
              <a:rPr sz="900" b="1">
                <a:solidFill>
                  <a:srgbClr val="B91C1C"/>
                </a:solidFill>
                <a:latin typeface="Arial"/>
              </a:rPr>
              <a:t>⚠ [RISK] Generative AI Hallucinations: </a:t>
            </a:r>
            <a:r>
              <a:rPr sz="850">
                <a:solidFill>
                  <a:srgbClr val="1F2937"/>
                </a:solidFill>
                <a:latin typeface="Arial"/>
              </a:rPr>
              <a:t>Unbounded LLMs could hallucinate clinical triaging or routing destinations.</a:t>
            </a:r>
          </a:p>
        </p:txBody>
      </p:sp>
      <p:sp>
        <p:nvSpPr>
          <p:cNvPr id="17426" name="Right Arrow 17425"/>
          <p:cNvSpPr/>
          <p:nvPr/>
        </p:nvSpPr>
        <p:spPr>
          <a:xfrm>
            <a:off x="5943600" y="5605272"/>
            <a:ext cx="164592" cy="18288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6199632" y="5440680"/>
            <a:ext cx="5257800" cy="53035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buNone/>
            </a:pPr>
            <a:r>
              <a:rPr sz="900" b="1">
                <a:solidFill>
                  <a:srgbClr val="15803D"/>
                </a:solidFill>
                <a:latin typeface="Arial"/>
              </a:rPr>
              <a:t>✔ [STRATEGY] Strict Advisory AI Sandboxing: </a:t>
            </a:r>
            <a:r>
              <a:rPr sz="850">
                <a:solidFill>
                  <a:srgbClr val="1F2937"/>
                </a:solidFill>
                <a:latin typeface="Arial"/>
              </a:rPr>
              <a:t>Amazon Bedrock strictly sandboxed to read-only summaries; routing is 100% deterministic code.</a:t>
            </a:r>
          </a:p>
        </p:txBody>
      </p:sp>
      <p:grpSp>
        <p:nvGrpSpPr>
          <p:cNvPr id="2" name="Web overlay illustration"/>
          <p:cNvGrpSpPr/>
          <p:nvPr/>
        </p:nvGrpSpPr>
        <p:grpSpPr>
          <a:xfrm>
            <a:off x="777240" y="1305763"/>
            <a:ext cx="438912" cy="336500"/>
            <a:chOff x="777240" y="1305763"/>
            <a:chExt cx="438912" cy="336500"/>
          </a:xfrm>
        </p:grpSpPr>
        <p:sp>
          <p:nvSpPr>
            <p:cNvPr id="17428" name="Rounded Rectangle 17427"/>
            <p:cNvSpPr/>
            <p:nvPr/>
          </p:nvSpPr>
          <p:spPr>
            <a:xfrm>
              <a:off x="777240" y="1305763"/>
              <a:ext cx="438912" cy="263347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219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9" name="Rectangle 17428"/>
            <p:cNvSpPr/>
            <p:nvPr/>
          </p:nvSpPr>
          <p:spPr>
            <a:xfrm>
              <a:off x="804672" y="1335024"/>
              <a:ext cx="384048" cy="204826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0" name="Rectangle 17429"/>
            <p:cNvSpPr/>
            <p:nvPr/>
          </p:nvSpPr>
          <p:spPr>
            <a:xfrm>
              <a:off x="841248" y="1371600"/>
              <a:ext cx="274320" cy="21946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1" name="Rectangle 17430"/>
            <p:cNvSpPr/>
            <p:nvPr/>
          </p:nvSpPr>
          <p:spPr>
            <a:xfrm>
              <a:off x="841248" y="1415491"/>
              <a:ext cx="320040" cy="21946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2" name="Rectangle 17431"/>
            <p:cNvSpPr/>
            <p:nvPr/>
          </p:nvSpPr>
          <p:spPr>
            <a:xfrm>
              <a:off x="841248" y="1459382"/>
              <a:ext cx="228600" cy="21946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3" name="Rectangle 17432"/>
            <p:cNvSpPr/>
            <p:nvPr/>
          </p:nvSpPr>
          <p:spPr>
            <a:xfrm>
              <a:off x="973836" y="1569110"/>
              <a:ext cx="45720" cy="43891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4" name="Rounded Rectangle 17433"/>
            <p:cNvSpPr/>
            <p:nvPr/>
          </p:nvSpPr>
          <p:spPr>
            <a:xfrm>
              <a:off x="905256" y="1613002"/>
              <a:ext cx="182880" cy="29261"/>
            </a:xfrm>
            <a:prstGeom prst="roundRect">
              <a:avLst>
                <a:gd name="adj" fmla="val 50000"/>
              </a:avLst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" name="Local to cloud illustration"/>
          <p:cNvGrpSpPr/>
          <p:nvPr/>
        </p:nvGrpSpPr>
        <p:grpSpPr>
          <a:xfrm>
            <a:off x="4487418" y="1280160"/>
            <a:ext cx="678942" cy="349301"/>
            <a:chOff x="4487418" y="1280160"/>
            <a:chExt cx="678942" cy="349301"/>
          </a:xfrm>
        </p:grpSpPr>
        <p:grpSp>
          <p:nvGrpSpPr>
            <p:cNvPr id="4" name="Dashboard illustration"/>
            <p:cNvGrpSpPr/>
            <p:nvPr/>
          </p:nvGrpSpPr>
          <p:grpSpPr>
            <a:xfrm>
              <a:off x="4487418" y="1377086"/>
              <a:ext cx="329184" cy="252375"/>
              <a:chOff x="4487418" y="1377086"/>
              <a:chExt cx="329184" cy="252375"/>
            </a:xfrm>
          </p:grpSpPr>
          <p:sp>
            <p:nvSpPr>
              <p:cNvPr id="17435" name="Rounded Rectangle 17434"/>
              <p:cNvSpPr/>
              <p:nvPr/>
            </p:nvSpPr>
            <p:spPr>
              <a:xfrm>
                <a:off x="4487418" y="1377086"/>
                <a:ext cx="329184" cy="197510"/>
              </a:xfrm>
              <a:prstGeom prst="roundRect">
                <a:avLst>
                  <a:gd name="adj" fmla="val 7000"/>
                </a:avLst>
              </a:prstGeom>
              <a:solidFill>
                <a:srgbClr val="FFFFFF"/>
              </a:solidFill>
              <a:ln w="9525">
                <a:solidFill>
                  <a:srgbClr val="00336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36" name="Rectangle 17435"/>
              <p:cNvSpPr/>
              <p:nvPr/>
            </p:nvSpPr>
            <p:spPr>
              <a:xfrm>
                <a:off x="4507992" y="1399032"/>
                <a:ext cx="288036" cy="153619"/>
              </a:xfrm>
              <a:prstGeom prst="rect">
                <a:avLst/>
              </a:prstGeom>
              <a:solidFill>
                <a:srgbClr val="E3EE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37" name="Rectangle 17436"/>
              <p:cNvSpPr/>
              <p:nvPr/>
            </p:nvSpPr>
            <p:spPr>
              <a:xfrm>
                <a:off x="4535424" y="1426464"/>
                <a:ext cx="205740" cy="16459"/>
              </a:xfrm>
              <a:prstGeom prst="rect">
                <a:avLst/>
              </a:prstGeom>
              <a:solidFill>
                <a:srgbClr val="CBD5E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38" name="Rectangle 17437"/>
              <p:cNvSpPr/>
              <p:nvPr/>
            </p:nvSpPr>
            <p:spPr>
              <a:xfrm>
                <a:off x="4535424" y="1459382"/>
                <a:ext cx="240030" cy="16459"/>
              </a:xfrm>
              <a:prstGeom prst="rect">
                <a:avLst/>
              </a:prstGeom>
              <a:solidFill>
                <a:srgbClr val="CBD5E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39" name="Rectangle 17438"/>
              <p:cNvSpPr/>
              <p:nvPr/>
            </p:nvSpPr>
            <p:spPr>
              <a:xfrm>
                <a:off x="4535424" y="1492301"/>
                <a:ext cx="171450" cy="16459"/>
              </a:xfrm>
              <a:prstGeom prst="rect">
                <a:avLst/>
              </a:prstGeom>
              <a:solidFill>
                <a:srgbClr val="CBD5E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40" name="Rectangle 17439"/>
              <p:cNvSpPr/>
              <p:nvPr/>
            </p:nvSpPr>
            <p:spPr>
              <a:xfrm>
                <a:off x="4634865" y="1574597"/>
                <a:ext cx="34290" cy="32918"/>
              </a:xfrm>
              <a:prstGeom prst="rect">
                <a:avLst/>
              </a:prstGeom>
              <a:solidFill>
                <a:srgbClr val="00336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41" name="Rounded Rectangle 17440"/>
              <p:cNvSpPr/>
              <p:nvPr/>
            </p:nvSpPr>
            <p:spPr>
              <a:xfrm>
                <a:off x="4583430" y="1607515"/>
                <a:ext cx="137160" cy="21946"/>
              </a:xfrm>
              <a:prstGeom prst="roundRect">
                <a:avLst>
                  <a:gd name="adj" fmla="val 50000"/>
                </a:avLst>
              </a:prstGeom>
              <a:solidFill>
                <a:srgbClr val="00336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7442" name="Cloud illustration"/>
            <p:cNvSpPr/>
            <p:nvPr/>
          </p:nvSpPr>
          <p:spPr>
            <a:xfrm>
              <a:off x="4764024" y="1280160"/>
              <a:ext cx="402336" cy="246888"/>
            </a:xfrm>
            <a:prstGeom prst="cloud">
              <a:avLst/>
            </a:prstGeom>
            <a:solidFill>
              <a:srgbClr val="FFFFFF"/>
            </a:solidFill>
            <a:ln w="1270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Cost illustration"/>
          <p:cNvGrpSpPr/>
          <p:nvPr/>
        </p:nvGrpSpPr>
        <p:grpSpPr>
          <a:xfrm>
            <a:off x="8375904" y="1298448"/>
            <a:ext cx="337962" cy="384048"/>
            <a:chOff x="8375904" y="1298448"/>
            <a:chExt cx="337962" cy="384048"/>
          </a:xfrm>
        </p:grpSpPr>
        <p:sp>
          <p:nvSpPr>
            <p:cNvPr id="17443" name="Oval 17442"/>
            <p:cNvSpPr/>
            <p:nvPr/>
          </p:nvSpPr>
          <p:spPr>
            <a:xfrm>
              <a:off x="8414309" y="1382939"/>
              <a:ext cx="299557" cy="299557"/>
            </a:xfrm>
            <a:prstGeom prst="ellipse">
              <a:avLst/>
            </a:prstGeom>
            <a:solidFill>
              <a:srgbClr val="E3EEF9"/>
            </a:solidFill>
            <a:ln w="12801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4" name="Oval 17443"/>
            <p:cNvSpPr/>
            <p:nvPr/>
          </p:nvSpPr>
          <p:spPr>
            <a:xfrm>
              <a:off x="8375904" y="1298448"/>
              <a:ext cx="299557" cy="299557"/>
            </a:xfrm>
            <a:prstGeom prst="ellipse">
              <a:avLst/>
            </a:prstGeom>
            <a:solidFill>
              <a:srgbClr val="FFFFFF"/>
            </a:solidFill>
            <a:ln w="12801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1100" b="1" i="0">
                  <a:solidFill>
                    <a:srgbClr val="003366"/>
                  </a:solidFill>
                  <a:latin typeface="Arial"/>
                </a:rPr>
                <a:t>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600" b="1">
                <a:solidFill>
                  <a:srgbClr val="003366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14300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buNone/>
            </a:pPr>
            <a:r>
              <a:rPr sz="1150" b="1">
                <a:solidFill>
                  <a:srgbClr val="003366"/>
                </a:solidFill>
                <a:latin typeface="Arial"/>
              </a:rPr>
              <a:t>Patients &amp; Families
</a:t>
            </a:r>
            <a:r>
              <a:rPr sz="900" b="1">
                <a:solidFill>
                  <a:srgbClr val="0070C0"/>
                </a:solidFill>
                <a:latin typeface="Arial"/>
              </a:rPr>
              <a:t>Transparent, Honest Emergency Transit
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Honest pre-arrival travel ETAs (never fake 0-min ETAs).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Eliminates traumatizing ER diversions &amp; secondary hospital turnaways.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Live transparent care status tracking during critical care intervals.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60520" y="114300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buNone/>
            </a:pPr>
            <a:r>
              <a:rPr sz="1150" b="1">
                <a:solidFill>
                  <a:srgbClr val="003366"/>
                </a:solidFill>
                <a:latin typeface="Arial"/>
              </a:rPr>
              <a:t>Paramedic Crews
</a:t>
            </a:r>
            <a:r>
              <a:rPr sz="900" b="1">
                <a:solidFill>
                  <a:srgbClr val="0070C0"/>
                </a:solidFill>
                <a:latin typeface="Arial"/>
              </a:rPr>
              <a:t>Confirmed Destinations &amp; Zero Phone Chaos
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Destination set only after a hospital explicitly accepts, never assumed from a listing.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Automated hands-free dynamic reroute alerts if receiving ER status degrades.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Replaces chaotic en-route phone calls with structured digital handover.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48640" y="365760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buNone/>
            </a:pPr>
            <a:r>
              <a:rPr sz="1150" b="1">
                <a:solidFill>
                  <a:srgbClr val="003366"/>
                </a:solidFill>
                <a:latin typeface="Arial"/>
              </a:rPr>
              <a:t>Hospital Emergency Staff
</a:t>
            </a:r>
            <a:r>
              <a:rPr sz="900" b="1">
                <a:solidFill>
                  <a:srgbClr val="0070C0"/>
                </a:solidFill>
                <a:latin typeface="Arial"/>
              </a:rPr>
              <a:t>Structured Pre-Arrival Telemetry &amp; Prep
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Structured pre-arrival referral (required care, ETA) enables advance trauma &amp; cath lab preparation.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One-click intake control: ACCEPT, LIMITED, or REJECT based on live capacity.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Prevents ER bottleneck congestion and uncoordinated ambulance flooding.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60520" y="365760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buNone/>
            </a:pPr>
            <a:r>
              <a:rPr sz="1150" b="1">
                <a:solidFill>
                  <a:srgbClr val="003366"/>
                </a:solidFill>
                <a:latin typeface="Arial"/>
              </a:rPr>
              <a:t>Regional Care Coordinators
</a:t>
            </a:r>
            <a:r>
              <a:rPr sz="900" b="1">
                <a:solidFill>
                  <a:srgbClr val="0070C0"/>
                </a:solidFill>
                <a:latin typeface="Arial"/>
              </a:rPr>
              <a:t>District-Wide Situational Awareness
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Real-time operational dashboard across regional hospital beds &amp; dispatches.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Active monitoring of acceptance requests &amp; expiry SLA countdowns.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sz="850">
                <a:solidFill>
                  <a:srgbClr val="1F2937"/>
                </a:solidFill>
                <a:latin typeface="Arial"/>
              </a:rPr>
              <a:t>• Dynamic cross-facility load balancing during mass-casualty incidents.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7772400" y="1143000"/>
            <a:ext cx="3867912" cy="155448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buNone/>
            </a:pPr>
            <a:r>
              <a:rPr sz="1150" b="1">
                <a:solidFill>
                  <a:srgbClr val="15803D"/>
                </a:solidFill>
                <a:latin typeface="Arial"/>
              </a:rPr>
              <a:t>Clinical &amp; Social Impact
</a:t>
            </a:r>
            <a:r>
              <a:rPr sz="950" b="1">
                <a:solidFill>
                  <a:srgbClr val="0070C0"/>
                </a:solidFill>
                <a:latin typeface="Arial"/>
              </a:rPr>
              <a:t>Compressing Door-to-Needle Intervals
</a:t>
            </a:r>
            <a:r>
              <a:rPr sz="850">
                <a:solidFill>
                  <a:srgbClr val="1F2937"/>
                </a:solidFill>
                <a:latin typeface="Arial"/>
              </a:rPr>
              <a:t>Aims to reduce critical delays in acute stroke, STEMI, and trauma by avoiding secondary hospital transfers.
(Untreated ischaemic stroke destroys ~1.9M neurons per minute — Saver, Stroke 2006).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7772400" y="2788920"/>
            <a:ext cx="3867912" cy="15544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buNone/>
            </a:pPr>
            <a:r>
              <a:rPr sz="1150" b="1">
                <a:solidFill>
                  <a:srgbClr val="B45309"/>
                </a:solidFill>
                <a:latin typeface="Arial"/>
              </a:rPr>
              <a:t>Economic &amp; Urban Efficiency
</a:t>
            </a:r>
            <a:r>
              <a:rPr sz="950" b="1">
                <a:solidFill>
                  <a:srgbClr val="0070C0"/>
                </a:solidFill>
                <a:latin typeface="Arial"/>
              </a:rPr>
              <a:t>Minimizing Fuel &amp; Congestion Waste
</a:t>
            </a:r>
            <a:r>
              <a:rPr sz="850">
                <a:solidFill>
                  <a:srgbClr val="1F2937"/>
                </a:solidFill>
                <a:latin typeface="Arial"/>
              </a:rPr>
              <a:t>Dynamic shortest-feasible-path emergency routing eliminates circular transit, wasted vehicle idling, and citywide traffic disruption while optimizing ER throughput.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7772400" y="4434840"/>
            <a:ext cx="3867912" cy="155448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buNone/>
            </a:pPr>
            <a:r>
              <a:rPr sz="1150" b="1">
                <a:solidFill>
                  <a:srgbClr val="003366"/>
                </a:solidFill>
                <a:latin typeface="Arial"/>
              </a:rPr>
              <a:t>Forensic Governance
</a:t>
            </a:r>
            <a:r>
              <a:rPr sz="950" b="1">
                <a:solidFill>
                  <a:srgbClr val="0070C0"/>
                </a:solidFill>
                <a:latin typeface="Arial"/>
              </a:rPr>
              <a:t>SHA-256 Decision Audit Hashes
</a:t>
            </a:r>
            <a:r>
              <a:rPr sz="850">
                <a:solidFill>
                  <a:srgbClr val="1F2937"/>
                </a:solidFill>
                <a:latin typeface="Arial"/>
              </a:rPr>
              <a:t>Policy hashing (hashPolicy) and SHA-256-hashed routing-decision audits support governance review; a durable, tamper-evident ledger is planned.</a:t>
            </a:r>
          </a:p>
        </p:txBody>
      </p:sp>
      <p:grpSp>
        <p:nvGrpSpPr>
          <p:cNvPr id="2" name="Patient illustration"/>
          <p:cNvGrpSpPr/>
          <p:nvPr/>
        </p:nvGrpSpPr>
        <p:grpSpPr>
          <a:xfrm>
            <a:off x="2132381" y="1261872"/>
            <a:ext cx="307238" cy="347472"/>
            <a:chOff x="2132381" y="1261872"/>
            <a:chExt cx="307238" cy="347472"/>
          </a:xfrm>
        </p:grpSpPr>
        <p:sp>
          <p:nvSpPr>
            <p:cNvPr id="3" name="Freeform 2"/>
            <p:cNvSpPr/>
            <p:nvPr/>
          </p:nvSpPr>
          <p:spPr>
            <a:xfrm>
              <a:off x="2132381" y="1435608"/>
              <a:ext cx="307238" cy="173736"/>
            </a:xfrm>
            <a:custGeom>
              <a:avLst/>
              <a:gdLst/>
              <a:ahLst/>
              <a:cxnLst/>
              <a:rect l="l" t="t" r="r" b="b"/>
              <a:pathLst>
                <a:path w="307238" h="173736">
                  <a:moveTo>
                    <a:pt x="0" y="173736"/>
                  </a:moveTo>
                  <a:lnTo>
                    <a:pt x="7315" y="100584"/>
                  </a:lnTo>
                  <a:lnTo>
                    <a:pt x="29261" y="51206"/>
                  </a:lnTo>
                  <a:lnTo>
                    <a:pt x="65837" y="18288"/>
                  </a:lnTo>
                  <a:lnTo>
                    <a:pt x="117043" y="0"/>
                  </a:lnTo>
                  <a:lnTo>
                    <a:pt x="190195" y="0"/>
                  </a:lnTo>
                  <a:lnTo>
                    <a:pt x="241401" y="18288"/>
                  </a:lnTo>
                  <a:lnTo>
                    <a:pt x="277977" y="51206"/>
                  </a:lnTo>
                  <a:lnTo>
                    <a:pt x="299923" y="100584"/>
                  </a:lnTo>
                  <a:lnTo>
                    <a:pt x="307238" y="173736"/>
                  </a:lnTo>
                  <a:close/>
                </a:path>
              </a:pathLst>
            </a:custGeom>
            <a:solidFill>
              <a:srgbClr val="0070C0"/>
            </a:solidFill>
            <a:ln w="1219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18" name="Heart 17417"/>
            <p:cNvSpPr/>
            <p:nvPr/>
          </p:nvSpPr>
          <p:spPr>
            <a:xfrm>
              <a:off x="2245766" y="1484986"/>
              <a:ext cx="80467" cy="72420"/>
            </a:xfrm>
            <a:prstGeom prst="hear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19" name="Oval 17418"/>
            <p:cNvSpPr/>
            <p:nvPr/>
          </p:nvSpPr>
          <p:spPr>
            <a:xfrm>
              <a:off x="2220163" y="1261872"/>
              <a:ext cx="131674" cy="149962"/>
            </a:xfrm>
            <a:prstGeom prst="ellipse">
              <a:avLst/>
            </a:prstGeom>
            <a:solidFill>
              <a:srgbClr val="FFFFFF"/>
            </a:solidFill>
            <a:ln w="1219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" name="Ambulance illustration"/>
          <p:cNvGrpSpPr/>
          <p:nvPr/>
        </p:nvGrpSpPr>
        <p:grpSpPr>
          <a:xfrm>
            <a:off x="5641848" y="1270650"/>
            <a:ext cx="512064" cy="273588"/>
            <a:chOff x="5641848" y="1270650"/>
            <a:chExt cx="512064" cy="273588"/>
          </a:xfrm>
        </p:grpSpPr>
        <p:sp>
          <p:nvSpPr>
            <p:cNvPr id="17420" name="Rounded Rectangle 17419"/>
            <p:cNvSpPr/>
            <p:nvPr/>
          </p:nvSpPr>
          <p:spPr>
            <a:xfrm>
              <a:off x="5790347" y="1270650"/>
              <a:ext cx="66568" cy="32187"/>
            </a:xfrm>
            <a:prstGeom prst="roundRect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1" name="Rounded Rectangle 17420"/>
            <p:cNvSpPr/>
            <p:nvPr/>
          </p:nvSpPr>
          <p:spPr>
            <a:xfrm>
              <a:off x="5641848" y="1299911"/>
              <a:ext cx="330281" cy="196047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753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5959328" y="1352580"/>
              <a:ext cx="194584" cy="143378"/>
            </a:xfrm>
            <a:custGeom>
              <a:avLst/>
              <a:gdLst/>
              <a:ahLst/>
              <a:cxnLst/>
              <a:rect l="l" t="t" r="r" b="b"/>
              <a:pathLst>
                <a:path w="194584" h="143378">
                  <a:moveTo>
                    <a:pt x="0" y="0"/>
                  </a:moveTo>
                  <a:lnTo>
                    <a:pt x="92171" y="0"/>
                  </a:lnTo>
                  <a:lnTo>
                    <a:pt x="171541" y="61448"/>
                  </a:lnTo>
                  <a:lnTo>
                    <a:pt x="194584" y="73152"/>
                  </a:lnTo>
                  <a:lnTo>
                    <a:pt x="194584" y="143378"/>
                  </a:lnTo>
                  <a:lnTo>
                    <a:pt x="0" y="143378"/>
                  </a:lnTo>
                  <a:close/>
                </a:path>
              </a:pathLst>
            </a:custGeom>
            <a:solidFill>
              <a:srgbClr val="FFFFFF"/>
            </a:solidFill>
            <a:ln w="9753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5990052" y="1371600"/>
              <a:ext cx="110093" cy="45354"/>
            </a:xfrm>
            <a:custGeom>
              <a:avLst/>
              <a:gdLst/>
              <a:ahLst/>
              <a:cxnLst/>
              <a:rect l="l" t="t" r="r" b="b"/>
              <a:pathLst>
                <a:path w="110093" h="45354">
                  <a:moveTo>
                    <a:pt x="0" y="0"/>
                  </a:moveTo>
                  <a:lnTo>
                    <a:pt x="53766" y="0"/>
                  </a:lnTo>
                  <a:lnTo>
                    <a:pt x="110093" y="45354"/>
                  </a:lnTo>
                  <a:lnTo>
                    <a:pt x="0" y="45354"/>
                  </a:lnTo>
                  <a:close/>
                </a:path>
              </a:pathLst>
            </a:cu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2" name="Rectangle 17421"/>
            <p:cNvSpPr/>
            <p:nvPr/>
          </p:nvSpPr>
          <p:spPr>
            <a:xfrm>
              <a:off x="5644920" y="1437437"/>
              <a:ext cx="505919" cy="1902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3" name="Cross 17422"/>
            <p:cNvSpPr/>
            <p:nvPr/>
          </p:nvSpPr>
          <p:spPr>
            <a:xfrm>
              <a:off x="5761817" y="1326246"/>
              <a:ext cx="87782" cy="87782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4" name="Oval 17423"/>
            <p:cNvSpPr/>
            <p:nvPr/>
          </p:nvSpPr>
          <p:spPr>
            <a:xfrm>
              <a:off x="5701833" y="1459382"/>
              <a:ext cx="84856" cy="84856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5" name="Oval 17424"/>
            <p:cNvSpPr/>
            <p:nvPr/>
          </p:nvSpPr>
          <p:spPr>
            <a:xfrm>
              <a:off x="5728167" y="1485717"/>
              <a:ext cx="32187" cy="321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6" name="Oval 17425"/>
            <p:cNvSpPr/>
            <p:nvPr/>
          </p:nvSpPr>
          <p:spPr>
            <a:xfrm>
              <a:off x="6003950" y="1459382"/>
              <a:ext cx="84856" cy="84856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7" name="Oval 17426"/>
            <p:cNvSpPr/>
            <p:nvPr/>
          </p:nvSpPr>
          <p:spPr>
            <a:xfrm>
              <a:off x="6030285" y="1485717"/>
              <a:ext cx="32187" cy="321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" name="Hospital illustration"/>
          <p:cNvGrpSpPr/>
          <p:nvPr/>
        </p:nvGrpSpPr>
        <p:grpSpPr>
          <a:xfrm>
            <a:off x="2104290" y="3766231"/>
            <a:ext cx="363420" cy="302849"/>
            <a:chOff x="2104290" y="3766231"/>
            <a:chExt cx="363420" cy="302849"/>
          </a:xfrm>
        </p:grpSpPr>
        <p:sp>
          <p:nvSpPr>
            <p:cNvPr id="17428" name="Rectangle 17427"/>
            <p:cNvSpPr/>
            <p:nvPr/>
          </p:nvSpPr>
          <p:spPr>
            <a:xfrm>
              <a:off x="2104290" y="3858402"/>
              <a:ext cx="128711" cy="210678"/>
            </a:xfrm>
            <a:prstGeom prst="rect">
              <a:avLst/>
            </a:prstGeom>
            <a:solidFill>
              <a:srgbClr val="FFFFFF"/>
            </a:solidFill>
            <a:ln w="1097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9" name="Rectangle 17428"/>
            <p:cNvSpPr/>
            <p:nvPr/>
          </p:nvSpPr>
          <p:spPr>
            <a:xfrm>
              <a:off x="2338999" y="3858402"/>
              <a:ext cx="128711" cy="210678"/>
            </a:xfrm>
            <a:prstGeom prst="rect">
              <a:avLst/>
            </a:prstGeom>
            <a:solidFill>
              <a:srgbClr val="FFFFFF"/>
            </a:solidFill>
            <a:ln w="1097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0" name="Rectangle 17429"/>
            <p:cNvSpPr/>
            <p:nvPr/>
          </p:nvSpPr>
          <p:spPr>
            <a:xfrm>
              <a:off x="2210288" y="3766231"/>
              <a:ext cx="151425" cy="302849"/>
            </a:xfrm>
            <a:prstGeom prst="rect">
              <a:avLst/>
            </a:prstGeom>
            <a:solidFill>
              <a:srgbClr val="FFFFFF"/>
            </a:solidFill>
            <a:ln w="1097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1" name="Cross 17430"/>
            <p:cNvSpPr/>
            <p:nvPr/>
          </p:nvSpPr>
          <p:spPr>
            <a:xfrm>
              <a:off x="2244852" y="3787628"/>
              <a:ext cx="82296" cy="82296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2" name="Rectangle 17431"/>
            <p:cNvSpPr/>
            <p:nvPr/>
          </p:nvSpPr>
          <p:spPr>
            <a:xfrm>
              <a:off x="2130790" y="3891321"/>
              <a:ext cx="75712" cy="36210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3" name="Rectangle 17432"/>
            <p:cNvSpPr/>
            <p:nvPr/>
          </p:nvSpPr>
          <p:spPr>
            <a:xfrm>
              <a:off x="2130790" y="3957157"/>
              <a:ext cx="75712" cy="36210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4" name="Rectangle 17433"/>
            <p:cNvSpPr/>
            <p:nvPr/>
          </p:nvSpPr>
          <p:spPr>
            <a:xfrm>
              <a:off x="2365498" y="3891321"/>
              <a:ext cx="75712" cy="36210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5" name="Rectangle 17434"/>
            <p:cNvSpPr/>
            <p:nvPr/>
          </p:nvSpPr>
          <p:spPr>
            <a:xfrm>
              <a:off x="2365498" y="3957157"/>
              <a:ext cx="75712" cy="36210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6" name="Rectangle 17435"/>
            <p:cNvSpPr/>
            <p:nvPr/>
          </p:nvSpPr>
          <p:spPr>
            <a:xfrm>
              <a:off x="2240573" y="3904488"/>
              <a:ext cx="90855" cy="32918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7" name="Rectangle 17436"/>
            <p:cNvSpPr/>
            <p:nvPr/>
          </p:nvSpPr>
          <p:spPr>
            <a:xfrm>
              <a:off x="2253822" y="3983492"/>
              <a:ext cx="64355" cy="8558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Dashboard illustration"/>
          <p:cNvGrpSpPr/>
          <p:nvPr/>
        </p:nvGrpSpPr>
        <p:grpSpPr>
          <a:xfrm>
            <a:off x="5700370" y="3755624"/>
            <a:ext cx="395021" cy="302849"/>
            <a:chOff x="5700370" y="3755624"/>
            <a:chExt cx="395021" cy="302849"/>
          </a:xfrm>
        </p:grpSpPr>
        <p:sp>
          <p:nvSpPr>
            <p:cNvPr id="17438" name="Rounded Rectangle 17437"/>
            <p:cNvSpPr/>
            <p:nvPr/>
          </p:nvSpPr>
          <p:spPr>
            <a:xfrm>
              <a:off x="5700370" y="3755624"/>
              <a:ext cx="395021" cy="237012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097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9" name="Rectangle 17438"/>
            <p:cNvSpPr/>
            <p:nvPr/>
          </p:nvSpPr>
          <p:spPr>
            <a:xfrm>
              <a:off x="5725058" y="3781958"/>
              <a:ext cx="345643" cy="184343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0" name="Rectangle 17439"/>
            <p:cNvSpPr/>
            <p:nvPr/>
          </p:nvSpPr>
          <p:spPr>
            <a:xfrm>
              <a:off x="5749747" y="3887297"/>
              <a:ext cx="32918" cy="59253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1" name="Rectangle 17440"/>
            <p:cNvSpPr/>
            <p:nvPr/>
          </p:nvSpPr>
          <p:spPr>
            <a:xfrm>
              <a:off x="5799125" y="3847795"/>
              <a:ext cx="32918" cy="9875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2" name="Rectangle 17441"/>
            <p:cNvSpPr/>
            <p:nvPr/>
          </p:nvSpPr>
          <p:spPr>
            <a:xfrm>
              <a:off x="5848502" y="3814877"/>
              <a:ext cx="32918" cy="131674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3" name="Oval 17442"/>
            <p:cNvSpPr/>
            <p:nvPr/>
          </p:nvSpPr>
          <p:spPr>
            <a:xfrm>
              <a:off x="5951372" y="3805001"/>
              <a:ext cx="65837" cy="6583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5956639" y="3852404"/>
              <a:ext cx="55303" cy="48061"/>
            </a:xfrm>
            <a:custGeom>
              <a:avLst/>
              <a:gdLst/>
              <a:ahLst/>
              <a:cxnLst/>
              <a:rect l="l" t="t" r="r" b="b"/>
              <a:pathLst>
                <a:path w="55303" h="48061">
                  <a:moveTo>
                    <a:pt x="0" y="0"/>
                  </a:moveTo>
                  <a:lnTo>
                    <a:pt x="55303" y="0"/>
                  </a:lnTo>
                  <a:lnTo>
                    <a:pt x="27652" y="4806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4" name="Oval 17443"/>
            <p:cNvSpPr/>
            <p:nvPr/>
          </p:nvSpPr>
          <p:spPr>
            <a:xfrm>
              <a:off x="5971782" y="3825411"/>
              <a:ext cx="25018" cy="250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5" name="Rectangle 17444"/>
            <p:cNvSpPr/>
            <p:nvPr/>
          </p:nvSpPr>
          <p:spPr>
            <a:xfrm>
              <a:off x="5877306" y="3992636"/>
              <a:ext cx="41148" cy="39502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6" name="Rounded Rectangle 17445"/>
            <p:cNvSpPr/>
            <p:nvPr/>
          </p:nvSpPr>
          <p:spPr>
            <a:xfrm>
              <a:off x="5815584" y="4032138"/>
              <a:ext cx="164592" cy="26335"/>
            </a:xfrm>
            <a:prstGeom prst="roundRect">
              <a:avLst>
                <a:gd name="adj" fmla="val 50000"/>
              </a:avLst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600" b="1">
                <a:solidFill>
                  <a:srgbClr val="003366"/>
                </a:solidFill>
                <a:latin typeface="Times New Roman"/>
              </a:defRPr>
            </a:pPr>
            <a: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143000"/>
            <a:ext cx="5440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buNone/>
            </a:pPr>
            <a:r>
              <a:rPr sz="1100" b="1">
                <a:solidFill>
                  <a:srgbClr val="003366"/>
                </a:solidFill>
                <a:latin typeface="Arial"/>
              </a:rPr>
              <a:t>Public Healthcare Registries
</a:t>
            </a:r>
            <a:r>
              <a:rPr sz="900" b="1">
                <a:solidFill>
                  <a:srgbClr val="0070C0"/>
                </a:solidFill>
                <a:latin typeface="Arial"/>
              </a:rPr>
              <a:t>Data Grounding &amp; Facility Identity
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Karnataka State Health &amp; Family Welfare Services: </a:t>
            </a:r>
            <a:r>
              <a:rPr sz="800">
                <a:solidFill>
                  <a:srgbClr val="4B5563"/>
                </a:solidFill>
                <a:latin typeface="Arial"/>
              </a:rPr>
              <a:t>https://hfw.karnataka.gov.in — official registry for state healthcare facilities.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BBMP Open Hospital Directory: </a:t>
            </a:r>
            <a:r>
              <a:rPr sz="800">
                <a:solidFill>
                  <a:srgbClr val="4B5563"/>
                </a:solidFill>
                <a:latin typeface="Arial"/>
              </a:rPr>
              <a:t>Bruhat Bengaluru Mahanagara Palike urban healthcare facility coordinates and publicly listed specialties.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7 Canonical Bengaluru Facilities: </a:t>
            </a:r>
            <a:r>
              <a:rPr sz="800">
                <a:solidFill>
                  <a:srgbClr val="4B5563"/>
                </a:solidFill>
                <a:latin typeface="Arial"/>
              </a:rPr>
              <a:t>Ground-truth benchmark dataset derived from open government registries; capacity marked UNKNOWN.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99632" y="1143000"/>
            <a:ext cx="5440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buNone/>
            </a:pPr>
            <a:r>
              <a:rPr sz="1100" b="1">
                <a:solidFill>
                  <a:srgbClr val="003366"/>
                </a:solidFill>
                <a:latin typeface="Arial"/>
              </a:rPr>
              <a:t>Healthcare &amp; Facility Standards
</a:t>
            </a:r>
            <a:r>
              <a:rPr sz="900" b="1">
                <a:solidFill>
                  <a:srgbClr val="0070C0"/>
                </a:solidFill>
                <a:latin typeface="Arial"/>
              </a:rPr>
              <a:t>Data Modeling &amp; Nomenclature
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Registry of Hospitals in Network of Insurance (ROHINI): </a:t>
            </a:r>
            <a:r>
              <a:rPr sz="800">
                <a:solidFill>
                  <a:srgbClr val="4B5563"/>
                </a:solidFill>
                <a:latin typeface="Arial"/>
              </a:rPr>
              <a:t>Insurance Information Bureau of India (IIB) (https://iib.gov.in) — facility identification standards.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HL7 FHIR Release 4: </a:t>
            </a:r>
            <a:r>
              <a:rPr sz="800">
                <a:solidFill>
                  <a:srgbClr val="4B5563"/>
                </a:solidFill>
                <a:latin typeface="Arial"/>
              </a:rPr>
              <a:t>https://hl7.org/fhir — foundational standards for timestamped clinical resource representation and event provenance.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Emergency Classification: </a:t>
            </a:r>
            <a:r>
              <a:rPr sz="800">
                <a:solidFill>
                  <a:srgbClr val="4B5563"/>
                </a:solidFill>
                <a:latin typeface="Arial"/>
              </a:rPr>
              <a:t>Standardized care requirement taxonomies for stroke, cardiac arrest, trauma, and burn cases.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48640" y="3108960"/>
            <a:ext cx="5440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buNone/>
            </a:pPr>
            <a:r>
              <a:rPr sz="1100" b="1">
                <a:solidFill>
                  <a:srgbClr val="003366"/>
                </a:solidFill>
                <a:latin typeface="Arial"/>
              </a:rPr>
              <a:t>Spatial Engine &amp; Mapping Framework
</a:t>
            </a:r>
            <a:r>
              <a:rPr sz="900" b="1">
                <a:solidFill>
                  <a:srgbClr val="0070C0"/>
                </a:solidFill>
                <a:latin typeface="Arial"/>
              </a:rPr>
              <a:t>Geospatial Routing Architecture
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OpenStreetMap (OSM) Contributors: </a:t>
            </a:r>
            <a:r>
              <a:rPr sz="800">
                <a:solidFill>
                  <a:srgbClr val="4B5563"/>
                </a:solidFill>
                <a:latin typeface="Arial"/>
              </a:rPr>
              <a:t>https://www.openstreetmap.org — open-access topological road network vector graph.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MapLibre GL: </a:t>
            </a:r>
            <a:r>
              <a:rPr sz="800">
                <a:solidFill>
                  <a:srgbClr val="4B5563"/>
                </a:solidFill>
                <a:latin typeface="Arial"/>
              </a:rPr>
              <a:t>https://maplibre.org — hardware-accelerated WebGL client-side vector map renderer.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Valhalla &amp; OSRM Routing Engines: </a:t>
            </a:r>
            <a:r>
              <a:rPr sz="800">
                <a:solidFill>
                  <a:srgbClr val="4B5563"/>
                </a:solidFill>
                <a:latin typeface="Arial"/>
              </a:rPr>
              <a:t>High-performance multimodal matrix calculation with safe fallback to UNKNOWN ETA.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99632" y="3108960"/>
            <a:ext cx="5440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buNone/>
            </a:pPr>
            <a:r>
              <a:rPr sz="1100" b="1">
                <a:solidFill>
                  <a:srgbClr val="003366"/>
                </a:solidFill>
                <a:latin typeface="Arial"/>
              </a:rPr>
              <a:t>Cloud &amp; Architectural Standards
</a:t>
            </a:r>
            <a:r>
              <a:rPr sz="900" b="1">
                <a:solidFill>
                  <a:srgbClr val="0070C0"/>
                </a:solidFill>
                <a:latin typeface="Arial"/>
              </a:rPr>
              <a:t>Event-Driven &amp; AI Guardrails
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AWS Well-Architected Framework: </a:t>
            </a:r>
            <a:r>
              <a:rPr sz="800">
                <a:solidFill>
                  <a:srgbClr val="4B5563"/>
                </a:solidFill>
                <a:latin typeface="Arial"/>
              </a:rPr>
              <a:t>Healthcare Industry Lens &amp; Event-Driven Architecture (Amazon EventBridge, Lambda, DynamoDB).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DynamoDB Single-Table Design: </a:t>
            </a:r>
            <a:r>
              <a:rPr sz="800">
                <a:solidFill>
                  <a:srgbClr val="4B5563"/>
                </a:solidFill>
                <a:latin typeface="Arial"/>
              </a:rPr>
              <a:t>Low-latency sub-50ms operational state persistence architecture.</a:t>
            </a:r>
          </a:p>
          <a:p>
            <a:pPr>
              <a:lnSpc>
                <a:spcPct val="115000"/>
              </a:lnSpc>
              <a:spcBef>
                <a:spcPts val="200"/>
              </a:spcBef>
              <a:buNone/>
            </a:pPr>
            <a:r>
              <a:rPr sz="850" b="1">
                <a:solidFill>
                  <a:srgbClr val="1F2937"/>
                </a:solidFill>
                <a:latin typeface="Arial"/>
              </a:rPr>
              <a:t>• Advisory AI Guardrails: </a:t>
            </a:r>
            <a:r>
              <a:rPr sz="800">
                <a:solidFill>
                  <a:srgbClr val="4B5563"/>
                </a:solidFill>
                <a:latin typeface="Arial"/>
              </a:rPr>
              <a:t>Amazon Bedrock sandboxed to read-only clinical summaries; strictly excluded from routing logic.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48640" y="5074920"/>
            <a:ext cx="11091672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buNone/>
            </a:pPr>
            <a:r>
              <a:rPr sz="1150" b="1">
                <a:solidFill>
                  <a:srgbClr val="0070C0"/>
                </a:solidFill>
                <a:latin typeface="Arial"/>
              </a:rPr>
              <a:t>PROJECT REPOSITORY &amp; VERIFIED ARTIFACTS
</a:t>
            </a:r>
          </a:p>
          <a:p>
            <a:pPr>
              <a:spcBef>
                <a:spcPts val="200"/>
              </a:spcBef>
              <a:buNone/>
            </a:pPr>
            <a:r>
              <a:rPr sz="950" b="1">
                <a:solidFill>
                  <a:srgbClr val="003366"/>
                </a:solidFill>
                <a:latin typeface="Arial"/>
              </a:rPr>
              <a:t>• GitHub Repository: </a:t>
            </a:r>
            <a:r>
              <a:rPr sz="950">
                <a:solidFill>
                  <a:srgbClr val="4B5563"/>
                </a:solidFill>
                <a:latin typeface="Arial"/>
              </a:rPr>
              <a:t>https://github.com/Zynx095/Jiva — Monorepo containing full API, 5 role-scoped web apps + a separate demo portal, demo orchestrator, and CDK.
</a:t>
            </a:r>
            <a:r>
              <a:rPr sz="950" b="1">
                <a:solidFill>
                  <a:srgbClr val="003366"/>
                </a:solidFill>
                <a:latin typeface="Arial"/>
              </a:rPr>
              <a:t>• Verification Baseline: </a:t>
            </a:r>
            <a:r>
              <a:rPr sz="950">
                <a:solidFill>
                  <a:srgbClr val="4B5563"/>
                </a:solidFill>
                <a:latin typeface="Arial"/>
              </a:rPr>
              <a:t>25 automated test suites pass • 124 runtime checks verified • 7 Lambda bundles compiled • CDK synth passes.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THE EMERGENCY-TO-CARE JOURNEY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410" name="Journey panel"/>
          <p:cNvSpPr/>
          <p:nvPr/>
        </p:nvSpPr>
        <p:spPr>
          <a:xfrm>
            <a:off x="548640" y="1097280"/>
            <a:ext cx="11091672" cy="5138928"/>
          </a:xfrm>
          <a:prstGeom prst="roundRect">
            <a:avLst>
              <a:gd name="adj" fmla="val 7473"/>
            </a:avLst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Panel heading"/>
          <p:cNvSpPr txBox="1"/>
          <p:nvPr/>
        </p:nvSpPr>
        <p:spPr>
          <a:xfrm>
            <a:off x="777240" y="11612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Arial"/>
              </a:rPr>
              <a:t>FLAGSHIP WORKFLOW: from the emergency call to clinician-authorised care</a:t>
            </a:r>
          </a:p>
        </p:txBody>
      </p:sp>
      <p:sp>
        <p:nvSpPr>
          <p:cNvPr id="17412" name="Lane: emergency coordination"/>
          <p:cNvSpPr/>
          <p:nvPr/>
        </p:nvSpPr>
        <p:spPr>
          <a:xfrm>
            <a:off x="731520" y="1517904"/>
            <a:ext cx="10725912" cy="2103120"/>
          </a:xfrm>
          <a:prstGeom prst="roundRect">
            <a:avLst>
              <a:gd name="adj" fmla="val 6086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Lane: clinical care"/>
          <p:cNvSpPr/>
          <p:nvPr/>
        </p:nvSpPr>
        <p:spPr>
          <a:xfrm>
            <a:off x="731520" y="3785616"/>
            <a:ext cx="10725912" cy="2103120"/>
          </a:xfrm>
          <a:prstGeom prst="roundRect">
            <a:avLst>
              <a:gd name="adj" fmla="val 6086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896112" y="1563624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003366"/>
                </a:solidFill>
                <a:latin typeface="Arial"/>
              </a:rPr>
              <a:t>EMERGENCY COORDINATION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944368" y="1563624"/>
            <a:ext cx="2148840" cy="16459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750" b="1" i="0">
                <a:solidFill>
                  <a:srgbClr val="15803D"/>
                </a:solidFill>
                <a:latin typeface="Arial"/>
              </a:rPr>
              <a:t>✓ IMPLEMENTED · VERIFIED LOCALLY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896112" y="3831336"/>
            <a:ext cx="1207008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003366"/>
                </a:solidFill>
                <a:latin typeface="Arial"/>
              </a:rPr>
              <a:t>CLINICAL CARE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2157984" y="3831336"/>
            <a:ext cx="2514600" cy="16459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750" b="1" i="0">
                <a:solidFill>
                  <a:srgbClr val="B45309"/>
                </a:solidFill>
                <a:latin typeface="Arial"/>
              </a:rPr>
              <a:t>WORKING PROTOTYPE · IN DEVELOPMENT</a:t>
            </a:r>
          </a:p>
        </p:txBody>
      </p:sp>
      <p:sp>
        <p:nvSpPr>
          <p:cNvPr id="17418" name="Step 1: Emergency intake"/>
          <p:cNvSpPr/>
          <p:nvPr/>
        </p:nvSpPr>
        <p:spPr>
          <a:xfrm>
            <a:off x="777240" y="1865376"/>
            <a:ext cx="164592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585216" rIns="73152" bIns="36576">
            <a:noAutofit/>
          </a:bodyPr>
          <a:lstStyle/>
          <a:p>
            <a:pPr algn="ctr"/>
            <a:r>
              <a:rPr sz="1100" b="1" i="0">
                <a:solidFill>
                  <a:srgbClr val="003366"/>
                </a:solidFill>
                <a:latin typeface="Arial"/>
              </a:rPr>
              <a:t>Emergency intake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4B5563"/>
                </a:solidFill>
                <a:latin typeface="Arial"/>
              </a:rPr>
              <a:t>Crew reports symptoms, severity and location; vital signs typed in by hand.</a:t>
            </a:r>
          </a:p>
        </p:txBody>
      </p:sp>
      <p:sp>
        <p:nvSpPr>
          <p:cNvPr id="17419" name="Step 1 number"/>
          <p:cNvSpPr/>
          <p:nvPr/>
        </p:nvSpPr>
        <p:spPr>
          <a:xfrm>
            <a:off x="685800" y="1737360"/>
            <a:ext cx="292608" cy="292608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grpSp>
        <p:nvGrpSpPr>
          <p:cNvPr id="2" name="Ambulance illustration"/>
          <p:cNvGrpSpPr/>
          <p:nvPr/>
        </p:nvGrpSpPr>
        <p:grpSpPr>
          <a:xfrm>
            <a:off x="1131204" y="2030151"/>
            <a:ext cx="544068" cy="290688"/>
            <a:chOff x="1131204" y="2030151"/>
            <a:chExt cx="544068" cy="290688"/>
          </a:xfrm>
        </p:grpSpPr>
        <p:sp>
          <p:nvSpPr>
            <p:cNvPr id="17420" name="Rounded Rectangle 17419"/>
            <p:cNvSpPr/>
            <p:nvPr/>
          </p:nvSpPr>
          <p:spPr>
            <a:xfrm>
              <a:off x="1288984" y="2030151"/>
              <a:ext cx="70729" cy="34199"/>
            </a:xfrm>
            <a:prstGeom prst="roundRect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1" name="Rounded Rectangle 17420"/>
            <p:cNvSpPr/>
            <p:nvPr/>
          </p:nvSpPr>
          <p:spPr>
            <a:xfrm>
              <a:off x="1131204" y="2061240"/>
              <a:ext cx="350924" cy="2083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0363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Freeform 2"/>
            <p:cNvSpPr/>
            <p:nvPr/>
          </p:nvSpPr>
          <p:spPr>
            <a:xfrm>
              <a:off x="1468526" y="2117202"/>
              <a:ext cx="206746" cy="152339"/>
            </a:xfrm>
            <a:custGeom>
              <a:avLst/>
              <a:gdLst/>
              <a:ahLst/>
              <a:cxnLst/>
              <a:rect l="l" t="t" r="r" b="b"/>
              <a:pathLst>
                <a:path w="206746" h="152339">
                  <a:moveTo>
                    <a:pt x="0" y="0"/>
                  </a:moveTo>
                  <a:lnTo>
                    <a:pt x="97933" y="0"/>
                  </a:lnTo>
                  <a:lnTo>
                    <a:pt x="182263" y="65288"/>
                  </a:lnTo>
                  <a:lnTo>
                    <a:pt x="206746" y="77724"/>
                  </a:lnTo>
                  <a:lnTo>
                    <a:pt x="206746" y="152339"/>
                  </a:lnTo>
                  <a:lnTo>
                    <a:pt x="0" y="152339"/>
                  </a:lnTo>
                  <a:close/>
                </a:path>
              </a:pathLst>
            </a:custGeom>
            <a:solidFill>
              <a:srgbClr val="FFFFFF"/>
            </a:solidFill>
            <a:ln w="10363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1501170" y="2137410"/>
              <a:ext cx="116975" cy="48189"/>
            </a:xfrm>
            <a:custGeom>
              <a:avLst/>
              <a:gdLst/>
              <a:ahLst/>
              <a:cxnLst/>
              <a:rect l="l" t="t" r="r" b="b"/>
              <a:pathLst>
                <a:path w="116975" h="48189">
                  <a:moveTo>
                    <a:pt x="0" y="0"/>
                  </a:moveTo>
                  <a:lnTo>
                    <a:pt x="57128" y="0"/>
                  </a:lnTo>
                  <a:lnTo>
                    <a:pt x="116975" y="48189"/>
                  </a:lnTo>
                  <a:lnTo>
                    <a:pt x="0" y="48189"/>
                  </a:lnTo>
                  <a:close/>
                </a:path>
              </a:pathLst>
            </a:cu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2" name="Rectangle 17421"/>
            <p:cNvSpPr/>
            <p:nvPr/>
          </p:nvSpPr>
          <p:spPr>
            <a:xfrm>
              <a:off x="1134469" y="2207362"/>
              <a:ext cx="537539" cy="2020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3" name="Cross 17422"/>
            <p:cNvSpPr/>
            <p:nvPr/>
          </p:nvSpPr>
          <p:spPr>
            <a:xfrm>
              <a:off x="1258672" y="2089221"/>
              <a:ext cx="93269" cy="93269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4" name="Oval 17423"/>
            <p:cNvSpPr/>
            <p:nvPr/>
          </p:nvSpPr>
          <p:spPr>
            <a:xfrm>
              <a:off x="1194938" y="2230679"/>
              <a:ext cx="90160" cy="90160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5" name="Oval 17424"/>
            <p:cNvSpPr/>
            <p:nvPr/>
          </p:nvSpPr>
          <p:spPr>
            <a:xfrm>
              <a:off x="1222919" y="2258659"/>
              <a:ext cx="34199" cy="3419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6" name="Oval 17425"/>
            <p:cNvSpPr/>
            <p:nvPr/>
          </p:nvSpPr>
          <p:spPr>
            <a:xfrm>
              <a:off x="1515938" y="2230679"/>
              <a:ext cx="90160" cy="90160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7" name="Oval 17426"/>
            <p:cNvSpPr/>
            <p:nvPr/>
          </p:nvSpPr>
          <p:spPr>
            <a:xfrm>
              <a:off x="1543919" y="2258659"/>
              <a:ext cx="34199" cy="3419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Intake card illustration"/>
          <p:cNvGrpSpPr/>
          <p:nvPr/>
        </p:nvGrpSpPr>
        <p:grpSpPr>
          <a:xfrm>
            <a:off x="1752477" y="1956816"/>
            <a:ext cx="303522" cy="402336"/>
            <a:chOff x="1752477" y="1956816"/>
            <a:chExt cx="303522" cy="402336"/>
          </a:xfrm>
        </p:grpSpPr>
        <p:sp>
          <p:nvSpPr>
            <p:cNvPr id="17428" name="Rounded Rectangle 17427"/>
            <p:cNvSpPr/>
            <p:nvPr/>
          </p:nvSpPr>
          <p:spPr>
            <a:xfrm>
              <a:off x="1752477" y="1984980"/>
              <a:ext cx="303522" cy="37417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3411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9" name="Rounded Rectangle 17428"/>
            <p:cNvSpPr/>
            <p:nvPr/>
          </p:nvSpPr>
          <p:spPr>
            <a:xfrm>
              <a:off x="1838255" y="1956816"/>
              <a:ext cx="131966" cy="56327"/>
            </a:xfrm>
            <a:prstGeom prst="roundRect">
              <a:avLst>
                <a:gd name="adj" fmla="val 30000"/>
              </a:avLst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0" name="Heart 17429"/>
            <p:cNvSpPr/>
            <p:nvPr/>
          </p:nvSpPr>
          <p:spPr>
            <a:xfrm>
              <a:off x="1784261" y="2055388"/>
              <a:ext cx="68397" cy="61557"/>
            </a:xfrm>
            <a:prstGeom prst="hear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1871246" y="2049353"/>
              <a:ext cx="151762" cy="84491"/>
            </a:xfrm>
            <a:custGeom>
              <a:avLst/>
              <a:gdLst/>
              <a:ahLst/>
              <a:cxnLst/>
              <a:rect l="l" t="t" r="r" b="b"/>
              <a:pathLst>
                <a:path w="151762" h="84491">
                  <a:moveTo>
                    <a:pt x="0" y="42246"/>
                  </a:moveTo>
                  <a:lnTo>
                    <a:pt x="32992" y="42246"/>
                  </a:lnTo>
                  <a:lnTo>
                    <a:pt x="49488" y="0"/>
                  </a:lnTo>
                  <a:lnTo>
                    <a:pt x="69283" y="84491"/>
                  </a:lnTo>
                  <a:lnTo>
                    <a:pt x="85778" y="42246"/>
                  </a:lnTo>
                  <a:lnTo>
                    <a:pt x="151762" y="42246"/>
                  </a:lnTo>
                </a:path>
              </a:pathLst>
            </a:custGeom>
            <a:noFill/>
            <a:ln w="1207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1" name="Rectangle 17430"/>
            <p:cNvSpPr/>
            <p:nvPr/>
          </p:nvSpPr>
          <p:spPr>
            <a:xfrm>
              <a:off x="1792067" y="2182124"/>
              <a:ext cx="224343" cy="20117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2" name="Rectangle 17431"/>
            <p:cNvSpPr/>
            <p:nvPr/>
          </p:nvSpPr>
          <p:spPr>
            <a:xfrm>
              <a:off x="1792067" y="2234428"/>
              <a:ext cx="184753" cy="20117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3" name="Rectangle 17432"/>
            <p:cNvSpPr/>
            <p:nvPr/>
          </p:nvSpPr>
          <p:spPr>
            <a:xfrm>
              <a:off x="1792067" y="2286732"/>
              <a:ext cx="204548" cy="20117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434" name="Step 2: Hospital referral"/>
          <p:cNvSpPr/>
          <p:nvPr/>
        </p:nvSpPr>
        <p:spPr>
          <a:xfrm>
            <a:off x="2784348" y="1865376"/>
            <a:ext cx="164592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585216" rIns="73152" bIns="36576">
            <a:noAutofit/>
          </a:bodyPr>
          <a:lstStyle/>
          <a:p>
            <a:pPr algn="ctr"/>
            <a:r>
              <a:rPr sz="1100" b="1" i="0">
                <a:solidFill>
                  <a:srgbClr val="003366"/>
                </a:solidFill>
                <a:latin typeface="Arial"/>
              </a:rPr>
              <a:t>Hospital referral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4B5563"/>
                </a:solidFill>
                <a:latin typeface="Arial"/>
              </a:rPr>
              <a:t>Eligible hospitals (capability, status) get time-limited referrals in parallel.</a:t>
            </a:r>
          </a:p>
        </p:txBody>
      </p:sp>
      <p:sp>
        <p:nvSpPr>
          <p:cNvPr id="17435" name="Step 2 number"/>
          <p:cNvSpPr/>
          <p:nvPr/>
        </p:nvSpPr>
        <p:spPr>
          <a:xfrm>
            <a:off x="2692908" y="1737360"/>
            <a:ext cx="292608" cy="292608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3218688" y="2011680"/>
            <a:ext cx="38862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7" name="Connector 17436"/>
          <p:cNvCxnSpPr/>
          <p:nvPr/>
        </p:nvCxnSpPr>
        <p:spPr>
          <a:xfrm>
            <a:off x="3218688" y="2011680"/>
            <a:ext cx="0" cy="100584"/>
          </a:xfrm>
          <a:prstGeom prst="line">
            <a:avLst/>
          </a:prstGeom>
          <a:ln w="15875">
            <a:solidFill>
              <a:srgbClr val="0070C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Referred hospital"/>
          <p:cNvGrpSpPr/>
          <p:nvPr/>
        </p:nvGrpSpPr>
        <p:grpSpPr>
          <a:xfrm>
            <a:off x="3067263" y="2143354"/>
            <a:ext cx="302850" cy="252374"/>
            <a:chOff x="3067263" y="2143354"/>
            <a:chExt cx="302850" cy="252374"/>
          </a:xfrm>
        </p:grpSpPr>
        <p:sp>
          <p:nvSpPr>
            <p:cNvPr id="17438" name="Rectangle 17437"/>
            <p:cNvSpPr/>
            <p:nvPr/>
          </p:nvSpPr>
          <p:spPr>
            <a:xfrm>
              <a:off x="3067263" y="2220163"/>
              <a:ext cx="107259" cy="1755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9" name="Rectangle 17438"/>
            <p:cNvSpPr/>
            <p:nvPr/>
          </p:nvSpPr>
          <p:spPr>
            <a:xfrm>
              <a:off x="3262854" y="2220163"/>
              <a:ext cx="107259" cy="1755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0" name="Rectangle 17439"/>
            <p:cNvSpPr/>
            <p:nvPr/>
          </p:nvSpPr>
          <p:spPr>
            <a:xfrm>
              <a:off x="3155594" y="2143354"/>
              <a:ext cx="126187" cy="252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1" name="Cross 17440"/>
            <p:cNvSpPr/>
            <p:nvPr/>
          </p:nvSpPr>
          <p:spPr>
            <a:xfrm>
              <a:off x="3184398" y="2161184"/>
              <a:ext cx="68580" cy="68580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2" name="Rectangle 17441"/>
            <p:cNvSpPr/>
            <p:nvPr/>
          </p:nvSpPr>
          <p:spPr>
            <a:xfrm>
              <a:off x="3089346" y="2247595"/>
              <a:ext cx="63094" cy="30175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3" name="Rectangle 17442"/>
            <p:cNvSpPr/>
            <p:nvPr/>
          </p:nvSpPr>
          <p:spPr>
            <a:xfrm>
              <a:off x="3089346" y="2302459"/>
              <a:ext cx="63094" cy="30175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4" name="Rectangle 17443"/>
            <p:cNvSpPr/>
            <p:nvPr/>
          </p:nvSpPr>
          <p:spPr>
            <a:xfrm>
              <a:off x="3284936" y="2247595"/>
              <a:ext cx="63094" cy="30175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5" name="Rectangle 17444"/>
            <p:cNvSpPr/>
            <p:nvPr/>
          </p:nvSpPr>
          <p:spPr>
            <a:xfrm>
              <a:off x="3284936" y="2302459"/>
              <a:ext cx="63094" cy="30175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6" name="Rectangle 17445"/>
            <p:cNvSpPr/>
            <p:nvPr/>
          </p:nvSpPr>
          <p:spPr>
            <a:xfrm>
              <a:off x="3180832" y="2258568"/>
              <a:ext cx="75712" cy="2743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7" name="Rectangle 17446"/>
            <p:cNvSpPr/>
            <p:nvPr/>
          </p:nvSpPr>
          <p:spPr>
            <a:xfrm>
              <a:off x="3191873" y="2324405"/>
              <a:ext cx="53630" cy="7132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7448" name="Connector 17447"/>
          <p:cNvCxnSpPr/>
          <p:nvPr/>
        </p:nvCxnSpPr>
        <p:spPr>
          <a:xfrm>
            <a:off x="3607308" y="2011680"/>
            <a:ext cx="0" cy="100584"/>
          </a:xfrm>
          <a:prstGeom prst="line">
            <a:avLst/>
          </a:prstGeom>
          <a:ln w="15875">
            <a:solidFill>
              <a:srgbClr val="0070C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Referred hospital"/>
          <p:cNvGrpSpPr/>
          <p:nvPr/>
        </p:nvGrpSpPr>
        <p:grpSpPr>
          <a:xfrm>
            <a:off x="3455883" y="2143354"/>
            <a:ext cx="302850" cy="252374"/>
            <a:chOff x="3455883" y="2143354"/>
            <a:chExt cx="302850" cy="252374"/>
          </a:xfrm>
        </p:grpSpPr>
        <p:sp>
          <p:nvSpPr>
            <p:cNvPr id="17449" name="Rectangle 17448"/>
            <p:cNvSpPr/>
            <p:nvPr/>
          </p:nvSpPr>
          <p:spPr>
            <a:xfrm>
              <a:off x="3455883" y="2220163"/>
              <a:ext cx="107259" cy="1755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0" name="Rectangle 17449"/>
            <p:cNvSpPr/>
            <p:nvPr/>
          </p:nvSpPr>
          <p:spPr>
            <a:xfrm>
              <a:off x="3651474" y="2220163"/>
              <a:ext cx="107259" cy="1755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1" name="Rectangle 17450"/>
            <p:cNvSpPr/>
            <p:nvPr/>
          </p:nvSpPr>
          <p:spPr>
            <a:xfrm>
              <a:off x="3544214" y="2143354"/>
              <a:ext cx="126187" cy="252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2" name="Cross 17451"/>
            <p:cNvSpPr/>
            <p:nvPr/>
          </p:nvSpPr>
          <p:spPr>
            <a:xfrm>
              <a:off x="3573018" y="2161184"/>
              <a:ext cx="68580" cy="68580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3" name="Rectangle 17452"/>
            <p:cNvSpPr/>
            <p:nvPr/>
          </p:nvSpPr>
          <p:spPr>
            <a:xfrm>
              <a:off x="3477966" y="2247595"/>
              <a:ext cx="63094" cy="30175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4" name="Rectangle 17453"/>
            <p:cNvSpPr/>
            <p:nvPr/>
          </p:nvSpPr>
          <p:spPr>
            <a:xfrm>
              <a:off x="3477966" y="2302459"/>
              <a:ext cx="63094" cy="30175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5" name="Rectangle 17454"/>
            <p:cNvSpPr/>
            <p:nvPr/>
          </p:nvSpPr>
          <p:spPr>
            <a:xfrm>
              <a:off x="3673556" y="2247595"/>
              <a:ext cx="63094" cy="30175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6" name="Rectangle 17455"/>
            <p:cNvSpPr/>
            <p:nvPr/>
          </p:nvSpPr>
          <p:spPr>
            <a:xfrm>
              <a:off x="3673556" y="2302459"/>
              <a:ext cx="63094" cy="30175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7" name="Rectangle 17456"/>
            <p:cNvSpPr/>
            <p:nvPr/>
          </p:nvSpPr>
          <p:spPr>
            <a:xfrm>
              <a:off x="3569452" y="2258568"/>
              <a:ext cx="75712" cy="2743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8" name="Rectangle 17457"/>
            <p:cNvSpPr/>
            <p:nvPr/>
          </p:nvSpPr>
          <p:spPr>
            <a:xfrm>
              <a:off x="3580493" y="2324405"/>
              <a:ext cx="53630" cy="7132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Not eligible hospital"/>
          <p:cNvGrpSpPr/>
          <p:nvPr/>
        </p:nvGrpSpPr>
        <p:grpSpPr>
          <a:xfrm>
            <a:off x="3844503" y="2102206"/>
            <a:ext cx="341940" cy="293522"/>
            <a:chOff x="3844503" y="2102206"/>
            <a:chExt cx="341940" cy="293522"/>
          </a:xfrm>
        </p:grpSpPr>
        <p:sp>
          <p:nvSpPr>
            <p:cNvPr id="17459" name="Rectangle 17458"/>
            <p:cNvSpPr/>
            <p:nvPr/>
          </p:nvSpPr>
          <p:spPr>
            <a:xfrm>
              <a:off x="3844503" y="2220163"/>
              <a:ext cx="107259" cy="1755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0" name="Rectangle 17459"/>
            <p:cNvSpPr/>
            <p:nvPr/>
          </p:nvSpPr>
          <p:spPr>
            <a:xfrm>
              <a:off x="4040094" y="2220163"/>
              <a:ext cx="107259" cy="1755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1" name="Rectangle 17460"/>
            <p:cNvSpPr/>
            <p:nvPr/>
          </p:nvSpPr>
          <p:spPr>
            <a:xfrm>
              <a:off x="3932834" y="2143354"/>
              <a:ext cx="126187" cy="252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2" name="Cross 17461"/>
            <p:cNvSpPr/>
            <p:nvPr/>
          </p:nvSpPr>
          <p:spPr>
            <a:xfrm>
              <a:off x="3961638" y="2161184"/>
              <a:ext cx="68580" cy="68580"/>
            </a:xfrm>
            <a:prstGeom prst="plus">
              <a:avLst>
                <a:gd name="adj" fmla="val 30000"/>
              </a:avLst>
            </a:prstGeom>
            <a:solidFill>
              <a:srgbClr val="9CA3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3" name="Rectangle 17462"/>
            <p:cNvSpPr/>
            <p:nvPr/>
          </p:nvSpPr>
          <p:spPr>
            <a:xfrm>
              <a:off x="3866586" y="2247595"/>
              <a:ext cx="63094" cy="30175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4" name="Rectangle 17463"/>
            <p:cNvSpPr/>
            <p:nvPr/>
          </p:nvSpPr>
          <p:spPr>
            <a:xfrm>
              <a:off x="3866586" y="2302459"/>
              <a:ext cx="63094" cy="30175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5" name="Rectangle 17464"/>
            <p:cNvSpPr/>
            <p:nvPr/>
          </p:nvSpPr>
          <p:spPr>
            <a:xfrm>
              <a:off x="4062176" y="2247595"/>
              <a:ext cx="63094" cy="30175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6" name="Rectangle 17465"/>
            <p:cNvSpPr/>
            <p:nvPr/>
          </p:nvSpPr>
          <p:spPr>
            <a:xfrm>
              <a:off x="4062176" y="2302459"/>
              <a:ext cx="63094" cy="30175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7" name="Rectangle 17466"/>
            <p:cNvSpPr/>
            <p:nvPr/>
          </p:nvSpPr>
          <p:spPr>
            <a:xfrm>
              <a:off x="3958072" y="2258568"/>
              <a:ext cx="75712" cy="27432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8" name="Rectangle 17467"/>
            <p:cNvSpPr/>
            <p:nvPr/>
          </p:nvSpPr>
          <p:spPr>
            <a:xfrm>
              <a:off x="3969113" y="2324405"/>
              <a:ext cx="53630" cy="71323"/>
            </a:xfrm>
            <a:prstGeom prst="rect">
              <a:avLst/>
            </a:prstGeom>
            <a:solidFill>
              <a:srgbClr val="9CA3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2" name="Badge no"/>
            <p:cNvGrpSpPr/>
            <p:nvPr/>
          </p:nvGrpSpPr>
          <p:grpSpPr>
            <a:xfrm>
              <a:off x="4076715" y="2102206"/>
              <a:ext cx="109728" cy="109728"/>
              <a:chOff x="4076715" y="2102206"/>
              <a:chExt cx="109728" cy="109728"/>
            </a:xfrm>
          </p:grpSpPr>
          <p:sp>
            <p:nvSpPr>
              <p:cNvPr id="17469" name="Oval 17468"/>
              <p:cNvSpPr/>
              <p:nvPr/>
            </p:nvSpPr>
            <p:spPr>
              <a:xfrm>
                <a:off x="4076715" y="2102206"/>
                <a:ext cx="109728" cy="109728"/>
              </a:xfrm>
              <a:prstGeom prst="ellipse">
                <a:avLst/>
              </a:prstGeom>
              <a:solidFill>
                <a:srgbClr val="DC2626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7470" name="Connector 17469"/>
              <p:cNvCxnSpPr/>
              <p:nvPr/>
            </p:nvCxnSpPr>
            <p:spPr>
              <a:xfrm>
                <a:off x="4111828" y="2137319"/>
                <a:ext cx="39502" cy="39502"/>
              </a:xfrm>
              <a:prstGeom prst="line">
                <a:avLst/>
              </a:prstGeom>
              <a:ln w="14477">
                <a:solidFill>
                  <a:srgbClr val="FF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71" name="Connector 17470"/>
              <p:cNvCxnSpPr/>
              <p:nvPr/>
            </p:nvCxnSpPr>
            <p:spPr>
              <a:xfrm flipH="1">
                <a:off x="4111828" y="2137319"/>
                <a:ext cx="39502" cy="39502"/>
              </a:xfrm>
              <a:prstGeom prst="line">
                <a:avLst/>
              </a:prstGeom>
              <a:ln w="14477">
                <a:solidFill>
                  <a:srgbClr val="FF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472" name="Step 3: Hospital response"/>
          <p:cNvSpPr/>
          <p:nvPr/>
        </p:nvSpPr>
        <p:spPr>
          <a:xfrm>
            <a:off x="4791456" y="1865376"/>
            <a:ext cx="233172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896112" rIns="73152" bIns="36576">
            <a:noAutofit/>
          </a:bodyPr>
          <a:lstStyle/>
          <a:p>
            <a:pPr algn="ctr"/>
            <a:r>
              <a:rPr sz="1100" b="1" i="0">
                <a:solidFill>
                  <a:srgbClr val="003366"/>
                </a:solidFill>
                <a:latin typeface="Arial"/>
              </a:rPr>
              <a:t>Hospital response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4B5563"/>
                </a:solidFill>
                <a:latin typeface="Arial"/>
              </a:rPr>
              <a:t>Answers are explicit and time-limited; silence is never a yes.</a:t>
            </a:r>
          </a:p>
        </p:txBody>
      </p:sp>
      <p:sp>
        <p:nvSpPr>
          <p:cNvPr id="17473" name="Step 3 number"/>
          <p:cNvSpPr/>
          <p:nvPr/>
        </p:nvSpPr>
        <p:spPr>
          <a:xfrm>
            <a:off x="4700016" y="1737360"/>
            <a:ext cx="292608" cy="292608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grpSp>
        <p:nvGrpSpPr>
          <p:cNvPr id="13" name="Responding hospital"/>
          <p:cNvGrpSpPr/>
          <p:nvPr/>
        </p:nvGrpSpPr>
        <p:grpSpPr>
          <a:xfrm>
            <a:off x="4947434" y="2100194"/>
            <a:ext cx="464369" cy="386974"/>
            <a:chOff x="4947434" y="2100194"/>
            <a:chExt cx="464369" cy="386974"/>
          </a:xfrm>
        </p:grpSpPr>
        <p:sp>
          <p:nvSpPr>
            <p:cNvPr id="17474" name="Rectangle 17473"/>
            <p:cNvSpPr/>
            <p:nvPr/>
          </p:nvSpPr>
          <p:spPr>
            <a:xfrm>
              <a:off x="4947434" y="2217969"/>
              <a:ext cx="164464" cy="269199"/>
            </a:xfrm>
            <a:prstGeom prst="rect">
              <a:avLst/>
            </a:prstGeom>
            <a:solidFill>
              <a:srgbClr val="FFFFFF"/>
            </a:solidFill>
            <a:ln w="14020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5" name="Rectangle 17474"/>
            <p:cNvSpPr/>
            <p:nvPr/>
          </p:nvSpPr>
          <p:spPr>
            <a:xfrm>
              <a:off x="5247339" y="2217969"/>
              <a:ext cx="164464" cy="269199"/>
            </a:xfrm>
            <a:prstGeom prst="rect">
              <a:avLst/>
            </a:prstGeom>
            <a:solidFill>
              <a:srgbClr val="FFFFFF"/>
            </a:solidFill>
            <a:ln w="14020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6" name="Rectangle 17475"/>
            <p:cNvSpPr/>
            <p:nvPr/>
          </p:nvSpPr>
          <p:spPr>
            <a:xfrm>
              <a:off x="5082875" y="2100194"/>
              <a:ext cx="193487" cy="386974"/>
            </a:xfrm>
            <a:prstGeom prst="rect">
              <a:avLst/>
            </a:prstGeom>
            <a:solidFill>
              <a:srgbClr val="FFFFFF"/>
            </a:solidFill>
            <a:ln w="14020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7" name="Cross 17476"/>
            <p:cNvSpPr/>
            <p:nvPr/>
          </p:nvSpPr>
          <p:spPr>
            <a:xfrm>
              <a:off x="5127041" y="2127534"/>
              <a:ext cx="105156" cy="105156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8" name="Rectangle 17477"/>
            <p:cNvSpPr/>
            <p:nvPr/>
          </p:nvSpPr>
          <p:spPr>
            <a:xfrm>
              <a:off x="4981295" y="2260031"/>
              <a:ext cx="96744" cy="46269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9" name="Rectangle 17478"/>
            <p:cNvSpPr/>
            <p:nvPr/>
          </p:nvSpPr>
          <p:spPr>
            <a:xfrm>
              <a:off x="4981295" y="2344156"/>
              <a:ext cx="96744" cy="46269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80" name="Rectangle 17479"/>
            <p:cNvSpPr/>
            <p:nvPr/>
          </p:nvSpPr>
          <p:spPr>
            <a:xfrm>
              <a:off x="5281199" y="2260031"/>
              <a:ext cx="96744" cy="46269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81" name="Rectangle 17480"/>
            <p:cNvSpPr/>
            <p:nvPr/>
          </p:nvSpPr>
          <p:spPr>
            <a:xfrm>
              <a:off x="5281199" y="2344156"/>
              <a:ext cx="96744" cy="46269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82" name="Rectangle 17481"/>
            <p:cNvSpPr/>
            <p:nvPr/>
          </p:nvSpPr>
          <p:spPr>
            <a:xfrm>
              <a:off x="5121573" y="2276856"/>
              <a:ext cx="116092" cy="4206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83" name="Rectangle 17482"/>
            <p:cNvSpPr/>
            <p:nvPr/>
          </p:nvSpPr>
          <p:spPr>
            <a:xfrm>
              <a:off x="5138503" y="2377806"/>
              <a:ext cx="82232" cy="10936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7484" name="Connector 17483"/>
          <p:cNvCxnSpPr/>
          <p:nvPr/>
        </p:nvCxnSpPr>
        <p:spPr>
          <a:xfrm flipV="1">
            <a:off x="5439766" y="2039112"/>
            <a:ext cx="284378" cy="237744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5" name="Response: Accepts (or limited)"/>
          <p:cNvSpPr/>
          <p:nvPr/>
        </p:nvSpPr>
        <p:spPr>
          <a:xfrm>
            <a:off x="5724144" y="1956816"/>
            <a:ext cx="1298448" cy="16459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750" b="1" i="0">
                <a:solidFill>
                  <a:srgbClr val="15803D"/>
                </a:solidFill>
                <a:latin typeface="Arial"/>
              </a:rPr>
              <a:t>Accepts (or limited)</a:t>
            </a:r>
          </a:p>
        </p:txBody>
      </p:sp>
      <p:cxnSp>
        <p:nvCxnSpPr>
          <p:cNvPr id="17486" name="Connector 17485"/>
          <p:cNvCxnSpPr/>
          <p:nvPr/>
        </p:nvCxnSpPr>
        <p:spPr>
          <a:xfrm flipV="1">
            <a:off x="5439766" y="2226564"/>
            <a:ext cx="284378" cy="50292"/>
          </a:xfrm>
          <a:prstGeom prst="line">
            <a:avLst/>
          </a:prstGeom>
          <a:ln w="127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7" name="Response: Rejects"/>
          <p:cNvSpPr/>
          <p:nvPr/>
        </p:nvSpPr>
        <p:spPr>
          <a:xfrm>
            <a:off x="5724144" y="2144268"/>
            <a:ext cx="1298448" cy="164592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750" b="1" i="0">
                <a:solidFill>
                  <a:srgbClr val="B91C1C"/>
                </a:solidFill>
                <a:latin typeface="Arial"/>
              </a:rPr>
              <a:t>Rejects</a:t>
            </a:r>
          </a:p>
        </p:txBody>
      </p:sp>
      <p:cxnSp>
        <p:nvCxnSpPr>
          <p:cNvPr id="17488" name="Connector 17487"/>
          <p:cNvCxnSpPr/>
          <p:nvPr/>
        </p:nvCxnSpPr>
        <p:spPr>
          <a:xfrm>
            <a:off x="5439766" y="2276856"/>
            <a:ext cx="284378" cy="137160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9" name="Response: Busy: unavailable"/>
          <p:cNvSpPr/>
          <p:nvPr/>
        </p:nvSpPr>
        <p:spPr>
          <a:xfrm>
            <a:off x="5724144" y="2331720"/>
            <a:ext cx="1298448" cy="16459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750" b="1" i="0">
                <a:solidFill>
                  <a:srgbClr val="B45309"/>
                </a:solidFill>
                <a:latin typeface="Arial"/>
              </a:rPr>
              <a:t>Busy: unavailable</a:t>
            </a:r>
          </a:p>
        </p:txBody>
      </p:sp>
      <p:cxnSp>
        <p:nvCxnSpPr>
          <p:cNvPr id="17490" name="Connector 17489"/>
          <p:cNvCxnSpPr/>
          <p:nvPr/>
        </p:nvCxnSpPr>
        <p:spPr>
          <a:xfrm>
            <a:off x="5439766" y="2276856"/>
            <a:ext cx="284378" cy="324612"/>
          </a:xfrm>
          <a:prstGeom prst="line">
            <a:avLst/>
          </a:prstGeom>
          <a:ln w="127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1" name="Response: No answer: expires"/>
          <p:cNvSpPr/>
          <p:nvPr/>
        </p:nvSpPr>
        <p:spPr>
          <a:xfrm>
            <a:off x="5724144" y="2519172"/>
            <a:ext cx="1298448" cy="16459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750" b="1" i="0">
                <a:solidFill>
                  <a:srgbClr val="4B5563"/>
                </a:solidFill>
                <a:latin typeface="Arial"/>
              </a:rPr>
              <a:t>No answer: expires</a:t>
            </a:r>
          </a:p>
        </p:txBody>
      </p:sp>
      <p:sp>
        <p:nvSpPr>
          <p:cNvPr id="17492" name="Step 4: Dynamic rerouting"/>
          <p:cNvSpPr/>
          <p:nvPr/>
        </p:nvSpPr>
        <p:spPr>
          <a:xfrm>
            <a:off x="7484364" y="1865376"/>
            <a:ext cx="178308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585216" rIns="73152" bIns="36576">
            <a:noAutofit/>
          </a:bodyPr>
          <a:lstStyle/>
          <a:p>
            <a:pPr algn="ctr"/>
            <a:r>
              <a:rPr sz="1100" b="1" i="0">
                <a:solidFill>
                  <a:srgbClr val="003366"/>
                </a:solidFill>
                <a:latin typeface="Arial"/>
              </a:rPr>
              <a:t>Dynamic rerouting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4B5563"/>
                </a:solidFill>
                <a:latin typeface="Arial"/>
              </a:rPr>
              <a:t>Destination rejects, turns unavailable or lapses: JIVA re-checks hospitals that accepted.</a:t>
            </a:r>
          </a:p>
        </p:txBody>
      </p:sp>
      <p:sp>
        <p:nvSpPr>
          <p:cNvPr id="17493" name="Step 4 number"/>
          <p:cNvSpPr/>
          <p:nvPr/>
        </p:nvSpPr>
        <p:spPr>
          <a:xfrm>
            <a:off x="7392924" y="1737360"/>
            <a:ext cx="292608" cy="292608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grpSp>
        <p:nvGrpSpPr>
          <p:cNvPr id="14" name="Lost destination"/>
          <p:cNvGrpSpPr/>
          <p:nvPr/>
        </p:nvGrpSpPr>
        <p:grpSpPr>
          <a:xfrm>
            <a:off x="7819711" y="1969069"/>
            <a:ext cx="433124" cy="371795"/>
            <a:chOff x="7819711" y="1969069"/>
            <a:chExt cx="433124" cy="371795"/>
          </a:xfrm>
        </p:grpSpPr>
        <p:sp>
          <p:nvSpPr>
            <p:cNvPr id="17494" name="Rectangle 17493"/>
            <p:cNvSpPr/>
            <p:nvPr/>
          </p:nvSpPr>
          <p:spPr>
            <a:xfrm>
              <a:off x="7819711" y="2118482"/>
              <a:ext cx="135862" cy="222382"/>
            </a:xfrm>
            <a:prstGeom prst="rect">
              <a:avLst/>
            </a:prstGeom>
            <a:solidFill>
              <a:srgbClr val="FFFFFF"/>
            </a:solidFill>
            <a:ln w="1158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5" name="Rectangle 17494"/>
            <p:cNvSpPr/>
            <p:nvPr/>
          </p:nvSpPr>
          <p:spPr>
            <a:xfrm>
              <a:off x="8067459" y="2118482"/>
              <a:ext cx="135862" cy="222382"/>
            </a:xfrm>
            <a:prstGeom prst="rect">
              <a:avLst/>
            </a:prstGeom>
            <a:solidFill>
              <a:srgbClr val="FFFFFF"/>
            </a:solidFill>
            <a:ln w="1158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6" name="Rectangle 17495"/>
            <p:cNvSpPr/>
            <p:nvPr/>
          </p:nvSpPr>
          <p:spPr>
            <a:xfrm>
              <a:off x="7931597" y="2021190"/>
              <a:ext cx="159837" cy="319674"/>
            </a:xfrm>
            <a:prstGeom prst="rect">
              <a:avLst/>
            </a:prstGeom>
            <a:solidFill>
              <a:srgbClr val="FFFFFF"/>
            </a:solidFill>
            <a:ln w="1158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7" name="Cross 17496"/>
            <p:cNvSpPr/>
            <p:nvPr/>
          </p:nvSpPr>
          <p:spPr>
            <a:xfrm>
              <a:off x="7968082" y="2043775"/>
              <a:ext cx="86868" cy="86868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8" name="Rectangle 17497"/>
            <p:cNvSpPr/>
            <p:nvPr/>
          </p:nvSpPr>
          <p:spPr>
            <a:xfrm>
              <a:off x="7847683" y="2153229"/>
              <a:ext cx="79919" cy="3822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9" name="Rectangle 17498"/>
            <p:cNvSpPr/>
            <p:nvPr/>
          </p:nvSpPr>
          <p:spPr>
            <a:xfrm>
              <a:off x="7847683" y="2222724"/>
              <a:ext cx="79919" cy="3822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00" name="Rectangle 17499"/>
            <p:cNvSpPr/>
            <p:nvPr/>
          </p:nvSpPr>
          <p:spPr>
            <a:xfrm>
              <a:off x="8095430" y="2153229"/>
              <a:ext cx="79919" cy="3822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01" name="Rectangle 17500"/>
            <p:cNvSpPr/>
            <p:nvPr/>
          </p:nvSpPr>
          <p:spPr>
            <a:xfrm>
              <a:off x="8095430" y="2222724"/>
              <a:ext cx="79919" cy="3822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02" name="Rectangle 17501"/>
            <p:cNvSpPr/>
            <p:nvPr/>
          </p:nvSpPr>
          <p:spPr>
            <a:xfrm>
              <a:off x="7963564" y="2167128"/>
              <a:ext cx="95902" cy="34747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03" name="Rectangle 17502"/>
            <p:cNvSpPr/>
            <p:nvPr/>
          </p:nvSpPr>
          <p:spPr>
            <a:xfrm>
              <a:off x="7977550" y="2250521"/>
              <a:ext cx="67931" cy="9034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5" name="Badge no"/>
            <p:cNvGrpSpPr/>
            <p:nvPr/>
          </p:nvGrpSpPr>
          <p:grpSpPr>
            <a:xfrm>
              <a:off x="8113846" y="1969069"/>
              <a:ext cx="138989" cy="138989"/>
              <a:chOff x="8113846" y="1969069"/>
              <a:chExt cx="138989" cy="138989"/>
            </a:xfrm>
          </p:grpSpPr>
          <p:sp>
            <p:nvSpPr>
              <p:cNvPr id="17504" name="Oval 17503"/>
              <p:cNvSpPr/>
              <p:nvPr/>
            </p:nvSpPr>
            <p:spPr>
              <a:xfrm>
                <a:off x="8113846" y="1969069"/>
                <a:ext cx="138989" cy="138989"/>
              </a:xfrm>
              <a:prstGeom prst="ellipse">
                <a:avLst/>
              </a:prstGeom>
              <a:solidFill>
                <a:srgbClr val="DC2626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7505" name="Connector 17504"/>
              <p:cNvCxnSpPr/>
              <p:nvPr/>
            </p:nvCxnSpPr>
            <p:spPr>
              <a:xfrm>
                <a:off x="8158323" y="2013545"/>
                <a:ext cx="50035" cy="50036"/>
              </a:xfrm>
              <a:prstGeom prst="line">
                <a:avLst/>
              </a:prstGeom>
              <a:ln w="18338">
                <a:solidFill>
                  <a:srgbClr val="FF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06" name="Connector 17505"/>
              <p:cNvCxnSpPr/>
              <p:nvPr/>
            </p:nvCxnSpPr>
            <p:spPr>
              <a:xfrm flipH="1">
                <a:off x="8158323" y="2013545"/>
                <a:ext cx="50035" cy="50036"/>
              </a:xfrm>
              <a:prstGeom prst="line">
                <a:avLst/>
              </a:prstGeom>
              <a:ln w="18338">
                <a:solidFill>
                  <a:srgbClr val="FF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" name="Accepting alternative"/>
          <p:cNvGrpSpPr/>
          <p:nvPr/>
        </p:nvGrpSpPr>
        <p:grpSpPr>
          <a:xfrm>
            <a:off x="8548488" y="1969069"/>
            <a:ext cx="433124" cy="371795"/>
            <a:chOff x="8548488" y="1969069"/>
            <a:chExt cx="433124" cy="371795"/>
          </a:xfrm>
        </p:grpSpPr>
        <p:sp>
          <p:nvSpPr>
            <p:cNvPr id="17507" name="Rectangle 17506"/>
            <p:cNvSpPr/>
            <p:nvPr/>
          </p:nvSpPr>
          <p:spPr>
            <a:xfrm>
              <a:off x="8548488" y="2118482"/>
              <a:ext cx="135862" cy="222382"/>
            </a:xfrm>
            <a:prstGeom prst="rect">
              <a:avLst/>
            </a:prstGeom>
            <a:solidFill>
              <a:srgbClr val="FFFFFF"/>
            </a:solidFill>
            <a:ln w="1158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08" name="Rectangle 17507"/>
            <p:cNvSpPr/>
            <p:nvPr/>
          </p:nvSpPr>
          <p:spPr>
            <a:xfrm>
              <a:off x="8796235" y="2118482"/>
              <a:ext cx="135862" cy="222382"/>
            </a:xfrm>
            <a:prstGeom prst="rect">
              <a:avLst/>
            </a:prstGeom>
            <a:solidFill>
              <a:srgbClr val="FFFFFF"/>
            </a:solidFill>
            <a:ln w="1158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09" name="Rectangle 17508"/>
            <p:cNvSpPr/>
            <p:nvPr/>
          </p:nvSpPr>
          <p:spPr>
            <a:xfrm>
              <a:off x="8660374" y="2021190"/>
              <a:ext cx="159837" cy="319674"/>
            </a:xfrm>
            <a:prstGeom prst="rect">
              <a:avLst/>
            </a:prstGeom>
            <a:solidFill>
              <a:srgbClr val="FFFFFF"/>
            </a:solidFill>
            <a:ln w="1158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10" name="Cross 17509"/>
            <p:cNvSpPr/>
            <p:nvPr/>
          </p:nvSpPr>
          <p:spPr>
            <a:xfrm>
              <a:off x="8696858" y="2043775"/>
              <a:ext cx="86868" cy="86868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11" name="Rectangle 17510"/>
            <p:cNvSpPr/>
            <p:nvPr/>
          </p:nvSpPr>
          <p:spPr>
            <a:xfrm>
              <a:off x="8576459" y="2153229"/>
              <a:ext cx="79919" cy="3822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12" name="Rectangle 17511"/>
            <p:cNvSpPr/>
            <p:nvPr/>
          </p:nvSpPr>
          <p:spPr>
            <a:xfrm>
              <a:off x="8576459" y="2222724"/>
              <a:ext cx="79919" cy="3822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13" name="Rectangle 17512"/>
            <p:cNvSpPr/>
            <p:nvPr/>
          </p:nvSpPr>
          <p:spPr>
            <a:xfrm>
              <a:off x="8824207" y="2153229"/>
              <a:ext cx="79919" cy="3822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14" name="Rectangle 17513"/>
            <p:cNvSpPr/>
            <p:nvPr/>
          </p:nvSpPr>
          <p:spPr>
            <a:xfrm>
              <a:off x="8824207" y="2222724"/>
              <a:ext cx="79919" cy="3822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15" name="Rectangle 17514"/>
            <p:cNvSpPr/>
            <p:nvPr/>
          </p:nvSpPr>
          <p:spPr>
            <a:xfrm>
              <a:off x="8692341" y="2167128"/>
              <a:ext cx="95902" cy="34747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16" name="Rectangle 17515"/>
            <p:cNvSpPr/>
            <p:nvPr/>
          </p:nvSpPr>
          <p:spPr>
            <a:xfrm>
              <a:off x="8706327" y="2250521"/>
              <a:ext cx="67931" cy="9034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7" name="Badge ok"/>
            <p:cNvGrpSpPr/>
            <p:nvPr/>
          </p:nvGrpSpPr>
          <p:grpSpPr>
            <a:xfrm>
              <a:off x="8842623" y="1969069"/>
              <a:ext cx="138989" cy="138989"/>
              <a:chOff x="8842623" y="1969069"/>
              <a:chExt cx="138989" cy="138989"/>
            </a:xfrm>
          </p:grpSpPr>
          <p:sp>
            <p:nvSpPr>
              <p:cNvPr id="17517" name="Oval 17516"/>
              <p:cNvSpPr/>
              <p:nvPr/>
            </p:nvSpPr>
            <p:spPr>
              <a:xfrm>
                <a:off x="8842623" y="1969069"/>
                <a:ext cx="138989" cy="138989"/>
              </a:xfrm>
              <a:prstGeom prst="ellipse">
                <a:avLst/>
              </a:prstGeom>
              <a:solidFill>
                <a:srgbClr val="16A34A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Freeform 17"/>
              <p:cNvSpPr/>
              <p:nvPr/>
            </p:nvSpPr>
            <p:spPr>
              <a:xfrm>
                <a:off x="8878760" y="2014935"/>
                <a:ext cx="68105" cy="51426"/>
              </a:xfrm>
              <a:custGeom>
                <a:avLst/>
                <a:gdLst/>
                <a:ahLst/>
                <a:cxnLst/>
                <a:rect l="l" t="t" r="r" b="b"/>
                <a:pathLst>
                  <a:path w="68105" h="51426">
                    <a:moveTo>
                      <a:pt x="0" y="27798"/>
                    </a:moveTo>
                    <a:lnTo>
                      <a:pt x="23628" y="51426"/>
                    </a:lnTo>
                    <a:lnTo>
                      <a:pt x="68105" y="0"/>
                    </a:lnTo>
                  </a:path>
                </a:pathLst>
              </a:custGeom>
              <a:noFill/>
              <a:ln w="18338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cxnSp>
        <p:nvCxnSpPr>
          <p:cNvPr id="17518" name="Connector 17517"/>
          <p:cNvCxnSpPr/>
          <p:nvPr/>
        </p:nvCxnSpPr>
        <p:spPr>
          <a:xfrm>
            <a:off x="8257032" y="2212848"/>
            <a:ext cx="237744" cy="0"/>
          </a:xfrm>
          <a:prstGeom prst="line">
            <a:avLst/>
          </a:prstGeom>
          <a:ln w="1905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19" name="Step 5: Referral accepted"/>
          <p:cNvSpPr/>
          <p:nvPr/>
        </p:nvSpPr>
        <p:spPr>
          <a:xfrm>
            <a:off x="9628632" y="1865376"/>
            <a:ext cx="1783080" cy="1463040"/>
          </a:xfrm>
          <a:prstGeom prst="roundRect">
            <a:avLst>
              <a:gd name="adj" fmla="val 8750"/>
            </a:avLst>
          </a:prstGeom>
          <a:solidFill>
            <a:srgbClr val="F0FDF4"/>
          </a:solidFill>
          <a:ln w="222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585216" rIns="73152" bIns="36576">
            <a:noAutofit/>
          </a:bodyPr>
          <a:lstStyle/>
          <a:p>
            <a:pPr algn="ctr"/>
            <a:r>
              <a:rPr sz="1100" b="1" i="0">
                <a:solidFill>
                  <a:srgbClr val="003366"/>
                </a:solidFill>
                <a:latin typeface="Arial"/>
              </a:rPr>
              <a:t>Referral accepted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4B5563"/>
                </a:solidFill>
                <a:latin typeface="Arial"/>
              </a:rPr>
              <a:t>Best eligible hospital that explicitly accepted; ETA only orders the choice.</a:t>
            </a:r>
          </a:p>
        </p:txBody>
      </p:sp>
      <p:sp>
        <p:nvSpPr>
          <p:cNvPr id="17520" name="Step 5 number"/>
          <p:cNvSpPr/>
          <p:nvPr/>
        </p:nvSpPr>
        <p:spPr>
          <a:xfrm>
            <a:off x="9537192" y="1737360"/>
            <a:ext cx="292608" cy="292608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grpSp>
        <p:nvGrpSpPr>
          <p:cNvPr id="19" name="Ambulance illustration"/>
          <p:cNvGrpSpPr/>
          <p:nvPr/>
        </p:nvGrpSpPr>
        <p:grpSpPr>
          <a:xfrm>
            <a:off x="9922154" y="2111350"/>
            <a:ext cx="480060" cy="256489"/>
            <a:chOff x="9922154" y="2111350"/>
            <a:chExt cx="480060" cy="256489"/>
          </a:xfrm>
        </p:grpSpPr>
        <p:sp>
          <p:nvSpPr>
            <p:cNvPr id="17521" name="Rounded Rectangle 17520"/>
            <p:cNvSpPr/>
            <p:nvPr/>
          </p:nvSpPr>
          <p:spPr>
            <a:xfrm>
              <a:off x="10061372" y="2111350"/>
              <a:ext cx="62408" cy="30175"/>
            </a:xfrm>
            <a:prstGeom prst="roundRect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22" name="Rounded Rectangle 17521"/>
            <p:cNvSpPr/>
            <p:nvPr/>
          </p:nvSpPr>
          <p:spPr>
            <a:xfrm>
              <a:off x="9922154" y="2138782"/>
              <a:ext cx="309639" cy="183794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0219792" y="2188159"/>
              <a:ext cx="182422" cy="134417"/>
            </a:xfrm>
            <a:custGeom>
              <a:avLst/>
              <a:gdLst/>
              <a:ahLst/>
              <a:cxnLst/>
              <a:rect l="l" t="t" r="r" b="b"/>
              <a:pathLst>
                <a:path w="182422" h="134417">
                  <a:moveTo>
                    <a:pt x="0" y="0"/>
                  </a:moveTo>
                  <a:lnTo>
                    <a:pt x="86410" y="0"/>
                  </a:lnTo>
                  <a:lnTo>
                    <a:pt x="160820" y="57607"/>
                  </a:lnTo>
                  <a:lnTo>
                    <a:pt x="182422" y="68580"/>
                  </a:lnTo>
                  <a:lnTo>
                    <a:pt x="182422" y="134417"/>
                  </a:lnTo>
                  <a:lnTo>
                    <a:pt x="0" y="134417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248595" y="2205990"/>
              <a:ext cx="103213" cy="42520"/>
            </a:xfrm>
            <a:custGeom>
              <a:avLst/>
              <a:gdLst/>
              <a:ahLst/>
              <a:cxnLst/>
              <a:rect l="l" t="t" r="r" b="b"/>
              <a:pathLst>
                <a:path w="103213" h="42520">
                  <a:moveTo>
                    <a:pt x="0" y="0"/>
                  </a:moveTo>
                  <a:lnTo>
                    <a:pt x="50406" y="0"/>
                  </a:lnTo>
                  <a:lnTo>
                    <a:pt x="103213" y="42520"/>
                  </a:lnTo>
                  <a:lnTo>
                    <a:pt x="0" y="42520"/>
                  </a:lnTo>
                  <a:close/>
                </a:path>
              </a:pathLst>
            </a:cu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23" name="Rectangle 17522"/>
            <p:cNvSpPr/>
            <p:nvPr/>
          </p:nvSpPr>
          <p:spPr>
            <a:xfrm>
              <a:off x="9925035" y="2267712"/>
              <a:ext cx="474299" cy="1783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24" name="Cross 17523"/>
            <p:cNvSpPr/>
            <p:nvPr/>
          </p:nvSpPr>
          <p:spPr>
            <a:xfrm>
              <a:off x="10034626" y="2163470"/>
              <a:ext cx="82296" cy="82296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25" name="Oval 17524"/>
            <p:cNvSpPr/>
            <p:nvPr/>
          </p:nvSpPr>
          <p:spPr>
            <a:xfrm>
              <a:off x="9978390" y="2288286"/>
              <a:ext cx="79553" cy="79553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26" name="Oval 17525"/>
            <p:cNvSpPr/>
            <p:nvPr/>
          </p:nvSpPr>
          <p:spPr>
            <a:xfrm>
              <a:off x="10003079" y="2312975"/>
              <a:ext cx="30175" cy="301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27" name="Oval 17526"/>
            <p:cNvSpPr/>
            <p:nvPr/>
          </p:nvSpPr>
          <p:spPr>
            <a:xfrm>
              <a:off x="10261625" y="2288286"/>
              <a:ext cx="79553" cy="79553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28" name="Oval 17527"/>
            <p:cNvSpPr/>
            <p:nvPr/>
          </p:nvSpPr>
          <p:spPr>
            <a:xfrm>
              <a:off x="10286314" y="2312975"/>
              <a:ext cx="30175" cy="301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7529" name="Connector 17528"/>
          <p:cNvCxnSpPr/>
          <p:nvPr/>
        </p:nvCxnSpPr>
        <p:spPr>
          <a:xfrm>
            <a:off x="10438790" y="2231136"/>
            <a:ext cx="201168" cy="0"/>
          </a:xfrm>
          <a:prstGeom prst="line">
            <a:avLst/>
          </a:prstGeom>
          <a:ln w="1905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Destination hospital"/>
          <p:cNvGrpSpPr/>
          <p:nvPr/>
        </p:nvGrpSpPr>
        <p:grpSpPr>
          <a:xfrm>
            <a:off x="10685368" y="1948221"/>
            <a:ext cx="478715" cy="410931"/>
            <a:chOff x="10685368" y="1948221"/>
            <a:chExt cx="478715" cy="410931"/>
          </a:xfrm>
        </p:grpSpPr>
        <p:sp>
          <p:nvSpPr>
            <p:cNvPr id="17530" name="Rectangle 17529"/>
            <p:cNvSpPr/>
            <p:nvPr/>
          </p:nvSpPr>
          <p:spPr>
            <a:xfrm>
              <a:off x="10685368" y="2113361"/>
              <a:ext cx="150163" cy="245791"/>
            </a:xfrm>
            <a:prstGeom prst="rect">
              <a:avLst/>
            </a:prstGeom>
            <a:solidFill>
              <a:srgbClr val="FFFFFF"/>
            </a:solidFill>
            <a:ln w="12801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1" name="Rectangle 17530"/>
            <p:cNvSpPr/>
            <p:nvPr/>
          </p:nvSpPr>
          <p:spPr>
            <a:xfrm>
              <a:off x="10959194" y="2113361"/>
              <a:ext cx="150163" cy="245791"/>
            </a:xfrm>
            <a:prstGeom prst="rect">
              <a:avLst/>
            </a:prstGeom>
            <a:solidFill>
              <a:srgbClr val="FFFFFF"/>
            </a:solidFill>
            <a:ln w="12801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2" name="Rectangle 17531"/>
            <p:cNvSpPr/>
            <p:nvPr/>
          </p:nvSpPr>
          <p:spPr>
            <a:xfrm>
              <a:off x="10809031" y="2005828"/>
              <a:ext cx="176662" cy="353324"/>
            </a:xfrm>
            <a:prstGeom prst="rect">
              <a:avLst/>
            </a:prstGeom>
            <a:solidFill>
              <a:srgbClr val="FFFFFF"/>
            </a:solidFill>
            <a:ln w="12801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3" name="Cross 17532"/>
            <p:cNvSpPr/>
            <p:nvPr/>
          </p:nvSpPr>
          <p:spPr>
            <a:xfrm>
              <a:off x="10849356" y="2030791"/>
              <a:ext cx="96012" cy="96012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4" name="Rectangle 17533"/>
            <p:cNvSpPr/>
            <p:nvPr/>
          </p:nvSpPr>
          <p:spPr>
            <a:xfrm>
              <a:off x="10716283" y="2151766"/>
              <a:ext cx="88331" cy="42245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5" name="Rectangle 17534"/>
            <p:cNvSpPr/>
            <p:nvPr/>
          </p:nvSpPr>
          <p:spPr>
            <a:xfrm>
              <a:off x="10716283" y="2228576"/>
              <a:ext cx="88331" cy="42245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6" name="Rectangle 17535"/>
            <p:cNvSpPr/>
            <p:nvPr/>
          </p:nvSpPr>
          <p:spPr>
            <a:xfrm>
              <a:off x="10990110" y="2151766"/>
              <a:ext cx="88331" cy="42245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7" name="Rectangle 17536"/>
            <p:cNvSpPr/>
            <p:nvPr/>
          </p:nvSpPr>
          <p:spPr>
            <a:xfrm>
              <a:off x="10990110" y="2228576"/>
              <a:ext cx="88331" cy="42245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8" name="Rectangle 17537"/>
            <p:cNvSpPr/>
            <p:nvPr/>
          </p:nvSpPr>
          <p:spPr>
            <a:xfrm>
              <a:off x="10844363" y="2167128"/>
              <a:ext cx="105997" cy="38405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9" name="Rectangle 17538"/>
            <p:cNvSpPr/>
            <p:nvPr/>
          </p:nvSpPr>
          <p:spPr>
            <a:xfrm>
              <a:off x="10859821" y="2259300"/>
              <a:ext cx="75081" cy="9985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3" name="Badge ok"/>
            <p:cNvGrpSpPr/>
            <p:nvPr/>
          </p:nvGrpSpPr>
          <p:grpSpPr>
            <a:xfrm>
              <a:off x="11010464" y="1948221"/>
              <a:ext cx="153619" cy="153619"/>
              <a:chOff x="11010464" y="1948221"/>
              <a:chExt cx="153619" cy="153619"/>
            </a:xfrm>
          </p:grpSpPr>
          <p:sp>
            <p:nvSpPr>
              <p:cNvPr id="17540" name="Oval 17539"/>
              <p:cNvSpPr/>
              <p:nvPr/>
            </p:nvSpPr>
            <p:spPr>
              <a:xfrm>
                <a:off x="11010464" y="1948221"/>
                <a:ext cx="153619" cy="153619"/>
              </a:xfrm>
              <a:prstGeom prst="ellipse">
                <a:avLst/>
              </a:prstGeom>
              <a:solidFill>
                <a:srgbClr val="16A34A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Freeform 23"/>
              <p:cNvSpPr/>
              <p:nvPr/>
            </p:nvSpPr>
            <p:spPr>
              <a:xfrm>
                <a:off x="11050405" y="1998915"/>
                <a:ext cx="75274" cy="56839"/>
              </a:xfrm>
              <a:custGeom>
                <a:avLst/>
                <a:gdLst/>
                <a:ahLst/>
                <a:cxnLst/>
                <a:rect l="l" t="t" r="r" b="b"/>
                <a:pathLst>
                  <a:path w="75274" h="56839">
                    <a:moveTo>
                      <a:pt x="0" y="30724"/>
                    </a:moveTo>
                    <a:lnTo>
                      <a:pt x="26115" y="56839"/>
                    </a:lnTo>
                    <a:lnTo>
                      <a:pt x="75274" y="0"/>
                    </a:lnTo>
                  </a:path>
                </a:pathLst>
              </a:custGeom>
              <a:noFill/>
              <a:ln w="20269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cxnSp>
        <p:nvCxnSpPr>
          <p:cNvPr id="17541" name="Connector 17540"/>
          <p:cNvCxnSpPr/>
          <p:nvPr/>
        </p:nvCxnSpPr>
        <p:spPr>
          <a:xfrm>
            <a:off x="2459736" y="2596896"/>
            <a:ext cx="288036" cy="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42" name="Connector 17541"/>
          <p:cNvCxnSpPr/>
          <p:nvPr/>
        </p:nvCxnSpPr>
        <p:spPr>
          <a:xfrm>
            <a:off x="4466844" y="2596896"/>
            <a:ext cx="288036" cy="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43" name="Rejected, busy or expired"/>
          <p:cNvCxnSpPr/>
          <p:nvPr/>
        </p:nvCxnSpPr>
        <p:spPr>
          <a:xfrm>
            <a:off x="7159752" y="2596896"/>
            <a:ext cx="288036" cy="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44" name="Another hospital accepted"/>
          <p:cNvCxnSpPr/>
          <p:nvPr/>
        </p:nvCxnSpPr>
        <p:spPr>
          <a:xfrm>
            <a:off x="9304020" y="2596896"/>
            <a:ext cx="288036" cy="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ccepted path"/>
          <p:cNvSpPr/>
          <p:nvPr/>
        </p:nvSpPr>
        <p:spPr>
          <a:xfrm>
            <a:off x="6848856" y="1673352"/>
            <a:ext cx="3671316" cy="182880"/>
          </a:xfrm>
          <a:custGeom>
            <a:avLst/>
            <a:gdLst/>
            <a:ahLst/>
            <a:cxnLst/>
            <a:rect l="l" t="t" r="r" b="b"/>
            <a:pathLst>
              <a:path w="3671316" h="182880">
                <a:moveTo>
                  <a:pt x="0" y="182880"/>
                </a:moveTo>
                <a:lnTo>
                  <a:pt x="0" y="0"/>
                </a:lnTo>
                <a:lnTo>
                  <a:pt x="3671316" y="0"/>
                </a:lnTo>
                <a:lnTo>
                  <a:pt x="3671316" y="182880"/>
                </a:lnTo>
              </a:path>
            </a:pathLst>
          </a:custGeom>
          <a:noFill/>
          <a:ln w="22225">
            <a:solidFill>
              <a:srgbClr val="16A34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5" name="Accepted path label"/>
          <p:cNvSpPr txBox="1"/>
          <p:nvPr/>
        </p:nvSpPr>
        <p:spPr>
          <a:xfrm>
            <a:off x="7530084" y="1591056"/>
            <a:ext cx="1691640" cy="141732"/>
          </a:xfrm>
          <a:prstGeom prst="rect">
            <a:avLst/>
          </a:prstGeom>
          <a:solidFill>
            <a:srgbClr val="F4F8FC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>
                <a:solidFill>
                  <a:srgbClr val="15803D"/>
                </a:solidFill>
                <a:latin typeface="Arial"/>
              </a:rPr>
              <a:t>accepted / limited → destination</a:t>
            </a:r>
          </a:p>
        </p:txBody>
      </p:sp>
      <p:sp>
        <p:nvSpPr>
          <p:cNvPr id="26" name="Awaiting responses loop"/>
          <p:cNvSpPr/>
          <p:nvPr/>
        </p:nvSpPr>
        <p:spPr>
          <a:xfrm>
            <a:off x="6620256" y="3337560"/>
            <a:ext cx="1275588" cy="118872"/>
          </a:xfrm>
          <a:custGeom>
            <a:avLst/>
            <a:gdLst/>
            <a:ahLst/>
            <a:cxnLst/>
            <a:rect l="l" t="t" r="r" b="b"/>
            <a:pathLst>
              <a:path w="1275588" h="118872">
                <a:moveTo>
                  <a:pt x="1275588" y="0"/>
                </a:moveTo>
                <a:lnTo>
                  <a:pt x="1275588" y="118872"/>
                </a:lnTo>
                <a:lnTo>
                  <a:pt x="0" y="118872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9CA3AF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6" name="Awaiting responses label"/>
          <p:cNvSpPr txBox="1"/>
          <p:nvPr/>
        </p:nvSpPr>
        <p:spPr>
          <a:xfrm>
            <a:off x="6117336" y="3465576"/>
            <a:ext cx="2281428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1">
                <a:solidFill>
                  <a:srgbClr val="4B5563"/>
                </a:solidFill>
                <a:latin typeface="Arial"/>
              </a:rPr>
              <a:t>no hospital has accepted yet → awaiting responses</a:t>
            </a:r>
          </a:p>
        </p:txBody>
      </p:sp>
      <p:cxnSp>
        <p:nvCxnSpPr>
          <p:cNvPr id="17547" name="Ambulance arrives"/>
          <p:cNvCxnSpPr/>
          <p:nvPr/>
        </p:nvCxnSpPr>
        <p:spPr>
          <a:xfrm>
            <a:off x="10520172" y="3346704"/>
            <a:ext cx="0" cy="786384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48" name="Arrival label"/>
          <p:cNvSpPr txBox="1"/>
          <p:nvPr/>
        </p:nvSpPr>
        <p:spPr>
          <a:xfrm>
            <a:off x="9240012" y="3639312"/>
            <a:ext cx="1207008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1" i="1">
                <a:solidFill>
                  <a:srgbClr val="003366"/>
                </a:solidFill>
                <a:latin typeface="Arial"/>
              </a:rPr>
              <a:t>ambulance arrives</a:t>
            </a:r>
          </a:p>
        </p:txBody>
      </p:sp>
      <p:sp>
        <p:nvSpPr>
          <p:cNvPr id="17549" name="Step 6: Arrival &amp; handover"/>
          <p:cNvSpPr/>
          <p:nvPr/>
        </p:nvSpPr>
        <p:spPr>
          <a:xfrm>
            <a:off x="9628632" y="4151376"/>
            <a:ext cx="178308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585216" rIns="73152" bIns="36576">
            <a:noAutofit/>
          </a:bodyPr>
          <a:lstStyle/>
          <a:p>
            <a:pPr algn="ctr"/>
            <a:r>
              <a:rPr sz="1100" b="1" i="0">
                <a:solidFill>
                  <a:srgbClr val="003366"/>
                </a:solidFill>
                <a:latin typeface="Arial"/>
              </a:rPr>
              <a:t>Arrival &amp; handover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4B5563"/>
                </a:solidFill>
                <a:latin typeface="Arial"/>
              </a:rPr>
              <a:t>Hospital records arrival and handover; the encounter opens for its care team.</a:t>
            </a:r>
          </a:p>
        </p:txBody>
      </p:sp>
      <p:sp>
        <p:nvSpPr>
          <p:cNvPr id="17550" name="Step 6 number"/>
          <p:cNvSpPr/>
          <p:nvPr/>
        </p:nvSpPr>
        <p:spPr>
          <a:xfrm>
            <a:off x="9537192" y="4023360"/>
            <a:ext cx="292608" cy="292608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grpSp>
        <p:nvGrpSpPr>
          <p:cNvPr id="27" name="Receiving hospital"/>
          <p:cNvGrpSpPr/>
          <p:nvPr/>
        </p:nvGrpSpPr>
        <p:grpSpPr>
          <a:xfrm>
            <a:off x="10565545" y="4293291"/>
            <a:ext cx="444178" cy="370149"/>
            <a:chOff x="10565545" y="4293291"/>
            <a:chExt cx="444178" cy="370149"/>
          </a:xfrm>
        </p:grpSpPr>
        <p:sp>
          <p:nvSpPr>
            <p:cNvPr id="17551" name="Rectangle 17550"/>
            <p:cNvSpPr/>
            <p:nvPr/>
          </p:nvSpPr>
          <p:spPr>
            <a:xfrm>
              <a:off x="10565545" y="4405945"/>
              <a:ext cx="157313" cy="257495"/>
            </a:xfrm>
            <a:prstGeom prst="rect">
              <a:avLst/>
            </a:prstGeom>
            <a:solidFill>
              <a:srgbClr val="FFFFFF"/>
            </a:solidFill>
            <a:ln w="13411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52" name="Rectangle 17551"/>
            <p:cNvSpPr/>
            <p:nvPr/>
          </p:nvSpPr>
          <p:spPr>
            <a:xfrm>
              <a:off x="10852410" y="4405945"/>
              <a:ext cx="157313" cy="257495"/>
            </a:xfrm>
            <a:prstGeom prst="rect">
              <a:avLst/>
            </a:prstGeom>
            <a:solidFill>
              <a:srgbClr val="FFFFFF"/>
            </a:solidFill>
            <a:ln w="13411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53" name="Rectangle 17552"/>
            <p:cNvSpPr/>
            <p:nvPr/>
          </p:nvSpPr>
          <p:spPr>
            <a:xfrm>
              <a:off x="10695097" y="4293291"/>
              <a:ext cx="185075" cy="370149"/>
            </a:xfrm>
            <a:prstGeom prst="rect">
              <a:avLst/>
            </a:prstGeom>
            <a:solidFill>
              <a:srgbClr val="FFFFFF"/>
            </a:solidFill>
            <a:ln w="13411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54" name="Cross 17553"/>
            <p:cNvSpPr/>
            <p:nvPr/>
          </p:nvSpPr>
          <p:spPr>
            <a:xfrm>
              <a:off x="10737342" y="4319443"/>
              <a:ext cx="100584" cy="100584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55" name="Rectangle 17554"/>
            <p:cNvSpPr/>
            <p:nvPr/>
          </p:nvSpPr>
          <p:spPr>
            <a:xfrm>
              <a:off x="10597933" y="4446179"/>
              <a:ext cx="92537" cy="44257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56" name="Rectangle 17555"/>
            <p:cNvSpPr/>
            <p:nvPr/>
          </p:nvSpPr>
          <p:spPr>
            <a:xfrm>
              <a:off x="10597933" y="4526646"/>
              <a:ext cx="92537" cy="44257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57" name="Rectangle 17556"/>
            <p:cNvSpPr/>
            <p:nvPr/>
          </p:nvSpPr>
          <p:spPr>
            <a:xfrm>
              <a:off x="10884798" y="4446179"/>
              <a:ext cx="92537" cy="44257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58" name="Rectangle 17557"/>
            <p:cNvSpPr/>
            <p:nvPr/>
          </p:nvSpPr>
          <p:spPr>
            <a:xfrm>
              <a:off x="10884798" y="4526646"/>
              <a:ext cx="92537" cy="44257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59" name="Rectangle 17558"/>
            <p:cNvSpPr/>
            <p:nvPr/>
          </p:nvSpPr>
          <p:spPr>
            <a:xfrm>
              <a:off x="10732112" y="4462272"/>
              <a:ext cx="111045" cy="4023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60" name="Rectangle 17559"/>
            <p:cNvSpPr/>
            <p:nvPr/>
          </p:nvSpPr>
          <p:spPr>
            <a:xfrm>
              <a:off x="10748306" y="4558833"/>
              <a:ext cx="78657" cy="10460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" name="Ambulance illustration"/>
          <p:cNvGrpSpPr/>
          <p:nvPr/>
        </p:nvGrpSpPr>
        <p:grpSpPr>
          <a:xfrm>
            <a:off x="10021367" y="4397350"/>
            <a:ext cx="480060" cy="256489"/>
            <a:chOff x="10021367" y="4397350"/>
            <a:chExt cx="480060" cy="256489"/>
          </a:xfrm>
        </p:grpSpPr>
        <p:sp>
          <p:nvSpPr>
            <p:cNvPr id="17561" name="Rounded Rectangle 17560"/>
            <p:cNvSpPr/>
            <p:nvPr/>
          </p:nvSpPr>
          <p:spPr>
            <a:xfrm>
              <a:off x="10160584" y="4397350"/>
              <a:ext cx="62408" cy="30175"/>
            </a:xfrm>
            <a:prstGeom prst="roundRect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62" name="Rounded Rectangle 17561"/>
            <p:cNvSpPr/>
            <p:nvPr/>
          </p:nvSpPr>
          <p:spPr>
            <a:xfrm>
              <a:off x="10021367" y="4424782"/>
              <a:ext cx="309639" cy="183794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0319004" y="4474159"/>
              <a:ext cx="182423" cy="134417"/>
            </a:xfrm>
            <a:custGeom>
              <a:avLst/>
              <a:gdLst/>
              <a:ahLst/>
              <a:cxnLst/>
              <a:rect l="l" t="t" r="r" b="b"/>
              <a:pathLst>
                <a:path w="182423" h="134417">
                  <a:moveTo>
                    <a:pt x="0" y="0"/>
                  </a:moveTo>
                  <a:lnTo>
                    <a:pt x="86411" y="0"/>
                  </a:lnTo>
                  <a:lnTo>
                    <a:pt x="160820" y="57607"/>
                  </a:lnTo>
                  <a:lnTo>
                    <a:pt x="182423" y="68580"/>
                  </a:lnTo>
                  <a:lnTo>
                    <a:pt x="182423" y="134417"/>
                  </a:lnTo>
                  <a:lnTo>
                    <a:pt x="0" y="134417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0347808" y="4491990"/>
              <a:ext cx="103212" cy="42520"/>
            </a:xfrm>
            <a:custGeom>
              <a:avLst/>
              <a:gdLst/>
              <a:ahLst/>
              <a:cxnLst/>
              <a:rect l="l" t="t" r="r" b="b"/>
              <a:pathLst>
                <a:path w="103212" h="42520">
                  <a:moveTo>
                    <a:pt x="0" y="0"/>
                  </a:moveTo>
                  <a:lnTo>
                    <a:pt x="50406" y="0"/>
                  </a:lnTo>
                  <a:lnTo>
                    <a:pt x="103212" y="42520"/>
                  </a:lnTo>
                  <a:lnTo>
                    <a:pt x="0" y="42520"/>
                  </a:lnTo>
                  <a:close/>
                </a:path>
              </a:pathLst>
            </a:cu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63" name="Rectangle 17562"/>
            <p:cNvSpPr/>
            <p:nvPr/>
          </p:nvSpPr>
          <p:spPr>
            <a:xfrm>
              <a:off x="10024247" y="4553712"/>
              <a:ext cx="474299" cy="1783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64" name="Cross 17563"/>
            <p:cNvSpPr/>
            <p:nvPr/>
          </p:nvSpPr>
          <p:spPr>
            <a:xfrm>
              <a:off x="10133838" y="4449470"/>
              <a:ext cx="82296" cy="82296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65" name="Oval 17564"/>
            <p:cNvSpPr/>
            <p:nvPr/>
          </p:nvSpPr>
          <p:spPr>
            <a:xfrm>
              <a:off x="10077602" y="4574286"/>
              <a:ext cx="79553" cy="79553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66" name="Oval 17565"/>
            <p:cNvSpPr/>
            <p:nvPr/>
          </p:nvSpPr>
          <p:spPr>
            <a:xfrm>
              <a:off x="10102291" y="4598975"/>
              <a:ext cx="30175" cy="301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67" name="Oval 17566"/>
            <p:cNvSpPr/>
            <p:nvPr/>
          </p:nvSpPr>
          <p:spPr>
            <a:xfrm>
              <a:off x="10360838" y="4574286"/>
              <a:ext cx="79553" cy="79553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68" name="Oval 17567"/>
            <p:cNvSpPr/>
            <p:nvPr/>
          </p:nvSpPr>
          <p:spPr>
            <a:xfrm>
              <a:off x="10385527" y="4598975"/>
              <a:ext cx="30175" cy="301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569" name="Step 7: Doctor workspace"/>
          <p:cNvSpPr/>
          <p:nvPr/>
        </p:nvSpPr>
        <p:spPr>
          <a:xfrm>
            <a:off x="7484364" y="4151376"/>
            <a:ext cx="178308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585216" rIns="73152" bIns="36576">
            <a:noAutofit/>
          </a:bodyPr>
          <a:lstStyle/>
          <a:p>
            <a:pPr algn="ctr"/>
            <a:r>
              <a:rPr sz="1100" b="1" i="0">
                <a:solidFill>
                  <a:srgbClr val="003366"/>
                </a:solidFill>
                <a:latin typeface="Arial"/>
              </a:rPr>
              <a:t>Doctor workspace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4B5563"/>
                </a:solidFill>
                <a:latin typeface="Arial"/>
              </a:rPr>
              <a:t>Assigned doctor reviews symptoms, timestamped vitals and the crew's handover.</a:t>
            </a:r>
          </a:p>
        </p:txBody>
      </p:sp>
      <p:sp>
        <p:nvSpPr>
          <p:cNvPr id="17570" name="Step 7 number"/>
          <p:cNvSpPr/>
          <p:nvPr/>
        </p:nvSpPr>
        <p:spPr>
          <a:xfrm>
            <a:off x="7392924" y="4023360"/>
            <a:ext cx="292608" cy="292608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grpSp>
        <p:nvGrpSpPr>
          <p:cNvPr id="31" name="Doctor illustration"/>
          <p:cNvGrpSpPr/>
          <p:nvPr/>
        </p:nvGrpSpPr>
        <p:grpSpPr>
          <a:xfrm>
            <a:off x="7945039" y="4263847"/>
            <a:ext cx="353324" cy="399593"/>
            <a:chOff x="7945039" y="4263847"/>
            <a:chExt cx="353324" cy="399593"/>
          </a:xfrm>
        </p:grpSpPr>
        <p:sp>
          <p:nvSpPr>
            <p:cNvPr id="32" name="Freeform 31"/>
            <p:cNvSpPr/>
            <p:nvPr/>
          </p:nvSpPr>
          <p:spPr>
            <a:xfrm>
              <a:off x="7945039" y="4463644"/>
              <a:ext cx="353324" cy="199796"/>
            </a:xfrm>
            <a:custGeom>
              <a:avLst/>
              <a:gdLst/>
              <a:ahLst/>
              <a:cxnLst/>
              <a:rect l="l" t="t" r="r" b="b"/>
              <a:pathLst>
                <a:path w="353324" h="199796">
                  <a:moveTo>
                    <a:pt x="0" y="199796"/>
                  </a:moveTo>
                  <a:lnTo>
                    <a:pt x="8412" y="115671"/>
                  </a:lnTo>
                  <a:lnTo>
                    <a:pt x="33650" y="58887"/>
                  </a:lnTo>
                  <a:lnTo>
                    <a:pt x="75712" y="21031"/>
                  </a:lnTo>
                  <a:lnTo>
                    <a:pt x="134599" y="0"/>
                  </a:lnTo>
                  <a:lnTo>
                    <a:pt x="218724" y="0"/>
                  </a:lnTo>
                  <a:lnTo>
                    <a:pt x="277612" y="21031"/>
                  </a:lnTo>
                  <a:lnTo>
                    <a:pt x="319674" y="58887"/>
                  </a:lnTo>
                  <a:lnTo>
                    <a:pt x="344911" y="115671"/>
                  </a:lnTo>
                  <a:lnTo>
                    <a:pt x="353324" y="199796"/>
                  </a:lnTo>
                  <a:close/>
                </a:path>
              </a:pathLst>
            </a:custGeom>
            <a:solidFill>
              <a:srgbClr val="FFFFFF"/>
            </a:solidFill>
            <a:ln w="14020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8081742" y="4465747"/>
              <a:ext cx="79918" cy="75712"/>
            </a:xfrm>
            <a:custGeom>
              <a:avLst/>
              <a:gdLst/>
              <a:ahLst/>
              <a:cxnLst/>
              <a:rect l="l" t="t" r="r" b="b"/>
              <a:pathLst>
                <a:path w="79918" h="75712">
                  <a:moveTo>
                    <a:pt x="0" y="0"/>
                  </a:moveTo>
                  <a:lnTo>
                    <a:pt x="79918" y="0"/>
                  </a:lnTo>
                  <a:lnTo>
                    <a:pt x="39959" y="75712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571" name="Connector 17570"/>
            <p:cNvCxnSpPr/>
            <p:nvPr/>
          </p:nvCxnSpPr>
          <p:spPr>
            <a:xfrm>
              <a:off x="8079638" y="4465747"/>
              <a:ext cx="29444" cy="138806"/>
            </a:xfrm>
            <a:prstGeom prst="line">
              <a:avLst/>
            </a:prstGeom>
            <a:ln w="8412">
              <a:solidFill>
                <a:srgbClr val="003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72" name="Connector 17571"/>
            <p:cNvCxnSpPr/>
            <p:nvPr/>
          </p:nvCxnSpPr>
          <p:spPr>
            <a:xfrm flipH="1">
              <a:off x="8134320" y="4465747"/>
              <a:ext cx="29443" cy="138806"/>
            </a:xfrm>
            <a:prstGeom prst="line">
              <a:avLst/>
            </a:prstGeom>
            <a:ln w="8412">
              <a:solidFill>
                <a:srgbClr val="003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 33"/>
            <p:cNvSpPr/>
            <p:nvPr/>
          </p:nvSpPr>
          <p:spPr>
            <a:xfrm>
              <a:off x="8031267" y="4474159"/>
              <a:ext cx="35753" cy="105156"/>
            </a:xfrm>
            <a:custGeom>
              <a:avLst/>
              <a:gdLst/>
              <a:ahLst/>
              <a:cxnLst/>
              <a:rect l="l" t="t" r="r" b="b"/>
              <a:pathLst>
                <a:path w="35753" h="105156">
                  <a:moveTo>
                    <a:pt x="35753" y="0"/>
                  </a:moveTo>
                  <a:lnTo>
                    <a:pt x="6309" y="37856"/>
                  </a:lnTo>
                  <a:lnTo>
                    <a:pt x="0" y="79919"/>
                  </a:lnTo>
                  <a:lnTo>
                    <a:pt x="10515" y="105156"/>
                  </a:lnTo>
                </a:path>
              </a:pathLst>
            </a:custGeom>
            <a:noFill/>
            <a:ln w="14020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73" name="Oval 17572"/>
            <p:cNvSpPr/>
            <p:nvPr/>
          </p:nvSpPr>
          <p:spPr>
            <a:xfrm>
              <a:off x="8020751" y="4568800"/>
              <a:ext cx="46269" cy="46269"/>
            </a:xfrm>
            <a:prstGeom prst="ellipse">
              <a:avLst/>
            </a:prstGeom>
            <a:solidFill>
              <a:srgbClr val="0070C0"/>
            </a:solidFill>
            <a:ln w="841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74" name="Cross 17573"/>
            <p:cNvSpPr/>
            <p:nvPr/>
          </p:nvSpPr>
          <p:spPr>
            <a:xfrm>
              <a:off x="8186898" y="4556181"/>
              <a:ext cx="46269" cy="46269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75" name="Oval 17574"/>
            <p:cNvSpPr/>
            <p:nvPr/>
          </p:nvSpPr>
          <p:spPr>
            <a:xfrm>
              <a:off x="8045988" y="4263847"/>
              <a:ext cx="151425" cy="172456"/>
            </a:xfrm>
            <a:prstGeom prst="ellipse">
              <a:avLst/>
            </a:prstGeom>
            <a:solidFill>
              <a:srgbClr val="FFFFFF"/>
            </a:solidFill>
            <a:ln w="14020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Encounter record illustration"/>
          <p:cNvGrpSpPr/>
          <p:nvPr/>
        </p:nvGrpSpPr>
        <p:grpSpPr>
          <a:xfrm>
            <a:off x="8423453" y="4297680"/>
            <a:ext cx="416966" cy="347472"/>
            <a:chOff x="8423453" y="4297680"/>
            <a:chExt cx="416966" cy="347472"/>
          </a:xfrm>
        </p:grpSpPr>
        <p:sp>
          <p:nvSpPr>
            <p:cNvPr id="17576" name="Rounded Rectangle 17575"/>
            <p:cNvSpPr/>
            <p:nvPr/>
          </p:nvSpPr>
          <p:spPr>
            <a:xfrm>
              <a:off x="8423453" y="4297680"/>
              <a:ext cx="416966" cy="34747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158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77" name="Rectangle 17576"/>
            <p:cNvSpPr/>
            <p:nvPr/>
          </p:nvSpPr>
          <p:spPr>
            <a:xfrm>
              <a:off x="8423453" y="4297680"/>
              <a:ext cx="416966" cy="76444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78" name="Oval 17577"/>
            <p:cNvSpPr/>
            <p:nvPr/>
          </p:nvSpPr>
          <p:spPr>
            <a:xfrm>
              <a:off x="8450903" y="4313316"/>
              <a:ext cx="45171" cy="4517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79" name="Rectangle 17578"/>
            <p:cNvSpPr/>
            <p:nvPr/>
          </p:nvSpPr>
          <p:spPr>
            <a:xfrm>
              <a:off x="8515185" y="4327215"/>
              <a:ext cx="175126" cy="1737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80" name="Heart 17579"/>
            <p:cNvSpPr/>
            <p:nvPr/>
          </p:nvSpPr>
          <p:spPr>
            <a:xfrm>
              <a:off x="8453335" y="4412346"/>
              <a:ext cx="48646" cy="43781"/>
            </a:xfrm>
            <a:prstGeom prst="hear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523525" y="4405396"/>
              <a:ext cx="258519" cy="62545"/>
            </a:xfrm>
            <a:custGeom>
              <a:avLst/>
              <a:gdLst/>
              <a:ahLst/>
              <a:cxnLst/>
              <a:rect l="l" t="t" r="r" b="b"/>
              <a:pathLst>
                <a:path w="258519" h="62545">
                  <a:moveTo>
                    <a:pt x="0" y="31273"/>
                  </a:moveTo>
                  <a:lnTo>
                    <a:pt x="58375" y="31273"/>
                  </a:lnTo>
                  <a:lnTo>
                    <a:pt x="79223" y="0"/>
                  </a:lnTo>
                  <a:lnTo>
                    <a:pt x="104241" y="62545"/>
                  </a:lnTo>
                  <a:lnTo>
                    <a:pt x="125090" y="31273"/>
                  </a:lnTo>
                  <a:lnTo>
                    <a:pt x="258519" y="31273"/>
                  </a:lnTo>
                </a:path>
              </a:pathLst>
            </a:custGeom>
            <a:noFill/>
            <a:ln w="9525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81" name="Rectangle 17580"/>
            <p:cNvSpPr/>
            <p:nvPr/>
          </p:nvSpPr>
          <p:spPr>
            <a:xfrm>
              <a:off x="8456810" y="4506163"/>
              <a:ext cx="258519" cy="20848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82" name="Rectangle 17581"/>
            <p:cNvSpPr/>
            <p:nvPr/>
          </p:nvSpPr>
          <p:spPr>
            <a:xfrm>
              <a:off x="8456810" y="4561759"/>
              <a:ext cx="200144" cy="20848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83" name="Oval 17582"/>
            <p:cNvSpPr/>
            <p:nvPr/>
          </p:nvSpPr>
          <p:spPr>
            <a:xfrm>
              <a:off x="8755984" y="4546122"/>
              <a:ext cx="52121" cy="521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4B55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584" name="Connector 17583"/>
            <p:cNvCxnSpPr/>
            <p:nvPr/>
          </p:nvCxnSpPr>
          <p:spPr>
            <a:xfrm flipV="1">
              <a:off x="8782044" y="4555504"/>
              <a:ext cx="0" cy="16679"/>
            </a:xfrm>
            <a:prstGeom prst="line">
              <a:avLst/>
            </a:prstGeom>
            <a:ln w="9525">
              <a:solidFill>
                <a:srgbClr val="4B556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85" name="Connector 17584"/>
            <p:cNvCxnSpPr/>
            <p:nvPr/>
          </p:nvCxnSpPr>
          <p:spPr>
            <a:xfrm>
              <a:off x="8782044" y="4572183"/>
              <a:ext cx="13551" cy="0"/>
            </a:xfrm>
            <a:prstGeom prst="line">
              <a:avLst/>
            </a:prstGeom>
            <a:ln w="9525">
              <a:solidFill>
                <a:srgbClr val="4B556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586" name="Step 8: Clinical documents"/>
          <p:cNvSpPr/>
          <p:nvPr/>
        </p:nvSpPr>
        <p:spPr>
          <a:xfrm>
            <a:off x="4791456" y="4151376"/>
            <a:ext cx="233172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768096" rIns="73152" bIns="36576">
            <a:noAutofit/>
          </a:bodyPr>
          <a:lstStyle/>
          <a:p>
            <a:pPr algn="ctr"/>
            <a:r>
              <a:rPr sz="1100" b="1" i="0">
                <a:solidFill>
                  <a:srgbClr val="003366"/>
                </a:solidFill>
                <a:latin typeface="Arial"/>
              </a:rPr>
              <a:t>Clinical documents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4B5563"/>
                </a:solidFill>
                <a:latin typeface="Arial"/>
              </a:rPr>
              <a:t>Typed and versioned; never auto-interpreted. Demo samples are synthetic.</a:t>
            </a:r>
          </a:p>
        </p:txBody>
      </p:sp>
      <p:sp>
        <p:nvSpPr>
          <p:cNvPr id="17587" name="Step 8 number"/>
          <p:cNvSpPr/>
          <p:nvPr/>
        </p:nvSpPr>
        <p:spPr>
          <a:xfrm>
            <a:off x="4700016" y="4023360"/>
            <a:ext cx="292608" cy="292608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grpSp>
        <p:nvGrpSpPr>
          <p:cNvPr id="37" name="X-ray thumbnail"/>
          <p:cNvGrpSpPr/>
          <p:nvPr/>
        </p:nvGrpSpPr>
        <p:grpSpPr>
          <a:xfrm>
            <a:off x="4981468" y="4242816"/>
            <a:ext cx="329916" cy="402336"/>
            <a:chOff x="4981468" y="4242816"/>
            <a:chExt cx="329916" cy="402336"/>
          </a:xfrm>
        </p:grpSpPr>
        <p:sp>
          <p:nvSpPr>
            <p:cNvPr id="17588" name="Rounded Rectangle 17587"/>
            <p:cNvSpPr/>
            <p:nvPr/>
          </p:nvSpPr>
          <p:spPr>
            <a:xfrm>
              <a:off x="4981468" y="4242816"/>
              <a:ext cx="329916" cy="402336"/>
            </a:xfrm>
            <a:prstGeom prst="roundRect">
              <a:avLst>
                <a:gd name="adj" fmla="val 8000"/>
              </a:avLst>
            </a:prstGeom>
            <a:solidFill>
              <a:srgbClr val="0F2A47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89" name="Rectangle 17588"/>
            <p:cNvSpPr/>
            <p:nvPr/>
          </p:nvSpPr>
          <p:spPr>
            <a:xfrm>
              <a:off x="5136529" y="4295120"/>
              <a:ext cx="19795" cy="305775"/>
            </a:xfrm>
            <a:prstGeom prst="rect">
              <a:avLst/>
            </a:prstGeom>
            <a:solidFill>
              <a:srgbClr val="D6E2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590" name="Connector 17589"/>
            <p:cNvCxnSpPr/>
            <p:nvPr/>
          </p:nvCxnSpPr>
          <p:spPr>
            <a:xfrm flipH="1" flipV="1">
              <a:off x="5040853" y="4299143"/>
              <a:ext cx="89077" cy="12070"/>
            </a:xfrm>
            <a:prstGeom prst="line">
              <a:avLst/>
            </a:prstGeom>
            <a:ln w="9525">
              <a:solidFill>
                <a:srgbClr val="D6E2E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91" name="Connector 17590"/>
            <p:cNvCxnSpPr/>
            <p:nvPr/>
          </p:nvCxnSpPr>
          <p:spPr>
            <a:xfrm flipV="1">
              <a:off x="5162922" y="4299143"/>
              <a:ext cx="89077" cy="12070"/>
            </a:xfrm>
            <a:prstGeom prst="line">
              <a:avLst/>
            </a:prstGeom>
            <a:ln w="9525">
              <a:solidFill>
                <a:srgbClr val="D6E2E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reeform 37"/>
            <p:cNvSpPr/>
            <p:nvPr/>
          </p:nvSpPr>
          <p:spPr>
            <a:xfrm>
              <a:off x="5040853" y="4347423"/>
              <a:ext cx="89077" cy="40234"/>
            </a:xfrm>
            <a:custGeom>
              <a:avLst/>
              <a:gdLst/>
              <a:ahLst/>
              <a:cxnLst/>
              <a:rect l="l" t="t" r="r" b="b"/>
              <a:pathLst>
                <a:path w="89077" h="40234">
                  <a:moveTo>
                    <a:pt x="89077" y="0"/>
                  </a:moveTo>
                  <a:lnTo>
                    <a:pt x="39590" y="12070"/>
                  </a:lnTo>
                  <a:lnTo>
                    <a:pt x="0" y="40234"/>
                  </a:lnTo>
                </a:path>
              </a:pathLst>
            </a:custGeom>
            <a:noFill/>
            <a:ln w="9525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5162922" y="4347423"/>
              <a:ext cx="89077" cy="40234"/>
            </a:xfrm>
            <a:custGeom>
              <a:avLst/>
              <a:gdLst/>
              <a:ahLst/>
              <a:cxnLst/>
              <a:rect l="l" t="t" r="r" b="b"/>
              <a:pathLst>
                <a:path w="89077" h="40234">
                  <a:moveTo>
                    <a:pt x="0" y="0"/>
                  </a:moveTo>
                  <a:lnTo>
                    <a:pt x="49487" y="12070"/>
                  </a:lnTo>
                  <a:lnTo>
                    <a:pt x="89077" y="40234"/>
                  </a:lnTo>
                </a:path>
              </a:pathLst>
            </a:custGeom>
            <a:noFill/>
            <a:ln w="9525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5040853" y="4399727"/>
              <a:ext cx="89077" cy="40234"/>
            </a:xfrm>
            <a:custGeom>
              <a:avLst/>
              <a:gdLst/>
              <a:ahLst/>
              <a:cxnLst/>
              <a:rect l="l" t="t" r="r" b="b"/>
              <a:pathLst>
                <a:path w="89077" h="40234">
                  <a:moveTo>
                    <a:pt x="89077" y="0"/>
                  </a:moveTo>
                  <a:lnTo>
                    <a:pt x="39590" y="12070"/>
                  </a:lnTo>
                  <a:lnTo>
                    <a:pt x="0" y="40234"/>
                  </a:lnTo>
                </a:path>
              </a:pathLst>
            </a:custGeom>
            <a:noFill/>
            <a:ln w="9525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5162922" y="4399727"/>
              <a:ext cx="89077" cy="40234"/>
            </a:xfrm>
            <a:custGeom>
              <a:avLst/>
              <a:gdLst/>
              <a:ahLst/>
              <a:cxnLst/>
              <a:rect l="l" t="t" r="r" b="b"/>
              <a:pathLst>
                <a:path w="89077" h="40234">
                  <a:moveTo>
                    <a:pt x="0" y="0"/>
                  </a:moveTo>
                  <a:lnTo>
                    <a:pt x="49487" y="12070"/>
                  </a:lnTo>
                  <a:lnTo>
                    <a:pt x="89077" y="40234"/>
                  </a:lnTo>
                </a:path>
              </a:pathLst>
            </a:custGeom>
            <a:noFill/>
            <a:ln w="9525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5040853" y="4452031"/>
              <a:ext cx="89077" cy="40233"/>
            </a:xfrm>
            <a:custGeom>
              <a:avLst/>
              <a:gdLst/>
              <a:ahLst/>
              <a:cxnLst/>
              <a:rect l="l" t="t" r="r" b="b"/>
              <a:pathLst>
                <a:path w="89077" h="40233">
                  <a:moveTo>
                    <a:pt x="89077" y="0"/>
                  </a:moveTo>
                  <a:lnTo>
                    <a:pt x="39590" y="12070"/>
                  </a:lnTo>
                  <a:lnTo>
                    <a:pt x="0" y="40233"/>
                  </a:lnTo>
                </a:path>
              </a:pathLst>
            </a:custGeom>
            <a:noFill/>
            <a:ln w="9525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5162922" y="4452031"/>
              <a:ext cx="89077" cy="40233"/>
            </a:xfrm>
            <a:custGeom>
              <a:avLst/>
              <a:gdLst/>
              <a:ahLst/>
              <a:cxnLst/>
              <a:rect l="l" t="t" r="r" b="b"/>
              <a:pathLst>
                <a:path w="89077" h="40233">
                  <a:moveTo>
                    <a:pt x="0" y="0"/>
                  </a:moveTo>
                  <a:lnTo>
                    <a:pt x="49487" y="12070"/>
                  </a:lnTo>
                  <a:lnTo>
                    <a:pt x="89077" y="40233"/>
                  </a:lnTo>
                </a:path>
              </a:pathLst>
            </a:custGeom>
            <a:noFill/>
            <a:ln w="9525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5040853" y="4504334"/>
              <a:ext cx="89077" cy="40234"/>
            </a:xfrm>
            <a:custGeom>
              <a:avLst/>
              <a:gdLst/>
              <a:ahLst/>
              <a:cxnLst/>
              <a:rect l="l" t="t" r="r" b="b"/>
              <a:pathLst>
                <a:path w="89077" h="40234">
                  <a:moveTo>
                    <a:pt x="89077" y="0"/>
                  </a:moveTo>
                  <a:lnTo>
                    <a:pt x="39590" y="12070"/>
                  </a:lnTo>
                  <a:lnTo>
                    <a:pt x="0" y="40234"/>
                  </a:lnTo>
                </a:path>
              </a:pathLst>
            </a:custGeom>
            <a:noFill/>
            <a:ln w="9525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5162922" y="4504334"/>
              <a:ext cx="89077" cy="40234"/>
            </a:xfrm>
            <a:custGeom>
              <a:avLst/>
              <a:gdLst/>
              <a:ahLst/>
              <a:cxnLst/>
              <a:rect l="l" t="t" r="r" b="b"/>
              <a:pathLst>
                <a:path w="89077" h="40234">
                  <a:moveTo>
                    <a:pt x="0" y="0"/>
                  </a:moveTo>
                  <a:lnTo>
                    <a:pt x="49487" y="12070"/>
                  </a:lnTo>
                  <a:lnTo>
                    <a:pt x="89077" y="40234"/>
                  </a:lnTo>
                </a:path>
              </a:pathLst>
            </a:custGeom>
            <a:noFill/>
            <a:ln w="9525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592" name="X-ray caption"/>
          <p:cNvSpPr txBox="1"/>
          <p:nvPr/>
        </p:nvSpPr>
        <p:spPr>
          <a:xfrm>
            <a:off x="4912888" y="4672584"/>
            <a:ext cx="467076" cy="137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 i="0">
                <a:solidFill>
                  <a:srgbClr val="4B5563"/>
                </a:solidFill>
                <a:latin typeface="Arial"/>
              </a:rPr>
              <a:t>X-ray</a:t>
            </a:r>
          </a:p>
        </p:txBody>
      </p:sp>
      <p:grpSp>
        <p:nvGrpSpPr>
          <p:cNvPr id="46" name="ECG strip thumbnail"/>
          <p:cNvGrpSpPr/>
          <p:nvPr/>
        </p:nvGrpSpPr>
        <p:grpSpPr>
          <a:xfrm>
            <a:off x="5457688" y="4242816"/>
            <a:ext cx="523037" cy="402336"/>
            <a:chOff x="5457688" y="4242816"/>
            <a:chExt cx="523037" cy="402336"/>
          </a:xfrm>
        </p:grpSpPr>
        <p:sp>
          <p:nvSpPr>
            <p:cNvPr id="17593" name="Rounded Rectangle 17592"/>
            <p:cNvSpPr/>
            <p:nvPr/>
          </p:nvSpPr>
          <p:spPr>
            <a:xfrm>
              <a:off x="5457688" y="4242816"/>
              <a:ext cx="523037" cy="402336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594" name="Connector 17593"/>
            <p:cNvCxnSpPr/>
            <p:nvPr/>
          </p:nvCxnSpPr>
          <p:spPr>
            <a:xfrm>
              <a:off x="5588447" y="4266956"/>
              <a:ext cx="0" cy="354056"/>
            </a:xfrm>
            <a:prstGeom prst="line">
              <a:avLst/>
            </a:prstGeom>
            <a:ln w="6350">
              <a:solidFill>
                <a:srgbClr val="E2E8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95" name="Connector 17594"/>
            <p:cNvCxnSpPr/>
            <p:nvPr/>
          </p:nvCxnSpPr>
          <p:spPr>
            <a:xfrm>
              <a:off x="5719206" y="4266956"/>
              <a:ext cx="0" cy="354056"/>
            </a:xfrm>
            <a:prstGeom prst="line">
              <a:avLst/>
            </a:prstGeom>
            <a:ln w="6350">
              <a:solidFill>
                <a:srgbClr val="E2E8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96" name="Connector 17595"/>
            <p:cNvCxnSpPr/>
            <p:nvPr/>
          </p:nvCxnSpPr>
          <p:spPr>
            <a:xfrm>
              <a:off x="5849965" y="4266956"/>
              <a:ext cx="0" cy="354056"/>
            </a:xfrm>
            <a:prstGeom prst="line">
              <a:avLst/>
            </a:prstGeom>
            <a:ln w="6350">
              <a:solidFill>
                <a:srgbClr val="E2E8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97" name="Connector 17596"/>
            <p:cNvCxnSpPr/>
            <p:nvPr/>
          </p:nvCxnSpPr>
          <p:spPr>
            <a:xfrm>
              <a:off x="5478609" y="4375587"/>
              <a:ext cx="481194" cy="0"/>
            </a:xfrm>
            <a:prstGeom prst="line">
              <a:avLst/>
            </a:prstGeom>
            <a:ln w="6350">
              <a:solidFill>
                <a:srgbClr val="E2E8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98" name="Connector 17597"/>
            <p:cNvCxnSpPr/>
            <p:nvPr/>
          </p:nvCxnSpPr>
          <p:spPr>
            <a:xfrm>
              <a:off x="5478609" y="4508358"/>
              <a:ext cx="481194" cy="0"/>
            </a:xfrm>
            <a:prstGeom prst="line">
              <a:avLst/>
            </a:prstGeom>
            <a:ln w="6350">
              <a:solidFill>
                <a:srgbClr val="E2E8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Freeform 46"/>
            <p:cNvSpPr/>
            <p:nvPr/>
          </p:nvSpPr>
          <p:spPr>
            <a:xfrm>
              <a:off x="5478609" y="4315236"/>
              <a:ext cx="481194" cy="257496"/>
            </a:xfrm>
            <a:custGeom>
              <a:avLst/>
              <a:gdLst/>
              <a:ahLst/>
              <a:cxnLst/>
              <a:rect l="l" t="t" r="r" b="b"/>
              <a:pathLst>
                <a:path w="481194" h="257496">
                  <a:moveTo>
                    <a:pt x="0" y="160935"/>
                  </a:moveTo>
                  <a:lnTo>
                    <a:pt x="57534" y="160935"/>
                  </a:lnTo>
                  <a:lnTo>
                    <a:pt x="78456" y="128748"/>
                  </a:lnTo>
                  <a:lnTo>
                    <a:pt x="99377" y="160935"/>
                  </a:lnTo>
                  <a:lnTo>
                    <a:pt x="130760" y="160935"/>
                  </a:lnTo>
                  <a:lnTo>
                    <a:pt x="146451" y="193122"/>
                  </a:lnTo>
                  <a:lnTo>
                    <a:pt x="167372" y="0"/>
                  </a:lnTo>
                  <a:lnTo>
                    <a:pt x="188294" y="257496"/>
                  </a:lnTo>
                  <a:lnTo>
                    <a:pt x="209215" y="160935"/>
                  </a:lnTo>
                  <a:lnTo>
                    <a:pt x="261519" y="160935"/>
                  </a:lnTo>
                  <a:lnTo>
                    <a:pt x="287671" y="108631"/>
                  </a:lnTo>
                  <a:lnTo>
                    <a:pt x="319053" y="160935"/>
                  </a:lnTo>
                  <a:lnTo>
                    <a:pt x="376587" y="160935"/>
                  </a:lnTo>
                  <a:lnTo>
                    <a:pt x="392278" y="193122"/>
                  </a:lnTo>
                  <a:lnTo>
                    <a:pt x="413199" y="8047"/>
                  </a:lnTo>
                  <a:lnTo>
                    <a:pt x="434121" y="249449"/>
                  </a:lnTo>
                  <a:lnTo>
                    <a:pt x="455042" y="160935"/>
                  </a:lnTo>
                  <a:lnTo>
                    <a:pt x="481194" y="160935"/>
                  </a:lnTo>
                </a:path>
              </a:pathLst>
            </a:custGeom>
            <a:noFill/>
            <a:ln w="14528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599" name="ECG caption"/>
          <p:cNvSpPr txBox="1"/>
          <p:nvPr/>
        </p:nvSpPr>
        <p:spPr>
          <a:xfrm>
            <a:off x="5389108" y="4672584"/>
            <a:ext cx="660197" cy="137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 i="0">
                <a:solidFill>
                  <a:srgbClr val="4B5563"/>
                </a:solidFill>
                <a:latin typeface="Arial"/>
              </a:rPr>
              <a:t>ECG</a:t>
            </a:r>
          </a:p>
        </p:txBody>
      </p:sp>
      <p:grpSp>
        <p:nvGrpSpPr>
          <p:cNvPr id="48" name="Ultrasound thumbnail"/>
          <p:cNvGrpSpPr/>
          <p:nvPr/>
        </p:nvGrpSpPr>
        <p:grpSpPr>
          <a:xfrm>
            <a:off x="6127029" y="4242816"/>
            <a:ext cx="329916" cy="402336"/>
            <a:chOff x="6127029" y="4242816"/>
            <a:chExt cx="329916" cy="402336"/>
          </a:xfrm>
        </p:grpSpPr>
        <p:sp>
          <p:nvSpPr>
            <p:cNvPr id="17600" name="Rounded Rectangle 17599"/>
            <p:cNvSpPr/>
            <p:nvPr/>
          </p:nvSpPr>
          <p:spPr>
            <a:xfrm>
              <a:off x="6127029" y="4242816"/>
              <a:ext cx="329916" cy="402336"/>
            </a:xfrm>
            <a:prstGeom prst="roundRect">
              <a:avLst>
                <a:gd name="adj" fmla="val 8000"/>
              </a:avLst>
            </a:prstGeom>
            <a:solidFill>
              <a:srgbClr val="0F2A47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6134214" y="4291096"/>
              <a:ext cx="315545" cy="297729"/>
            </a:xfrm>
            <a:custGeom>
              <a:avLst/>
              <a:gdLst/>
              <a:ahLst/>
              <a:cxnLst/>
              <a:rect l="l" t="t" r="r" b="b"/>
              <a:pathLst>
                <a:path w="315545" h="297729">
                  <a:moveTo>
                    <a:pt x="157772" y="0"/>
                  </a:moveTo>
                  <a:lnTo>
                    <a:pt x="315545" y="252489"/>
                  </a:lnTo>
                  <a:lnTo>
                    <a:pt x="291393" y="266060"/>
                  </a:lnTo>
                  <a:lnTo>
                    <a:pt x="266084" y="277329"/>
                  </a:lnTo>
                  <a:lnTo>
                    <a:pt x="239838" y="286195"/>
                  </a:lnTo>
                  <a:lnTo>
                    <a:pt x="212880" y="292584"/>
                  </a:lnTo>
                  <a:lnTo>
                    <a:pt x="185446" y="296440"/>
                  </a:lnTo>
                  <a:lnTo>
                    <a:pt x="157772" y="297729"/>
                  </a:lnTo>
                  <a:lnTo>
                    <a:pt x="130099" y="296440"/>
                  </a:lnTo>
                  <a:lnTo>
                    <a:pt x="102664" y="292584"/>
                  </a:lnTo>
                  <a:lnTo>
                    <a:pt x="75707" y="286195"/>
                  </a:lnTo>
                  <a:lnTo>
                    <a:pt x="49461" y="277329"/>
                  </a:lnTo>
                  <a:lnTo>
                    <a:pt x="24152" y="266060"/>
                  </a:lnTo>
                  <a:lnTo>
                    <a:pt x="0" y="252489"/>
                  </a:lnTo>
                  <a:close/>
                </a:path>
              </a:pathLst>
            </a:custGeom>
            <a:solidFill>
              <a:srgbClr val="9FB4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01" name="Oval 17600"/>
            <p:cNvSpPr/>
            <p:nvPr/>
          </p:nvSpPr>
          <p:spPr>
            <a:xfrm>
              <a:off x="6249097" y="4456054"/>
              <a:ext cx="85778" cy="60350"/>
            </a:xfrm>
            <a:prstGeom prst="ellipse">
              <a:avLst/>
            </a:prstGeom>
            <a:solidFill>
              <a:srgbClr val="0F2A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602" name="Ultrasound caption"/>
          <p:cNvSpPr txBox="1"/>
          <p:nvPr/>
        </p:nvSpPr>
        <p:spPr>
          <a:xfrm>
            <a:off x="6058449" y="4672584"/>
            <a:ext cx="467076" cy="137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 i="0">
                <a:solidFill>
                  <a:srgbClr val="4B5563"/>
                </a:solidFill>
                <a:latin typeface="Arial"/>
              </a:rPr>
              <a:t>Ultrasound</a:t>
            </a:r>
          </a:p>
        </p:txBody>
      </p:sp>
      <p:grpSp>
        <p:nvGrpSpPr>
          <p:cNvPr id="50" name="Laboratory report thumbnail"/>
          <p:cNvGrpSpPr/>
          <p:nvPr/>
        </p:nvGrpSpPr>
        <p:grpSpPr>
          <a:xfrm>
            <a:off x="6603248" y="4242816"/>
            <a:ext cx="329916" cy="402336"/>
            <a:chOff x="6603248" y="4242816"/>
            <a:chExt cx="329916" cy="402336"/>
          </a:xfrm>
        </p:grpSpPr>
        <p:sp>
          <p:nvSpPr>
            <p:cNvPr id="17603" name="Folded Corner 17602"/>
            <p:cNvSpPr/>
            <p:nvPr/>
          </p:nvSpPr>
          <p:spPr>
            <a:xfrm>
              <a:off x="6603248" y="4242816"/>
              <a:ext cx="329916" cy="402336"/>
            </a:xfrm>
            <a:prstGeom prst="foldedCorner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04" name="Rectangle 17603"/>
            <p:cNvSpPr/>
            <p:nvPr/>
          </p:nvSpPr>
          <p:spPr>
            <a:xfrm>
              <a:off x="6642838" y="4279026"/>
              <a:ext cx="184753" cy="3218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05" name="Rectangle 17604"/>
            <p:cNvSpPr/>
            <p:nvPr/>
          </p:nvSpPr>
          <p:spPr>
            <a:xfrm>
              <a:off x="6642838" y="4343400"/>
              <a:ext cx="244137" cy="1810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06" name="Rectangle 17605"/>
            <p:cNvSpPr/>
            <p:nvPr/>
          </p:nvSpPr>
          <p:spPr>
            <a:xfrm>
              <a:off x="6642838" y="4379610"/>
              <a:ext cx="197949" cy="1810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07" name="Rectangle 17606"/>
            <p:cNvSpPr/>
            <p:nvPr/>
          </p:nvSpPr>
          <p:spPr>
            <a:xfrm>
              <a:off x="6642838" y="4415820"/>
              <a:ext cx="230941" cy="1810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08" name="Rectangle 17607"/>
            <p:cNvSpPr/>
            <p:nvPr/>
          </p:nvSpPr>
          <p:spPr>
            <a:xfrm>
              <a:off x="6649436" y="4484218"/>
              <a:ext cx="29692" cy="7242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09" name="Rectangle 17608"/>
            <p:cNvSpPr/>
            <p:nvPr/>
          </p:nvSpPr>
          <p:spPr>
            <a:xfrm>
              <a:off x="6692325" y="4452031"/>
              <a:ext cx="29692" cy="10460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10" name="Rectangle 17609"/>
            <p:cNvSpPr/>
            <p:nvPr/>
          </p:nvSpPr>
          <p:spPr>
            <a:xfrm>
              <a:off x="6735214" y="4500311"/>
              <a:ext cx="29692" cy="56327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611" name="Connector 17610"/>
            <p:cNvCxnSpPr/>
            <p:nvPr/>
          </p:nvCxnSpPr>
          <p:spPr>
            <a:xfrm>
              <a:off x="6642838" y="4556638"/>
              <a:ext cx="145163" cy="0"/>
            </a:xfrm>
            <a:prstGeom prst="line">
              <a:avLst/>
            </a:prstGeom>
            <a:ln w="6350">
              <a:solidFill>
                <a:srgbClr val="4B556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612" name="Lab report caption"/>
          <p:cNvSpPr txBox="1"/>
          <p:nvPr/>
        </p:nvSpPr>
        <p:spPr>
          <a:xfrm>
            <a:off x="6534668" y="4672584"/>
            <a:ext cx="467076" cy="137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 i="0">
                <a:solidFill>
                  <a:srgbClr val="4B5563"/>
                </a:solidFill>
                <a:latin typeface="Arial"/>
              </a:rPr>
              <a:t>Lab report</a:t>
            </a:r>
          </a:p>
        </p:txBody>
      </p:sp>
      <p:sp>
        <p:nvSpPr>
          <p:cNvPr id="17613" name="Step 9: Clinical decision"/>
          <p:cNvSpPr/>
          <p:nvPr/>
        </p:nvSpPr>
        <p:spPr>
          <a:xfrm>
            <a:off x="2784348" y="4151376"/>
            <a:ext cx="164592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585216" rIns="73152" bIns="36576">
            <a:noAutofit/>
          </a:bodyPr>
          <a:lstStyle/>
          <a:p>
            <a:pPr algn="ctr"/>
            <a:r>
              <a:rPr sz="1100" b="1" i="0">
                <a:solidFill>
                  <a:srgbClr val="003366"/>
                </a:solidFill>
                <a:latin typeface="Arial"/>
              </a:rPr>
              <a:t>Clinical decision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4B5563"/>
                </a:solidFill>
                <a:latin typeface="Arial"/>
              </a:rPr>
              <a:t>The doctor assesses; a prescription stays a draft until explicitly authorised.</a:t>
            </a:r>
          </a:p>
        </p:txBody>
      </p:sp>
      <p:sp>
        <p:nvSpPr>
          <p:cNvPr id="17614" name="Step 9 number"/>
          <p:cNvSpPr/>
          <p:nvPr/>
        </p:nvSpPr>
        <p:spPr>
          <a:xfrm>
            <a:off x="2692908" y="4023360"/>
            <a:ext cx="292608" cy="292608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grpSp>
        <p:nvGrpSpPr>
          <p:cNvPr id="51" name="Doctor illustration"/>
          <p:cNvGrpSpPr/>
          <p:nvPr/>
        </p:nvGrpSpPr>
        <p:grpSpPr>
          <a:xfrm>
            <a:off x="3018069" y="4280306"/>
            <a:ext cx="322600" cy="364846"/>
            <a:chOff x="3018069" y="4280306"/>
            <a:chExt cx="322600" cy="364846"/>
          </a:xfrm>
        </p:grpSpPr>
        <p:sp>
          <p:nvSpPr>
            <p:cNvPr id="52" name="Freeform 51"/>
            <p:cNvSpPr/>
            <p:nvPr/>
          </p:nvSpPr>
          <p:spPr>
            <a:xfrm>
              <a:off x="3018069" y="4462729"/>
              <a:ext cx="322600" cy="182423"/>
            </a:xfrm>
            <a:custGeom>
              <a:avLst/>
              <a:gdLst/>
              <a:ahLst/>
              <a:cxnLst/>
              <a:rect l="l" t="t" r="r" b="b"/>
              <a:pathLst>
                <a:path w="322600" h="182423">
                  <a:moveTo>
                    <a:pt x="0" y="182423"/>
                  </a:moveTo>
                  <a:lnTo>
                    <a:pt x="7681" y="105613"/>
                  </a:lnTo>
                  <a:lnTo>
                    <a:pt x="30723" y="53767"/>
                  </a:lnTo>
                  <a:lnTo>
                    <a:pt x="69128" y="19203"/>
                  </a:lnTo>
                  <a:lnTo>
                    <a:pt x="122895" y="0"/>
                  </a:lnTo>
                  <a:lnTo>
                    <a:pt x="199705" y="0"/>
                  </a:lnTo>
                  <a:lnTo>
                    <a:pt x="253471" y="19203"/>
                  </a:lnTo>
                  <a:lnTo>
                    <a:pt x="291876" y="53767"/>
                  </a:lnTo>
                  <a:lnTo>
                    <a:pt x="314919" y="105613"/>
                  </a:lnTo>
                  <a:lnTo>
                    <a:pt x="322600" y="182423"/>
                  </a:lnTo>
                  <a:close/>
                </a:path>
              </a:pathLst>
            </a:custGeom>
            <a:solidFill>
              <a:srgbClr val="FFFFFF"/>
            </a:solidFill>
            <a:ln w="12801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3142884" y="4464649"/>
              <a:ext cx="72969" cy="69129"/>
            </a:xfrm>
            <a:custGeom>
              <a:avLst/>
              <a:gdLst/>
              <a:ahLst/>
              <a:cxnLst/>
              <a:rect l="l" t="t" r="r" b="b"/>
              <a:pathLst>
                <a:path w="72969" h="69129">
                  <a:moveTo>
                    <a:pt x="0" y="0"/>
                  </a:moveTo>
                  <a:lnTo>
                    <a:pt x="72969" y="0"/>
                  </a:lnTo>
                  <a:lnTo>
                    <a:pt x="36485" y="69129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615" name="Connector 17614"/>
            <p:cNvCxnSpPr/>
            <p:nvPr/>
          </p:nvCxnSpPr>
          <p:spPr>
            <a:xfrm>
              <a:off x="3140964" y="4464649"/>
              <a:ext cx="26883" cy="126736"/>
            </a:xfrm>
            <a:prstGeom prst="line">
              <a:avLst/>
            </a:prstGeom>
            <a:ln w="7680">
              <a:solidFill>
                <a:srgbClr val="003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16" name="Connector 17615"/>
            <p:cNvCxnSpPr/>
            <p:nvPr/>
          </p:nvCxnSpPr>
          <p:spPr>
            <a:xfrm flipH="1">
              <a:off x="3190890" y="4464649"/>
              <a:ext cx="26884" cy="126736"/>
            </a:xfrm>
            <a:prstGeom prst="line">
              <a:avLst/>
            </a:prstGeom>
            <a:ln w="7680">
              <a:solidFill>
                <a:srgbClr val="003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Freeform 53"/>
            <p:cNvSpPr/>
            <p:nvPr/>
          </p:nvSpPr>
          <p:spPr>
            <a:xfrm>
              <a:off x="3096798" y="4472330"/>
              <a:ext cx="32645" cy="96012"/>
            </a:xfrm>
            <a:custGeom>
              <a:avLst/>
              <a:gdLst/>
              <a:ahLst/>
              <a:cxnLst/>
              <a:rect l="l" t="t" r="r" b="b"/>
              <a:pathLst>
                <a:path w="32645" h="96012">
                  <a:moveTo>
                    <a:pt x="32645" y="0"/>
                  </a:moveTo>
                  <a:lnTo>
                    <a:pt x="5761" y="34565"/>
                  </a:lnTo>
                  <a:lnTo>
                    <a:pt x="0" y="72970"/>
                  </a:lnTo>
                  <a:lnTo>
                    <a:pt x="9602" y="96012"/>
                  </a:lnTo>
                </a:path>
              </a:pathLst>
            </a:custGeom>
            <a:noFill/>
            <a:ln w="12801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17" name="Oval 17616"/>
            <p:cNvSpPr/>
            <p:nvPr/>
          </p:nvSpPr>
          <p:spPr>
            <a:xfrm>
              <a:off x="3087197" y="4558741"/>
              <a:ext cx="42245" cy="42245"/>
            </a:xfrm>
            <a:prstGeom prst="ellipse">
              <a:avLst/>
            </a:prstGeom>
            <a:solidFill>
              <a:srgbClr val="0070C0"/>
            </a:solidFill>
            <a:ln w="7680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18" name="Cross 17617"/>
            <p:cNvSpPr/>
            <p:nvPr/>
          </p:nvSpPr>
          <p:spPr>
            <a:xfrm>
              <a:off x="3238896" y="4547220"/>
              <a:ext cx="42245" cy="42245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19" name="Oval 17618"/>
            <p:cNvSpPr/>
            <p:nvPr/>
          </p:nvSpPr>
          <p:spPr>
            <a:xfrm>
              <a:off x="3110240" y="4280306"/>
              <a:ext cx="138257" cy="157460"/>
            </a:xfrm>
            <a:prstGeom prst="ellipse">
              <a:avLst/>
            </a:prstGeom>
            <a:solidFill>
              <a:srgbClr val="FFFFFF"/>
            </a:solidFill>
            <a:ln w="12801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Prescription draft illustration"/>
          <p:cNvGrpSpPr/>
          <p:nvPr/>
        </p:nvGrpSpPr>
        <p:grpSpPr>
          <a:xfrm>
            <a:off x="3426257" y="4270248"/>
            <a:ext cx="299923" cy="365760"/>
            <a:chOff x="3426257" y="4270248"/>
            <a:chExt cx="299923" cy="365760"/>
          </a:xfrm>
        </p:grpSpPr>
        <p:sp>
          <p:nvSpPr>
            <p:cNvPr id="17620" name="Rounded Rectangle 17619"/>
            <p:cNvSpPr/>
            <p:nvPr/>
          </p:nvSpPr>
          <p:spPr>
            <a:xfrm>
              <a:off x="3426257" y="4270248"/>
              <a:ext cx="299923" cy="36576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2192">
              <a:solidFill>
                <a:srgbClr val="D9770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21" name="TextBox 17620"/>
            <p:cNvSpPr txBox="1"/>
            <p:nvPr/>
          </p:nvSpPr>
          <p:spPr>
            <a:xfrm>
              <a:off x="3450251" y="4277563"/>
              <a:ext cx="185952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800" b="1" i="1">
                  <a:solidFill>
                    <a:srgbClr val="003366"/>
                  </a:solidFill>
                  <a:latin typeface="Times New Roman"/>
                </a:rPr>
                <a:t>Rx</a:t>
              </a:r>
            </a:p>
          </p:txBody>
        </p:sp>
        <p:sp>
          <p:nvSpPr>
            <p:cNvPr id="17622" name="Rectangle 17621"/>
            <p:cNvSpPr/>
            <p:nvPr/>
          </p:nvSpPr>
          <p:spPr>
            <a:xfrm>
              <a:off x="3462248" y="4423867"/>
              <a:ext cx="215945" cy="16459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23" name="Rectangle 17622"/>
            <p:cNvSpPr/>
            <p:nvPr/>
          </p:nvSpPr>
          <p:spPr>
            <a:xfrm>
              <a:off x="3462248" y="4464101"/>
              <a:ext cx="179954" cy="16459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24" name="Rectangle 17623"/>
            <p:cNvSpPr/>
            <p:nvPr/>
          </p:nvSpPr>
          <p:spPr>
            <a:xfrm>
              <a:off x="3462248" y="4504334"/>
              <a:ext cx="197949" cy="16459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25" name="Draft tag"/>
            <p:cNvSpPr/>
            <p:nvPr/>
          </p:nvSpPr>
          <p:spPr>
            <a:xfrm>
              <a:off x="3447251" y="4540910"/>
              <a:ext cx="257934" cy="84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 w="9525">
              <a:solidFill>
                <a:srgbClr val="D9770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 lIns="0" tIns="0" rIns="0" bIns="0">
              <a:noAutofit/>
            </a:bodyPr>
            <a:lstStyle/>
            <a:p>
              <a:pPr algn="ctr"/>
              <a:r>
                <a:rPr sz="500" b="1" i="0">
                  <a:solidFill>
                    <a:srgbClr val="B45309"/>
                  </a:solidFill>
                  <a:latin typeface="Arial"/>
                </a:rPr>
                <a:t>DRAFT</a:t>
              </a:r>
            </a:p>
          </p:txBody>
        </p:sp>
      </p:grpSp>
      <p:cxnSp>
        <p:nvCxnSpPr>
          <p:cNvPr id="17626" name="Connector 17625"/>
          <p:cNvCxnSpPr/>
          <p:nvPr/>
        </p:nvCxnSpPr>
        <p:spPr>
          <a:xfrm>
            <a:off x="3753612" y="4453128"/>
            <a:ext cx="146304" cy="0"/>
          </a:xfrm>
          <a:prstGeom prst="line">
            <a:avLst/>
          </a:prstGeom>
          <a:ln w="15875">
            <a:solidFill>
              <a:srgbClr val="0070C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Prescription authorised illustration"/>
          <p:cNvGrpSpPr/>
          <p:nvPr/>
        </p:nvGrpSpPr>
        <p:grpSpPr>
          <a:xfrm>
            <a:off x="3927348" y="4270248"/>
            <a:ext cx="302117" cy="365760"/>
            <a:chOff x="3927348" y="4270248"/>
            <a:chExt cx="302117" cy="365760"/>
          </a:xfrm>
        </p:grpSpPr>
        <p:sp>
          <p:nvSpPr>
            <p:cNvPr id="17627" name="Rounded Rectangle 17626"/>
            <p:cNvSpPr/>
            <p:nvPr/>
          </p:nvSpPr>
          <p:spPr>
            <a:xfrm>
              <a:off x="3927348" y="4270248"/>
              <a:ext cx="299923" cy="36576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219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28" name="TextBox 17627"/>
            <p:cNvSpPr txBox="1"/>
            <p:nvPr/>
          </p:nvSpPr>
          <p:spPr>
            <a:xfrm>
              <a:off x="3951342" y="4277563"/>
              <a:ext cx="185952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800" b="1" i="1">
                  <a:solidFill>
                    <a:srgbClr val="003366"/>
                  </a:solidFill>
                  <a:latin typeface="Times New Roman"/>
                </a:rPr>
                <a:t>Rx</a:t>
              </a:r>
            </a:p>
          </p:txBody>
        </p:sp>
        <p:sp>
          <p:nvSpPr>
            <p:cNvPr id="17629" name="Rectangle 17628"/>
            <p:cNvSpPr/>
            <p:nvPr/>
          </p:nvSpPr>
          <p:spPr>
            <a:xfrm>
              <a:off x="3963339" y="4423867"/>
              <a:ext cx="215945" cy="16459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30" name="Rectangle 17629"/>
            <p:cNvSpPr/>
            <p:nvPr/>
          </p:nvSpPr>
          <p:spPr>
            <a:xfrm>
              <a:off x="3963339" y="4464101"/>
              <a:ext cx="179954" cy="16459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31" name="Rectangle 17630"/>
            <p:cNvSpPr/>
            <p:nvPr/>
          </p:nvSpPr>
          <p:spPr>
            <a:xfrm>
              <a:off x="3963339" y="4504334"/>
              <a:ext cx="197949" cy="16459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Freeform 56"/>
            <p:cNvSpPr/>
            <p:nvPr/>
          </p:nvSpPr>
          <p:spPr>
            <a:xfrm>
              <a:off x="3963339" y="4555541"/>
              <a:ext cx="119969" cy="36576"/>
            </a:xfrm>
            <a:custGeom>
              <a:avLst/>
              <a:gdLst/>
              <a:ahLst/>
              <a:cxnLst/>
              <a:rect l="l" t="t" r="r" b="b"/>
              <a:pathLst>
                <a:path w="119969" h="36576">
                  <a:moveTo>
                    <a:pt x="0" y="29261"/>
                  </a:moveTo>
                  <a:lnTo>
                    <a:pt x="23994" y="0"/>
                  </a:lnTo>
                  <a:lnTo>
                    <a:pt x="41989" y="36576"/>
                  </a:lnTo>
                  <a:lnTo>
                    <a:pt x="62984" y="3657"/>
                  </a:lnTo>
                  <a:lnTo>
                    <a:pt x="83978" y="32918"/>
                  </a:lnTo>
                  <a:lnTo>
                    <a:pt x="119969" y="14630"/>
                  </a:lnTo>
                </a:path>
              </a:pathLst>
            </a:custGeom>
            <a:noFill/>
            <a:ln w="9753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632" name="Connector 17631"/>
            <p:cNvCxnSpPr/>
            <p:nvPr/>
          </p:nvCxnSpPr>
          <p:spPr>
            <a:xfrm>
              <a:off x="3957340" y="4603090"/>
              <a:ext cx="155960" cy="0"/>
            </a:xfrm>
            <a:prstGeom prst="line">
              <a:avLst/>
            </a:prstGeom>
            <a:ln w="6350">
              <a:solidFill>
                <a:srgbClr val="4B556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Badge ok"/>
            <p:cNvGrpSpPr/>
            <p:nvPr/>
          </p:nvGrpSpPr>
          <p:grpSpPr>
            <a:xfrm>
              <a:off x="4105107" y="4507992"/>
              <a:ext cx="124358" cy="124358"/>
              <a:chOff x="4105107" y="4507992"/>
              <a:chExt cx="124358" cy="124358"/>
            </a:xfrm>
          </p:grpSpPr>
          <p:sp>
            <p:nvSpPr>
              <p:cNvPr id="17633" name="Oval 17632"/>
              <p:cNvSpPr/>
              <p:nvPr/>
            </p:nvSpPr>
            <p:spPr>
              <a:xfrm>
                <a:off x="4105107" y="4507992"/>
                <a:ext cx="124358" cy="124358"/>
              </a:xfrm>
              <a:prstGeom prst="ellipse">
                <a:avLst/>
              </a:prstGeom>
              <a:solidFill>
                <a:srgbClr val="16A34A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Freeform 58"/>
              <p:cNvSpPr/>
              <p:nvPr/>
            </p:nvSpPr>
            <p:spPr>
              <a:xfrm>
                <a:off x="4137441" y="4549030"/>
                <a:ext cx="60935" cy="46013"/>
              </a:xfrm>
              <a:custGeom>
                <a:avLst/>
                <a:gdLst/>
                <a:ahLst/>
                <a:cxnLst/>
                <a:rect l="l" t="t" r="r" b="b"/>
                <a:pathLst>
                  <a:path w="60935" h="46013">
                    <a:moveTo>
                      <a:pt x="0" y="24872"/>
                    </a:moveTo>
                    <a:lnTo>
                      <a:pt x="21140" y="46013"/>
                    </a:lnTo>
                    <a:lnTo>
                      <a:pt x="60935" y="0"/>
                    </a:lnTo>
                  </a:path>
                </a:pathLst>
              </a:custGeom>
              <a:noFill/>
              <a:ln w="16408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17634" name="Step 10: Shared visibility"/>
          <p:cNvSpPr/>
          <p:nvPr/>
        </p:nvSpPr>
        <p:spPr>
          <a:xfrm>
            <a:off x="777240" y="4151376"/>
            <a:ext cx="164592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585216" rIns="73152" bIns="36576">
            <a:noAutofit/>
          </a:bodyPr>
          <a:lstStyle/>
          <a:p>
            <a:pPr algn="ctr"/>
            <a:r>
              <a:rPr sz="1100" b="1" i="0">
                <a:solidFill>
                  <a:srgbClr val="003366"/>
                </a:solidFill>
                <a:latin typeface="Arial"/>
              </a:rPr>
              <a:t>Shared visibility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4B5563"/>
                </a:solidFill>
                <a:latin typeface="Arial"/>
              </a:rPr>
              <a:t>Patient: authorised items · Doctor: full encounter · Management: status only.</a:t>
            </a:r>
          </a:p>
        </p:txBody>
      </p:sp>
      <p:sp>
        <p:nvSpPr>
          <p:cNvPr id="17635" name="Step 10 number"/>
          <p:cNvSpPr/>
          <p:nvPr/>
        </p:nvSpPr>
        <p:spPr>
          <a:xfrm>
            <a:off x="685800" y="4023360"/>
            <a:ext cx="292608" cy="292608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grpSp>
        <p:nvGrpSpPr>
          <p:cNvPr id="60" name="Patient illustration"/>
          <p:cNvGrpSpPr/>
          <p:nvPr/>
        </p:nvGrpSpPr>
        <p:grpSpPr>
          <a:xfrm>
            <a:off x="996239" y="4279392"/>
            <a:ext cx="307238" cy="347472"/>
            <a:chOff x="996239" y="4279392"/>
            <a:chExt cx="307238" cy="347472"/>
          </a:xfrm>
        </p:grpSpPr>
        <p:sp>
          <p:nvSpPr>
            <p:cNvPr id="61" name="Freeform 60"/>
            <p:cNvSpPr/>
            <p:nvPr/>
          </p:nvSpPr>
          <p:spPr>
            <a:xfrm>
              <a:off x="996239" y="4453128"/>
              <a:ext cx="307238" cy="173736"/>
            </a:xfrm>
            <a:custGeom>
              <a:avLst/>
              <a:gdLst/>
              <a:ahLst/>
              <a:cxnLst/>
              <a:rect l="l" t="t" r="r" b="b"/>
              <a:pathLst>
                <a:path w="307238" h="173736">
                  <a:moveTo>
                    <a:pt x="0" y="173736"/>
                  </a:moveTo>
                  <a:lnTo>
                    <a:pt x="7315" y="100584"/>
                  </a:lnTo>
                  <a:lnTo>
                    <a:pt x="29261" y="51206"/>
                  </a:lnTo>
                  <a:lnTo>
                    <a:pt x="65837" y="18288"/>
                  </a:lnTo>
                  <a:lnTo>
                    <a:pt x="117043" y="0"/>
                  </a:lnTo>
                  <a:lnTo>
                    <a:pt x="190195" y="0"/>
                  </a:lnTo>
                  <a:lnTo>
                    <a:pt x="241401" y="18288"/>
                  </a:lnTo>
                  <a:lnTo>
                    <a:pt x="277977" y="51206"/>
                  </a:lnTo>
                  <a:lnTo>
                    <a:pt x="299923" y="100584"/>
                  </a:lnTo>
                  <a:lnTo>
                    <a:pt x="307238" y="173736"/>
                  </a:lnTo>
                  <a:close/>
                </a:path>
              </a:pathLst>
            </a:custGeom>
            <a:solidFill>
              <a:srgbClr val="0070C0"/>
            </a:solidFill>
            <a:ln w="1219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36" name="Heart 17635"/>
            <p:cNvSpPr/>
            <p:nvPr/>
          </p:nvSpPr>
          <p:spPr>
            <a:xfrm>
              <a:off x="1109624" y="4502506"/>
              <a:ext cx="80467" cy="72420"/>
            </a:xfrm>
            <a:prstGeom prst="hear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37" name="Oval 17636"/>
            <p:cNvSpPr/>
            <p:nvPr/>
          </p:nvSpPr>
          <p:spPr>
            <a:xfrm>
              <a:off x="1084021" y="4279392"/>
              <a:ext cx="131674" cy="149962"/>
            </a:xfrm>
            <a:prstGeom prst="ellipse">
              <a:avLst/>
            </a:prstGeom>
            <a:solidFill>
              <a:srgbClr val="FFFFFF"/>
            </a:solidFill>
            <a:ln w="1219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" name="Doctor illustration"/>
          <p:cNvGrpSpPr/>
          <p:nvPr/>
        </p:nvGrpSpPr>
        <p:grpSpPr>
          <a:xfrm>
            <a:off x="1435151" y="4279392"/>
            <a:ext cx="307238" cy="347472"/>
            <a:chOff x="1435151" y="4279392"/>
            <a:chExt cx="307238" cy="347472"/>
          </a:xfrm>
        </p:grpSpPr>
        <p:sp>
          <p:nvSpPr>
            <p:cNvPr id="63" name="Freeform 62"/>
            <p:cNvSpPr/>
            <p:nvPr/>
          </p:nvSpPr>
          <p:spPr>
            <a:xfrm>
              <a:off x="1435151" y="4453128"/>
              <a:ext cx="307238" cy="173736"/>
            </a:xfrm>
            <a:custGeom>
              <a:avLst/>
              <a:gdLst/>
              <a:ahLst/>
              <a:cxnLst/>
              <a:rect l="l" t="t" r="r" b="b"/>
              <a:pathLst>
                <a:path w="307238" h="173736">
                  <a:moveTo>
                    <a:pt x="0" y="173736"/>
                  </a:moveTo>
                  <a:lnTo>
                    <a:pt x="7315" y="100584"/>
                  </a:lnTo>
                  <a:lnTo>
                    <a:pt x="29261" y="51206"/>
                  </a:lnTo>
                  <a:lnTo>
                    <a:pt x="65837" y="18288"/>
                  </a:lnTo>
                  <a:lnTo>
                    <a:pt x="117043" y="0"/>
                  </a:lnTo>
                  <a:lnTo>
                    <a:pt x="190195" y="0"/>
                  </a:lnTo>
                  <a:lnTo>
                    <a:pt x="241401" y="18288"/>
                  </a:lnTo>
                  <a:lnTo>
                    <a:pt x="277977" y="51206"/>
                  </a:lnTo>
                  <a:lnTo>
                    <a:pt x="299923" y="100584"/>
                  </a:lnTo>
                  <a:lnTo>
                    <a:pt x="307238" y="173736"/>
                  </a:lnTo>
                  <a:close/>
                </a:path>
              </a:pathLst>
            </a:custGeom>
            <a:solidFill>
              <a:srgbClr val="FFFFFF"/>
            </a:solidFill>
            <a:ln w="1219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1554023" y="4454957"/>
              <a:ext cx="69494" cy="65837"/>
            </a:xfrm>
            <a:custGeom>
              <a:avLst/>
              <a:gdLst/>
              <a:ahLst/>
              <a:cxnLst/>
              <a:rect l="l" t="t" r="r" b="b"/>
              <a:pathLst>
                <a:path w="69494" h="65837">
                  <a:moveTo>
                    <a:pt x="0" y="0"/>
                  </a:moveTo>
                  <a:lnTo>
                    <a:pt x="69494" y="0"/>
                  </a:lnTo>
                  <a:lnTo>
                    <a:pt x="34747" y="65837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638" name="Connector 17637"/>
            <p:cNvCxnSpPr/>
            <p:nvPr/>
          </p:nvCxnSpPr>
          <p:spPr>
            <a:xfrm>
              <a:off x="1552194" y="4454957"/>
              <a:ext cx="25603" cy="120701"/>
            </a:xfrm>
            <a:prstGeom prst="line">
              <a:avLst/>
            </a:prstGeom>
            <a:ln w="7315">
              <a:solidFill>
                <a:srgbClr val="003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39" name="Connector 17638"/>
            <p:cNvCxnSpPr/>
            <p:nvPr/>
          </p:nvCxnSpPr>
          <p:spPr>
            <a:xfrm flipH="1">
              <a:off x="1599743" y="4454957"/>
              <a:ext cx="25603" cy="120701"/>
            </a:xfrm>
            <a:prstGeom prst="line">
              <a:avLst/>
            </a:prstGeom>
            <a:ln w="7315">
              <a:solidFill>
                <a:srgbClr val="003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Freeform 64"/>
            <p:cNvSpPr/>
            <p:nvPr/>
          </p:nvSpPr>
          <p:spPr>
            <a:xfrm>
              <a:off x="1510132" y="4462272"/>
              <a:ext cx="31089" cy="91440"/>
            </a:xfrm>
            <a:custGeom>
              <a:avLst/>
              <a:gdLst/>
              <a:ahLst/>
              <a:cxnLst/>
              <a:rect l="l" t="t" r="r" b="b"/>
              <a:pathLst>
                <a:path w="31089" h="91440">
                  <a:moveTo>
                    <a:pt x="31089" y="0"/>
                  </a:moveTo>
                  <a:lnTo>
                    <a:pt x="5486" y="32918"/>
                  </a:lnTo>
                  <a:lnTo>
                    <a:pt x="0" y="69494"/>
                  </a:lnTo>
                  <a:lnTo>
                    <a:pt x="9144" y="91440"/>
                  </a:lnTo>
                </a:path>
              </a:pathLst>
            </a:custGeom>
            <a:noFill/>
            <a:ln w="1219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40" name="Oval 17639"/>
            <p:cNvSpPr/>
            <p:nvPr/>
          </p:nvSpPr>
          <p:spPr>
            <a:xfrm>
              <a:off x="1500988" y="4544568"/>
              <a:ext cx="40234" cy="40234"/>
            </a:xfrm>
            <a:prstGeom prst="ellipse">
              <a:avLst/>
            </a:prstGeom>
            <a:solidFill>
              <a:srgbClr val="0070C0"/>
            </a:solidFill>
            <a:ln w="731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41" name="Cross 17640"/>
            <p:cNvSpPr/>
            <p:nvPr/>
          </p:nvSpPr>
          <p:spPr>
            <a:xfrm>
              <a:off x="1645463" y="4533595"/>
              <a:ext cx="40234" cy="40234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42" name="Oval 17641"/>
            <p:cNvSpPr/>
            <p:nvPr/>
          </p:nvSpPr>
          <p:spPr>
            <a:xfrm>
              <a:off x="1522933" y="4279392"/>
              <a:ext cx="131674" cy="149962"/>
            </a:xfrm>
            <a:prstGeom prst="ellipse">
              <a:avLst/>
            </a:prstGeom>
            <a:solidFill>
              <a:srgbClr val="FFFFFF"/>
            </a:solidFill>
            <a:ln w="1219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" name="Dashboard illustration"/>
          <p:cNvGrpSpPr/>
          <p:nvPr/>
        </p:nvGrpSpPr>
        <p:grpSpPr>
          <a:xfrm>
            <a:off x="1852574" y="4294754"/>
            <a:ext cx="373075" cy="286025"/>
            <a:chOff x="1852574" y="4294754"/>
            <a:chExt cx="373075" cy="286025"/>
          </a:xfrm>
        </p:grpSpPr>
        <p:sp>
          <p:nvSpPr>
            <p:cNvPr id="17643" name="Rounded Rectangle 17642"/>
            <p:cNvSpPr/>
            <p:nvPr/>
          </p:nvSpPr>
          <p:spPr>
            <a:xfrm>
              <a:off x="1852574" y="4294754"/>
              <a:ext cx="373075" cy="223845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0363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44" name="Rectangle 17643"/>
            <p:cNvSpPr/>
            <p:nvPr/>
          </p:nvSpPr>
          <p:spPr>
            <a:xfrm>
              <a:off x="1875892" y="4319626"/>
              <a:ext cx="326441" cy="17410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45" name="Rectangle 17644"/>
            <p:cNvSpPr/>
            <p:nvPr/>
          </p:nvSpPr>
          <p:spPr>
            <a:xfrm>
              <a:off x="1899209" y="4419112"/>
              <a:ext cx="31090" cy="55961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46" name="Rectangle 17645"/>
            <p:cNvSpPr/>
            <p:nvPr/>
          </p:nvSpPr>
          <p:spPr>
            <a:xfrm>
              <a:off x="1945843" y="4381805"/>
              <a:ext cx="31090" cy="9326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47" name="Rectangle 17646"/>
            <p:cNvSpPr/>
            <p:nvPr/>
          </p:nvSpPr>
          <p:spPr>
            <a:xfrm>
              <a:off x="1992478" y="4350715"/>
              <a:ext cx="31090" cy="124358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48" name="Oval 17647"/>
            <p:cNvSpPr/>
            <p:nvPr/>
          </p:nvSpPr>
          <p:spPr>
            <a:xfrm>
              <a:off x="2089633" y="4341388"/>
              <a:ext cx="62179" cy="6217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Freeform 66"/>
            <p:cNvSpPr/>
            <p:nvPr/>
          </p:nvSpPr>
          <p:spPr>
            <a:xfrm>
              <a:off x="2094607" y="4386157"/>
              <a:ext cx="52230" cy="45391"/>
            </a:xfrm>
            <a:custGeom>
              <a:avLst/>
              <a:gdLst/>
              <a:ahLst/>
              <a:cxnLst/>
              <a:rect l="l" t="t" r="r" b="b"/>
              <a:pathLst>
                <a:path w="52230" h="45391">
                  <a:moveTo>
                    <a:pt x="0" y="0"/>
                  </a:moveTo>
                  <a:lnTo>
                    <a:pt x="52230" y="0"/>
                  </a:lnTo>
                  <a:lnTo>
                    <a:pt x="26115" y="4539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49" name="Oval 17648"/>
            <p:cNvSpPr/>
            <p:nvPr/>
          </p:nvSpPr>
          <p:spPr>
            <a:xfrm>
              <a:off x="2108908" y="4360664"/>
              <a:ext cx="23628" cy="236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50" name="Rectangle 17649"/>
            <p:cNvSpPr/>
            <p:nvPr/>
          </p:nvSpPr>
          <p:spPr>
            <a:xfrm>
              <a:off x="2019681" y="4518599"/>
              <a:ext cx="38862" cy="37308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51" name="Rounded Rectangle 17650"/>
            <p:cNvSpPr/>
            <p:nvPr/>
          </p:nvSpPr>
          <p:spPr>
            <a:xfrm>
              <a:off x="1961388" y="4555907"/>
              <a:ext cx="155448" cy="24872"/>
            </a:xfrm>
            <a:prstGeom prst="roundRect">
              <a:avLst>
                <a:gd name="adj" fmla="val 50000"/>
              </a:avLst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7652" name="Connector 17651"/>
          <p:cNvCxnSpPr/>
          <p:nvPr/>
        </p:nvCxnSpPr>
        <p:spPr>
          <a:xfrm flipH="1">
            <a:off x="9304020" y="4882896"/>
            <a:ext cx="288036" cy="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53" name="Connector 17652"/>
          <p:cNvCxnSpPr/>
          <p:nvPr/>
        </p:nvCxnSpPr>
        <p:spPr>
          <a:xfrm flipH="1">
            <a:off x="7159752" y="4882896"/>
            <a:ext cx="288036" cy="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54" name="Connector 17653"/>
          <p:cNvCxnSpPr/>
          <p:nvPr/>
        </p:nvCxnSpPr>
        <p:spPr>
          <a:xfrm flipH="1">
            <a:off x="4466844" y="4882896"/>
            <a:ext cx="288036" cy="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55" name="Connector 17654"/>
          <p:cNvCxnSpPr/>
          <p:nvPr/>
        </p:nvCxnSpPr>
        <p:spPr>
          <a:xfrm flipH="1">
            <a:off x="2459736" y="4882896"/>
            <a:ext cx="288036" cy="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56" name="Journey footnote"/>
          <p:cNvSpPr txBox="1"/>
          <p:nvPr/>
        </p:nvSpPr>
        <p:spPr>
          <a:xfrm>
            <a:off x="777240" y="5943600"/>
            <a:ext cx="1063447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Arial"/>
              </a:rPr>
              <a:t>Vital signs are entered manually by the crew or clinician — no medical-device integration. JIVA never diagnoses or prescribes: clinicians decide and authorise. All demo data is synthetic.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HOSPITAL RESPONSES &amp; REROUTING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410" name="Responses panel"/>
          <p:cNvSpPr/>
          <p:nvPr/>
        </p:nvSpPr>
        <p:spPr>
          <a:xfrm>
            <a:off x="548640" y="1097280"/>
            <a:ext cx="11091672" cy="5138928"/>
          </a:xfrm>
          <a:prstGeom prst="roundRect">
            <a:avLst>
              <a:gd name="adj" fmla="val 7473"/>
            </a:avLst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Panel heading"/>
          <p:cNvSpPr txBox="1"/>
          <p:nvPr/>
        </p:nvSpPr>
        <p:spPr>
          <a:xfrm>
            <a:off x="777240" y="11612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Arial"/>
              </a:rPr>
              <a:t>CLOSED-LOOP ACCEPTANCE: a destination needs an explicit, current acceptance — nothing is assumed</a:t>
            </a:r>
          </a:p>
        </p:txBody>
      </p:sp>
      <p:sp>
        <p:nvSpPr>
          <p:cNvPr id="17412" name="New emergency"/>
          <p:cNvSpPr/>
          <p:nvPr/>
        </p:nvSpPr>
        <p:spPr>
          <a:xfrm>
            <a:off x="777240" y="2240280"/>
            <a:ext cx="141732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tIns="603504" rIns="54864" bIns="36576">
            <a:noAutofit/>
          </a:bodyPr>
          <a:lstStyle/>
          <a:p>
            <a:pPr algn="ctr"/>
            <a:r>
              <a:rPr sz="1000" b="1" i="0">
                <a:solidFill>
                  <a:srgbClr val="003366"/>
                </a:solidFill>
                <a:latin typeface="Arial"/>
              </a:rPr>
              <a:t>New emergency</a:t>
            </a:r>
          </a:p>
          <a:p>
            <a:pPr algn="ctr">
              <a:spcBef>
                <a:spcPts val="200"/>
              </a:spcBef>
            </a:pPr>
            <a:r>
              <a:rPr sz="800" b="0" i="0">
                <a:solidFill>
                  <a:srgbClr val="4B5563"/>
                </a:solidFill>
                <a:latin typeface="Arial"/>
              </a:rPr>
              <a:t>crew intake; care needs assessed</a:t>
            </a:r>
          </a:p>
        </p:txBody>
      </p:sp>
      <p:grpSp>
        <p:nvGrpSpPr>
          <p:cNvPr id="2" name="Ambulance illustration"/>
          <p:cNvGrpSpPr/>
          <p:nvPr/>
        </p:nvGrpSpPr>
        <p:grpSpPr>
          <a:xfrm>
            <a:off x="1213866" y="2386767"/>
            <a:ext cx="544068" cy="290688"/>
            <a:chOff x="1213866" y="2386767"/>
            <a:chExt cx="544068" cy="290688"/>
          </a:xfrm>
        </p:grpSpPr>
        <p:sp>
          <p:nvSpPr>
            <p:cNvPr id="17413" name="Rounded Rectangle 17412"/>
            <p:cNvSpPr/>
            <p:nvPr/>
          </p:nvSpPr>
          <p:spPr>
            <a:xfrm>
              <a:off x="1371646" y="2386767"/>
              <a:ext cx="70729" cy="34199"/>
            </a:xfrm>
            <a:prstGeom prst="roundRect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14" name="Rounded Rectangle 17413"/>
            <p:cNvSpPr/>
            <p:nvPr/>
          </p:nvSpPr>
          <p:spPr>
            <a:xfrm>
              <a:off x="1213866" y="2417856"/>
              <a:ext cx="350924" cy="2083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0363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Freeform 2"/>
            <p:cNvSpPr/>
            <p:nvPr/>
          </p:nvSpPr>
          <p:spPr>
            <a:xfrm>
              <a:off x="1551188" y="2473818"/>
              <a:ext cx="206746" cy="152339"/>
            </a:xfrm>
            <a:custGeom>
              <a:avLst/>
              <a:gdLst/>
              <a:ahLst/>
              <a:cxnLst/>
              <a:rect l="l" t="t" r="r" b="b"/>
              <a:pathLst>
                <a:path w="206746" h="152339">
                  <a:moveTo>
                    <a:pt x="0" y="0"/>
                  </a:moveTo>
                  <a:lnTo>
                    <a:pt x="97932" y="0"/>
                  </a:lnTo>
                  <a:lnTo>
                    <a:pt x="182263" y="65288"/>
                  </a:lnTo>
                  <a:lnTo>
                    <a:pt x="206746" y="77724"/>
                  </a:lnTo>
                  <a:lnTo>
                    <a:pt x="206746" y="152339"/>
                  </a:lnTo>
                  <a:lnTo>
                    <a:pt x="0" y="152339"/>
                  </a:lnTo>
                  <a:close/>
                </a:path>
              </a:pathLst>
            </a:custGeom>
            <a:solidFill>
              <a:srgbClr val="FFFFFF"/>
            </a:solidFill>
            <a:ln w="10363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1583832" y="2494026"/>
              <a:ext cx="116975" cy="48189"/>
            </a:xfrm>
            <a:custGeom>
              <a:avLst/>
              <a:gdLst/>
              <a:ahLst/>
              <a:cxnLst/>
              <a:rect l="l" t="t" r="r" b="b"/>
              <a:pathLst>
                <a:path w="116975" h="48189">
                  <a:moveTo>
                    <a:pt x="0" y="0"/>
                  </a:moveTo>
                  <a:lnTo>
                    <a:pt x="57127" y="0"/>
                  </a:lnTo>
                  <a:lnTo>
                    <a:pt x="116975" y="48189"/>
                  </a:lnTo>
                  <a:lnTo>
                    <a:pt x="0" y="48189"/>
                  </a:lnTo>
                  <a:close/>
                </a:path>
              </a:pathLst>
            </a:cu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15" name="Rectangle 17414"/>
            <p:cNvSpPr/>
            <p:nvPr/>
          </p:nvSpPr>
          <p:spPr>
            <a:xfrm>
              <a:off x="1217130" y="2563978"/>
              <a:ext cx="537539" cy="2020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16" name="Cross 17415"/>
            <p:cNvSpPr/>
            <p:nvPr/>
          </p:nvSpPr>
          <p:spPr>
            <a:xfrm>
              <a:off x="1341333" y="2445837"/>
              <a:ext cx="93269" cy="93269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17" name="Oval 17416"/>
            <p:cNvSpPr/>
            <p:nvPr/>
          </p:nvSpPr>
          <p:spPr>
            <a:xfrm>
              <a:off x="1277600" y="2587295"/>
              <a:ext cx="90160" cy="90160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18" name="Oval 17417"/>
            <p:cNvSpPr/>
            <p:nvPr/>
          </p:nvSpPr>
          <p:spPr>
            <a:xfrm>
              <a:off x="1305580" y="2615275"/>
              <a:ext cx="34199" cy="3419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19" name="Oval 17418"/>
            <p:cNvSpPr/>
            <p:nvPr/>
          </p:nvSpPr>
          <p:spPr>
            <a:xfrm>
              <a:off x="1598600" y="2587295"/>
              <a:ext cx="90160" cy="90160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0" name="Oval 17419"/>
            <p:cNvSpPr/>
            <p:nvPr/>
          </p:nvSpPr>
          <p:spPr>
            <a:xfrm>
              <a:off x="1626580" y="2615275"/>
              <a:ext cx="34199" cy="3419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421" name="Referrals sent"/>
          <p:cNvSpPr/>
          <p:nvPr/>
        </p:nvSpPr>
        <p:spPr>
          <a:xfrm>
            <a:off x="2514600" y="2240280"/>
            <a:ext cx="16002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tIns="603504" rIns="54864" bIns="36576">
            <a:noAutofit/>
          </a:bodyPr>
          <a:lstStyle/>
          <a:p>
            <a:pPr algn="ctr"/>
            <a:r>
              <a:rPr sz="1000" b="1" i="0">
                <a:solidFill>
                  <a:srgbClr val="003366"/>
                </a:solidFill>
                <a:latin typeface="Arial"/>
              </a:rPr>
              <a:t>Referrals sent</a:t>
            </a:r>
          </a:p>
          <a:p>
            <a:pPr algn="ctr">
              <a:spcBef>
                <a:spcPts val="200"/>
              </a:spcBef>
            </a:pPr>
            <a:r>
              <a:rPr sz="800" b="0" i="0">
                <a:solidFill>
                  <a:srgbClr val="4B5563"/>
                </a:solidFill>
                <a:latin typeface="Arial"/>
              </a:rPr>
              <a:t>to every eligible hospital at once; each time-limited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2947111" y="2350008"/>
            <a:ext cx="735178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3" name="Connector 17422"/>
          <p:cNvCxnSpPr/>
          <p:nvPr/>
        </p:nvCxnSpPr>
        <p:spPr>
          <a:xfrm>
            <a:off x="2947111" y="2350008"/>
            <a:ext cx="0" cy="91440"/>
          </a:xfrm>
          <a:prstGeom prst="line">
            <a:avLst/>
          </a:prstGeom>
          <a:ln w="15875">
            <a:solidFill>
              <a:srgbClr val="0070C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Referred hospital"/>
          <p:cNvGrpSpPr/>
          <p:nvPr/>
        </p:nvGrpSpPr>
        <p:grpSpPr>
          <a:xfrm>
            <a:off x="2805782" y="2471075"/>
            <a:ext cx="282659" cy="235549"/>
            <a:chOff x="2805782" y="2471075"/>
            <a:chExt cx="282659" cy="235549"/>
          </a:xfrm>
        </p:grpSpPr>
        <p:sp>
          <p:nvSpPr>
            <p:cNvPr id="17424" name="Rectangle 17423"/>
            <p:cNvSpPr/>
            <p:nvPr/>
          </p:nvSpPr>
          <p:spPr>
            <a:xfrm>
              <a:off x="2805782" y="2542764"/>
              <a:ext cx="100109" cy="163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5" name="Rectangle 17424"/>
            <p:cNvSpPr/>
            <p:nvPr/>
          </p:nvSpPr>
          <p:spPr>
            <a:xfrm>
              <a:off x="2988332" y="2542764"/>
              <a:ext cx="100109" cy="163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6" name="Rectangle 17425"/>
            <p:cNvSpPr/>
            <p:nvPr/>
          </p:nvSpPr>
          <p:spPr>
            <a:xfrm>
              <a:off x="2888224" y="2471075"/>
              <a:ext cx="117775" cy="2355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7" name="Cross 17426"/>
            <p:cNvSpPr/>
            <p:nvPr/>
          </p:nvSpPr>
          <p:spPr>
            <a:xfrm>
              <a:off x="2915107" y="2487717"/>
              <a:ext cx="64008" cy="64008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8" name="Rectangle 17427"/>
            <p:cNvSpPr/>
            <p:nvPr/>
          </p:nvSpPr>
          <p:spPr>
            <a:xfrm>
              <a:off x="2826392" y="2568367"/>
              <a:ext cx="58887" cy="2816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9" name="Rectangle 17428"/>
            <p:cNvSpPr/>
            <p:nvPr/>
          </p:nvSpPr>
          <p:spPr>
            <a:xfrm>
              <a:off x="2826392" y="2619573"/>
              <a:ext cx="58887" cy="2816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0" name="Rectangle 17429"/>
            <p:cNvSpPr/>
            <p:nvPr/>
          </p:nvSpPr>
          <p:spPr>
            <a:xfrm>
              <a:off x="3008943" y="2568367"/>
              <a:ext cx="58887" cy="2816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1" name="Rectangle 17430"/>
            <p:cNvSpPr/>
            <p:nvPr/>
          </p:nvSpPr>
          <p:spPr>
            <a:xfrm>
              <a:off x="3008943" y="2619573"/>
              <a:ext cx="58887" cy="2816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2" name="Rectangle 17431"/>
            <p:cNvSpPr/>
            <p:nvPr/>
          </p:nvSpPr>
          <p:spPr>
            <a:xfrm>
              <a:off x="2911779" y="2578608"/>
              <a:ext cx="70665" cy="25603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3" name="Rectangle 17432"/>
            <p:cNvSpPr/>
            <p:nvPr/>
          </p:nvSpPr>
          <p:spPr>
            <a:xfrm>
              <a:off x="2922084" y="2640056"/>
              <a:ext cx="50054" cy="6656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7434" name="Connector 17433"/>
          <p:cNvCxnSpPr/>
          <p:nvPr/>
        </p:nvCxnSpPr>
        <p:spPr>
          <a:xfrm>
            <a:off x="3314700" y="2350008"/>
            <a:ext cx="0" cy="91440"/>
          </a:xfrm>
          <a:prstGeom prst="line">
            <a:avLst/>
          </a:prstGeom>
          <a:ln w="15875">
            <a:solidFill>
              <a:srgbClr val="0070C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Referred hospital"/>
          <p:cNvGrpSpPr/>
          <p:nvPr/>
        </p:nvGrpSpPr>
        <p:grpSpPr>
          <a:xfrm>
            <a:off x="3173370" y="2471075"/>
            <a:ext cx="282660" cy="235549"/>
            <a:chOff x="3173370" y="2471075"/>
            <a:chExt cx="282660" cy="235549"/>
          </a:xfrm>
        </p:grpSpPr>
        <p:sp>
          <p:nvSpPr>
            <p:cNvPr id="17435" name="Rectangle 17434"/>
            <p:cNvSpPr/>
            <p:nvPr/>
          </p:nvSpPr>
          <p:spPr>
            <a:xfrm>
              <a:off x="3173370" y="2542764"/>
              <a:ext cx="100109" cy="163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6" name="Rectangle 17435"/>
            <p:cNvSpPr/>
            <p:nvPr/>
          </p:nvSpPr>
          <p:spPr>
            <a:xfrm>
              <a:off x="3355921" y="2542764"/>
              <a:ext cx="100109" cy="163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7" name="Rectangle 17436"/>
            <p:cNvSpPr/>
            <p:nvPr/>
          </p:nvSpPr>
          <p:spPr>
            <a:xfrm>
              <a:off x="3255813" y="2471075"/>
              <a:ext cx="117775" cy="2355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8" name="Cross 17437"/>
            <p:cNvSpPr/>
            <p:nvPr/>
          </p:nvSpPr>
          <p:spPr>
            <a:xfrm>
              <a:off x="3282696" y="2487717"/>
              <a:ext cx="64008" cy="64008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9" name="Rectangle 17438"/>
            <p:cNvSpPr/>
            <p:nvPr/>
          </p:nvSpPr>
          <p:spPr>
            <a:xfrm>
              <a:off x="3193981" y="2568367"/>
              <a:ext cx="58887" cy="2816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0" name="Rectangle 17439"/>
            <p:cNvSpPr/>
            <p:nvPr/>
          </p:nvSpPr>
          <p:spPr>
            <a:xfrm>
              <a:off x="3193981" y="2619573"/>
              <a:ext cx="58887" cy="2816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1" name="Rectangle 17440"/>
            <p:cNvSpPr/>
            <p:nvPr/>
          </p:nvSpPr>
          <p:spPr>
            <a:xfrm>
              <a:off x="3376532" y="2568367"/>
              <a:ext cx="58887" cy="2816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2" name="Rectangle 17441"/>
            <p:cNvSpPr/>
            <p:nvPr/>
          </p:nvSpPr>
          <p:spPr>
            <a:xfrm>
              <a:off x="3376532" y="2619573"/>
              <a:ext cx="58887" cy="2816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3" name="Rectangle 17442"/>
            <p:cNvSpPr/>
            <p:nvPr/>
          </p:nvSpPr>
          <p:spPr>
            <a:xfrm>
              <a:off x="3279368" y="2578608"/>
              <a:ext cx="70665" cy="25603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4" name="Rectangle 17443"/>
            <p:cNvSpPr/>
            <p:nvPr/>
          </p:nvSpPr>
          <p:spPr>
            <a:xfrm>
              <a:off x="3289673" y="2640056"/>
              <a:ext cx="50054" cy="6656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7445" name="Connector 17444"/>
          <p:cNvCxnSpPr/>
          <p:nvPr/>
        </p:nvCxnSpPr>
        <p:spPr>
          <a:xfrm>
            <a:off x="3682289" y="2350008"/>
            <a:ext cx="0" cy="91440"/>
          </a:xfrm>
          <a:prstGeom prst="line">
            <a:avLst/>
          </a:prstGeom>
          <a:ln w="15875">
            <a:solidFill>
              <a:srgbClr val="0070C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Referred hospital"/>
          <p:cNvGrpSpPr/>
          <p:nvPr/>
        </p:nvGrpSpPr>
        <p:grpSpPr>
          <a:xfrm>
            <a:off x="3540959" y="2471075"/>
            <a:ext cx="282660" cy="235549"/>
            <a:chOff x="3540959" y="2471075"/>
            <a:chExt cx="282660" cy="235549"/>
          </a:xfrm>
        </p:grpSpPr>
        <p:sp>
          <p:nvSpPr>
            <p:cNvPr id="17446" name="Rectangle 17445"/>
            <p:cNvSpPr/>
            <p:nvPr/>
          </p:nvSpPr>
          <p:spPr>
            <a:xfrm>
              <a:off x="3540959" y="2542764"/>
              <a:ext cx="100109" cy="163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7" name="Rectangle 17446"/>
            <p:cNvSpPr/>
            <p:nvPr/>
          </p:nvSpPr>
          <p:spPr>
            <a:xfrm>
              <a:off x="3723510" y="2542764"/>
              <a:ext cx="100109" cy="163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8" name="Rectangle 17447"/>
            <p:cNvSpPr/>
            <p:nvPr/>
          </p:nvSpPr>
          <p:spPr>
            <a:xfrm>
              <a:off x="3623401" y="2471075"/>
              <a:ext cx="117775" cy="2355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9" name="Cross 17448"/>
            <p:cNvSpPr/>
            <p:nvPr/>
          </p:nvSpPr>
          <p:spPr>
            <a:xfrm>
              <a:off x="3650285" y="2487717"/>
              <a:ext cx="64008" cy="64008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0" name="Rectangle 17449"/>
            <p:cNvSpPr/>
            <p:nvPr/>
          </p:nvSpPr>
          <p:spPr>
            <a:xfrm>
              <a:off x="3561570" y="2568367"/>
              <a:ext cx="58887" cy="2816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1" name="Rectangle 17450"/>
            <p:cNvSpPr/>
            <p:nvPr/>
          </p:nvSpPr>
          <p:spPr>
            <a:xfrm>
              <a:off x="3561570" y="2619573"/>
              <a:ext cx="58887" cy="2816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2" name="Rectangle 17451"/>
            <p:cNvSpPr/>
            <p:nvPr/>
          </p:nvSpPr>
          <p:spPr>
            <a:xfrm>
              <a:off x="3744121" y="2568367"/>
              <a:ext cx="58887" cy="2816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3" name="Rectangle 17452"/>
            <p:cNvSpPr/>
            <p:nvPr/>
          </p:nvSpPr>
          <p:spPr>
            <a:xfrm>
              <a:off x="3744121" y="2619573"/>
              <a:ext cx="58887" cy="2816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4" name="Rectangle 17453"/>
            <p:cNvSpPr/>
            <p:nvPr/>
          </p:nvSpPr>
          <p:spPr>
            <a:xfrm>
              <a:off x="3646956" y="2578608"/>
              <a:ext cx="70665" cy="25603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5" name="Rectangle 17454"/>
            <p:cNvSpPr/>
            <p:nvPr/>
          </p:nvSpPr>
          <p:spPr>
            <a:xfrm>
              <a:off x="3657262" y="2640056"/>
              <a:ext cx="50054" cy="6656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7456" name="Connector 17455"/>
          <p:cNvCxnSpPr/>
          <p:nvPr/>
        </p:nvCxnSpPr>
        <p:spPr>
          <a:xfrm>
            <a:off x="2212848" y="2926080"/>
            <a:ext cx="283464" cy="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7" name="Hospital response decision"/>
          <p:cNvSpPr/>
          <p:nvPr/>
        </p:nvSpPr>
        <p:spPr>
          <a:xfrm>
            <a:off x="4434840" y="2240280"/>
            <a:ext cx="1463040" cy="1371600"/>
          </a:xfrm>
          <a:prstGeom prst="flowChartDecision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000" b="1" i="0">
                <a:solidFill>
                  <a:srgbClr val="003366"/>
                </a:solidFill>
                <a:latin typeface="Arial"/>
              </a:rPr>
              <a:t>Hospital</a:t>
            </a:r>
          </a:p>
          <a:p>
            <a:pPr algn="ctr"/>
            <a:r>
              <a:rPr sz="1000" b="1" i="0">
                <a:solidFill>
                  <a:srgbClr val="003366"/>
                </a:solidFill>
                <a:latin typeface="Arial"/>
              </a:rPr>
              <a:t>response</a:t>
            </a:r>
          </a:p>
        </p:txBody>
      </p:sp>
      <p:cxnSp>
        <p:nvCxnSpPr>
          <p:cNvPr id="17458" name="Connector 17457"/>
          <p:cNvCxnSpPr/>
          <p:nvPr/>
        </p:nvCxnSpPr>
        <p:spPr>
          <a:xfrm>
            <a:off x="4133088" y="2926080"/>
            <a:ext cx="283464" cy="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9" name="Outcome ACCEPTED / LIMITED"/>
          <p:cNvSpPr/>
          <p:nvPr/>
        </p:nvSpPr>
        <p:spPr>
          <a:xfrm>
            <a:off x="6309360" y="1627632"/>
            <a:ext cx="2240280" cy="566928"/>
          </a:xfrm>
          <a:prstGeom prst="roundRect">
            <a:avLst>
              <a:gd name="adj" fmla="val 16129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66928" tIns="18288" rIns="54864" bIns="18288">
            <a:noAutofit/>
          </a:bodyPr>
          <a:lstStyle/>
          <a:p>
            <a:pPr algn="l"/>
            <a:r>
              <a:rPr sz="900" b="1" i="0">
                <a:solidFill>
                  <a:srgbClr val="15803D"/>
                </a:solidFill>
                <a:latin typeface="Arial"/>
              </a:rPr>
              <a:t>ACCEPTED / LIMITED</a:t>
            </a:r>
          </a:p>
          <a:p>
            <a:pPr algn="l"/>
            <a:r>
              <a:rPr sz="750" b="0" i="0">
                <a:solidFill>
                  <a:srgbClr val="1F2937"/>
                </a:solidFill>
                <a:latin typeface="Arial"/>
              </a:rPr>
              <a:t>explicit yes, valid until a stated time</a:t>
            </a:r>
          </a:p>
        </p:txBody>
      </p:sp>
      <p:grpSp>
        <p:nvGrpSpPr>
          <p:cNvPr id="9" name="ACCEPTED / LIMITED hospital"/>
          <p:cNvGrpSpPr/>
          <p:nvPr/>
        </p:nvGrpSpPr>
        <p:grpSpPr>
          <a:xfrm>
            <a:off x="6409212" y="1693469"/>
            <a:ext cx="455920" cy="391363"/>
            <a:chOff x="6409212" y="1693469"/>
            <a:chExt cx="455920" cy="391363"/>
          </a:xfrm>
        </p:grpSpPr>
        <p:sp>
          <p:nvSpPr>
            <p:cNvPr id="17460" name="Rectangle 17459"/>
            <p:cNvSpPr/>
            <p:nvPr/>
          </p:nvSpPr>
          <p:spPr>
            <a:xfrm>
              <a:off x="6409212" y="1850746"/>
              <a:ext cx="143012" cy="234086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1" name="Rectangle 17460"/>
            <p:cNvSpPr/>
            <p:nvPr/>
          </p:nvSpPr>
          <p:spPr>
            <a:xfrm>
              <a:off x="6669999" y="1850746"/>
              <a:ext cx="143012" cy="234086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2" name="Rectangle 17461"/>
            <p:cNvSpPr/>
            <p:nvPr/>
          </p:nvSpPr>
          <p:spPr>
            <a:xfrm>
              <a:off x="6526987" y="1748333"/>
              <a:ext cx="168250" cy="336499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3" name="Cross 17462"/>
            <p:cNvSpPr/>
            <p:nvPr/>
          </p:nvSpPr>
          <p:spPr>
            <a:xfrm>
              <a:off x="6565392" y="1772107"/>
              <a:ext cx="91440" cy="91440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4" name="Rectangle 17463"/>
            <p:cNvSpPr/>
            <p:nvPr/>
          </p:nvSpPr>
          <p:spPr>
            <a:xfrm>
              <a:off x="6438656" y="1887322"/>
              <a:ext cx="84125" cy="4023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5" name="Rectangle 17464"/>
            <p:cNvSpPr/>
            <p:nvPr/>
          </p:nvSpPr>
          <p:spPr>
            <a:xfrm>
              <a:off x="6438656" y="1960474"/>
              <a:ext cx="84125" cy="4023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6" name="Rectangle 17465"/>
            <p:cNvSpPr/>
            <p:nvPr/>
          </p:nvSpPr>
          <p:spPr>
            <a:xfrm>
              <a:off x="6699443" y="1887322"/>
              <a:ext cx="84125" cy="4023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7" name="Rectangle 17466"/>
            <p:cNvSpPr/>
            <p:nvPr/>
          </p:nvSpPr>
          <p:spPr>
            <a:xfrm>
              <a:off x="6699443" y="1960474"/>
              <a:ext cx="84125" cy="4023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8" name="Rectangle 17467"/>
            <p:cNvSpPr/>
            <p:nvPr/>
          </p:nvSpPr>
          <p:spPr>
            <a:xfrm>
              <a:off x="6560637" y="1901952"/>
              <a:ext cx="100950" cy="36576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9" name="Rectangle 17468"/>
            <p:cNvSpPr/>
            <p:nvPr/>
          </p:nvSpPr>
          <p:spPr>
            <a:xfrm>
              <a:off x="6575359" y="1989734"/>
              <a:ext cx="71506" cy="9509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1" name="Badge ok"/>
            <p:cNvGrpSpPr/>
            <p:nvPr/>
          </p:nvGrpSpPr>
          <p:grpSpPr>
            <a:xfrm>
              <a:off x="6718828" y="1693469"/>
              <a:ext cx="146304" cy="146304"/>
              <a:chOff x="6718828" y="1693469"/>
              <a:chExt cx="146304" cy="146304"/>
            </a:xfrm>
          </p:grpSpPr>
          <p:sp>
            <p:nvSpPr>
              <p:cNvPr id="17470" name="Oval 17469"/>
              <p:cNvSpPr/>
              <p:nvPr/>
            </p:nvSpPr>
            <p:spPr>
              <a:xfrm>
                <a:off x="6718828" y="1693469"/>
                <a:ext cx="146304" cy="146304"/>
              </a:xfrm>
              <a:prstGeom prst="ellipse">
                <a:avLst/>
              </a:prstGeom>
              <a:solidFill>
                <a:srgbClr val="16A34A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Freeform 11"/>
              <p:cNvSpPr/>
              <p:nvPr/>
            </p:nvSpPr>
            <p:spPr>
              <a:xfrm>
                <a:off x="6756867" y="1741749"/>
                <a:ext cx="71689" cy="54133"/>
              </a:xfrm>
              <a:custGeom>
                <a:avLst/>
                <a:gdLst/>
                <a:ahLst/>
                <a:cxnLst/>
                <a:rect l="l" t="t" r="r" b="b"/>
                <a:pathLst>
                  <a:path w="71689" h="54133">
                    <a:moveTo>
                      <a:pt x="0" y="29261"/>
                    </a:moveTo>
                    <a:lnTo>
                      <a:pt x="24872" y="54133"/>
                    </a:lnTo>
                    <a:lnTo>
                      <a:pt x="71689" y="0"/>
                    </a:lnTo>
                  </a:path>
                </a:pathLst>
              </a:custGeom>
              <a:noFill/>
              <a:ln w="19304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cxnSp>
        <p:nvCxnSpPr>
          <p:cNvPr id="17471" name="Connector 17470"/>
          <p:cNvCxnSpPr/>
          <p:nvPr/>
        </p:nvCxnSpPr>
        <p:spPr>
          <a:xfrm flipV="1">
            <a:off x="5897880" y="1911096"/>
            <a:ext cx="384048" cy="1014984"/>
          </a:xfrm>
          <a:prstGeom prst="line">
            <a:avLst/>
          </a:prstGeom>
          <a:ln w="1905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2" name="Outcome REJECTED"/>
          <p:cNvSpPr/>
          <p:nvPr/>
        </p:nvSpPr>
        <p:spPr>
          <a:xfrm>
            <a:off x="6309360" y="2304288"/>
            <a:ext cx="2240280" cy="566928"/>
          </a:xfrm>
          <a:prstGeom prst="roundRect">
            <a:avLst>
              <a:gd name="adj" fmla="val 16129"/>
            </a:avLst>
          </a:prstGeom>
          <a:solidFill>
            <a:srgbClr val="FEE2E2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66928" tIns="18288" rIns="54864" bIns="18288">
            <a:noAutofit/>
          </a:bodyPr>
          <a:lstStyle/>
          <a:p>
            <a:pPr algn="l"/>
            <a:r>
              <a:rPr sz="900" b="1" i="0">
                <a:solidFill>
                  <a:srgbClr val="B91C1C"/>
                </a:solidFill>
                <a:latin typeface="Arial"/>
              </a:rPr>
              <a:t>REJECTED</a:t>
            </a:r>
          </a:p>
          <a:p>
            <a:pPr algn="l"/>
            <a:r>
              <a:rPr sz="750" b="0" i="0">
                <a:solidFill>
                  <a:srgbClr val="1F2937"/>
                </a:solidFill>
                <a:latin typeface="Arial"/>
              </a:rPr>
              <a:t>excluded for this case</a:t>
            </a:r>
          </a:p>
        </p:txBody>
      </p:sp>
      <p:grpSp>
        <p:nvGrpSpPr>
          <p:cNvPr id="13" name="REJECTED hospital"/>
          <p:cNvGrpSpPr/>
          <p:nvPr/>
        </p:nvGrpSpPr>
        <p:grpSpPr>
          <a:xfrm>
            <a:off x="6409212" y="2370125"/>
            <a:ext cx="455920" cy="391363"/>
            <a:chOff x="6409212" y="2370125"/>
            <a:chExt cx="455920" cy="391363"/>
          </a:xfrm>
        </p:grpSpPr>
        <p:sp>
          <p:nvSpPr>
            <p:cNvPr id="17473" name="Rectangle 17472"/>
            <p:cNvSpPr/>
            <p:nvPr/>
          </p:nvSpPr>
          <p:spPr>
            <a:xfrm>
              <a:off x="6409212" y="2527402"/>
              <a:ext cx="143012" cy="234086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4" name="Rectangle 17473"/>
            <p:cNvSpPr/>
            <p:nvPr/>
          </p:nvSpPr>
          <p:spPr>
            <a:xfrm>
              <a:off x="6669999" y="2527402"/>
              <a:ext cx="143012" cy="234086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5" name="Rectangle 17474"/>
            <p:cNvSpPr/>
            <p:nvPr/>
          </p:nvSpPr>
          <p:spPr>
            <a:xfrm>
              <a:off x="6526987" y="2424989"/>
              <a:ext cx="168250" cy="336499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6" name="Cross 17475"/>
            <p:cNvSpPr/>
            <p:nvPr/>
          </p:nvSpPr>
          <p:spPr>
            <a:xfrm>
              <a:off x="6565392" y="2448763"/>
              <a:ext cx="91440" cy="91440"/>
            </a:xfrm>
            <a:prstGeom prst="plus">
              <a:avLst>
                <a:gd name="adj" fmla="val 30000"/>
              </a:avLst>
            </a:prstGeom>
            <a:solidFill>
              <a:srgbClr val="9CA3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7" name="Rectangle 17476"/>
            <p:cNvSpPr/>
            <p:nvPr/>
          </p:nvSpPr>
          <p:spPr>
            <a:xfrm>
              <a:off x="6438656" y="2563978"/>
              <a:ext cx="84125" cy="40234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8" name="Rectangle 17477"/>
            <p:cNvSpPr/>
            <p:nvPr/>
          </p:nvSpPr>
          <p:spPr>
            <a:xfrm>
              <a:off x="6438656" y="2637130"/>
              <a:ext cx="84125" cy="40234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9" name="Rectangle 17478"/>
            <p:cNvSpPr/>
            <p:nvPr/>
          </p:nvSpPr>
          <p:spPr>
            <a:xfrm>
              <a:off x="6699443" y="2563978"/>
              <a:ext cx="84125" cy="40234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80" name="Rectangle 17479"/>
            <p:cNvSpPr/>
            <p:nvPr/>
          </p:nvSpPr>
          <p:spPr>
            <a:xfrm>
              <a:off x="6699443" y="2637130"/>
              <a:ext cx="84125" cy="40234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81" name="Rectangle 17480"/>
            <p:cNvSpPr/>
            <p:nvPr/>
          </p:nvSpPr>
          <p:spPr>
            <a:xfrm>
              <a:off x="6560637" y="2578608"/>
              <a:ext cx="100950" cy="36576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82" name="Rectangle 17481"/>
            <p:cNvSpPr/>
            <p:nvPr/>
          </p:nvSpPr>
          <p:spPr>
            <a:xfrm>
              <a:off x="6575359" y="2666390"/>
              <a:ext cx="71506" cy="95098"/>
            </a:xfrm>
            <a:prstGeom prst="rect">
              <a:avLst/>
            </a:prstGeom>
            <a:solidFill>
              <a:srgbClr val="9CA3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4" name="Badge no"/>
            <p:cNvGrpSpPr/>
            <p:nvPr/>
          </p:nvGrpSpPr>
          <p:grpSpPr>
            <a:xfrm>
              <a:off x="6718828" y="2370125"/>
              <a:ext cx="146304" cy="146304"/>
              <a:chOff x="6718828" y="2370125"/>
              <a:chExt cx="146304" cy="146304"/>
            </a:xfrm>
          </p:grpSpPr>
          <p:sp>
            <p:nvSpPr>
              <p:cNvPr id="17483" name="Oval 17482"/>
              <p:cNvSpPr/>
              <p:nvPr/>
            </p:nvSpPr>
            <p:spPr>
              <a:xfrm>
                <a:off x="6718828" y="2370125"/>
                <a:ext cx="146304" cy="146304"/>
              </a:xfrm>
              <a:prstGeom prst="ellipse">
                <a:avLst/>
              </a:prstGeom>
              <a:solidFill>
                <a:srgbClr val="DC2626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7484" name="Connector 17483"/>
              <p:cNvCxnSpPr/>
              <p:nvPr/>
            </p:nvCxnSpPr>
            <p:spPr>
              <a:xfrm>
                <a:off x="6765646" y="2416942"/>
                <a:ext cx="52669" cy="52670"/>
              </a:xfrm>
              <a:prstGeom prst="line">
                <a:avLst/>
              </a:prstGeom>
              <a:ln w="19304">
                <a:solidFill>
                  <a:srgbClr val="FF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85" name="Connector 17484"/>
              <p:cNvCxnSpPr/>
              <p:nvPr/>
            </p:nvCxnSpPr>
            <p:spPr>
              <a:xfrm flipH="1">
                <a:off x="6765646" y="2416942"/>
                <a:ext cx="52669" cy="52670"/>
              </a:xfrm>
              <a:prstGeom prst="line">
                <a:avLst/>
              </a:prstGeom>
              <a:ln w="19304">
                <a:solidFill>
                  <a:srgbClr val="FF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486" name="Connector 17485"/>
          <p:cNvCxnSpPr/>
          <p:nvPr/>
        </p:nvCxnSpPr>
        <p:spPr>
          <a:xfrm flipV="1">
            <a:off x="5897880" y="2587752"/>
            <a:ext cx="384048" cy="338328"/>
          </a:xfrm>
          <a:prstGeom prst="line">
            <a:avLst/>
          </a:prstGeom>
          <a:ln w="1905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7" name="Outcome UNAVAILABLE (busy)"/>
          <p:cNvSpPr/>
          <p:nvPr/>
        </p:nvSpPr>
        <p:spPr>
          <a:xfrm>
            <a:off x="6309360" y="2980944"/>
            <a:ext cx="2240280" cy="566928"/>
          </a:xfrm>
          <a:prstGeom prst="roundRect">
            <a:avLst>
              <a:gd name="adj" fmla="val 16129"/>
            </a:avLst>
          </a:prstGeom>
          <a:solidFill>
            <a:srgbClr val="FEF3C7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66928" tIns="18288" rIns="54864" bIns="18288">
            <a:noAutofit/>
          </a:bodyPr>
          <a:lstStyle/>
          <a:p>
            <a:pPr algn="l"/>
            <a:r>
              <a:rPr sz="900" b="1" i="0">
                <a:solidFill>
                  <a:srgbClr val="B45309"/>
                </a:solidFill>
                <a:latin typeface="Arial"/>
              </a:rPr>
              <a:t>UNAVAILABLE (busy)</a:t>
            </a:r>
          </a:p>
          <a:p>
            <a:pPr algn="l"/>
            <a:r>
              <a:rPr sz="750" b="0" i="0">
                <a:solidFill>
                  <a:srgbClr val="1F2937"/>
                </a:solidFill>
                <a:latin typeface="Arial"/>
              </a:rPr>
              <a:t>not usable while unavailable</a:t>
            </a:r>
          </a:p>
        </p:txBody>
      </p:sp>
      <p:grpSp>
        <p:nvGrpSpPr>
          <p:cNvPr id="15" name="UNAVAILABLE (busy) hospital"/>
          <p:cNvGrpSpPr/>
          <p:nvPr/>
        </p:nvGrpSpPr>
        <p:grpSpPr>
          <a:xfrm>
            <a:off x="6409212" y="3046781"/>
            <a:ext cx="455920" cy="391363"/>
            <a:chOff x="6409212" y="3046781"/>
            <a:chExt cx="455920" cy="391363"/>
          </a:xfrm>
        </p:grpSpPr>
        <p:sp>
          <p:nvSpPr>
            <p:cNvPr id="17488" name="Rectangle 17487"/>
            <p:cNvSpPr/>
            <p:nvPr/>
          </p:nvSpPr>
          <p:spPr>
            <a:xfrm>
              <a:off x="6409212" y="3204058"/>
              <a:ext cx="143012" cy="234086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89" name="Rectangle 17488"/>
            <p:cNvSpPr/>
            <p:nvPr/>
          </p:nvSpPr>
          <p:spPr>
            <a:xfrm>
              <a:off x="6669999" y="3204058"/>
              <a:ext cx="143012" cy="234086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0" name="Rectangle 17489"/>
            <p:cNvSpPr/>
            <p:nvPr/>
          </p:nvSpPr>
          <p:spPr>
            <a:xfrm>
              <a:off x="6526987" y="3101645"/>
              <a:ext cx="168250" cy="336499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1" name="Cross 17490"/>
            <p:cNvSpPr/>
            <p:nvPr/>
          </p:nvSpPr>
          <p:spPr>
            <a:xfrm>
              <a:off x="6565392" y="3125419"/>
              <a:ext cx="91440" cy="91440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2" name="Rectangle 17491"/>
            <p:cNvSpPr/>
            <p:nvPr/>
          </p:nvSpPr>
          <p:spPr>
            <a:xfrm>
              <a:off x="6438656" y="3240634"/>
              <a:ext cx="84125" cy="4023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3" name="Rectangle 17492"/>
            <p:cNvSpPr/>
            <p:nvPr/>
          </p:nvSpPr>
          <p:spPr>
            <a:xfrm>
              <a:off x="6438656" y="3313786"/>
              <a:ext cx="84125" cy="4023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4" name="Rectangle 17493"/>
            <p:cNvSpPr/>
            <p:nvPr/>
          </p:nvSpPr>
          <p:spPr>
            <a:xfrm>
              <a:off x="6699443" y="3240634"/>
              <a:ext cx="84125" cy="4023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5" name="Rectangle 17494"/>
            <p:cNvSpPr/>
            <p:nvPr/>
          </p:nvSpPr>
          <p:spPr>
            <a:xfrm>
              <a:off x="6699443" y="3313786"/>
              <a:ext cx="84125" cy="40234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6" name="Rectangle 17495"/>
            <p:cNvSpPr/>
            <p:nvPr/>
          </p:nvSpPr>
          <p:spPr>
            <a:xfrm>
              <a:off x="6560637" y="3255264"/>
              <a:ext cx="100950" cy="36576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7" name="Rectangle 17496"/>
            <p:cNvSpPr/>
            <p:nvPr/>
          </p:nvSpPr>
          <p:spPr>
            <a:xfrm>
              <a:off x="6575359" y="3343046"/>
              <a:ext cx="71506" cy="9509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6" name="Badge busy"/>
            <p:cNvGrpSpPr/>
            <p:nvPr/>
          </p:nvGrpSpPr>
          <p:grpSpPr>
            <a:xfrm>
              <a:off x="6718828" y="3046781"/>
              <a:ext cx="146304" cy="146304"/>
              <a:chOff x="6718828" y="3046781"/>
              <a:chExt cx="146304" cy="146304"/>
            </a:xfrm>
          </p:grpSpPr>
          <p:sp>
            <p:nvSpPr>
              <p:cNvPr id="17498" name="Oval 17497"/>
              <p:cNvSpPr/>
              <p:nvPr/>
            </p:nvSpPr>
            <p:spPr>
              <a:xfrm>
                <a:off x="6718828" y="3046781"/>
                <a:ext cx="146304" cy="146304"/>
              </a:xfrm>
              <a:prstGeom prst="ellipse">
                <a:avLst/>
              </a:prstGeom>
              <a:solidFill>
                <a:srgbClr val="D97706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99" name="Rectangle 17498"/>
              <p:cNvSpPr/>
              <p:nvPr/>
            </p:nvSpPr>
            <p:spPr>
              <a:xfrm>
                <a:off x="6753941" y="3109692"/>
                <a:ext cx="76078" cy="2048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cxnSp>
        <p:nvCxnSpPr>
          <p:cNvPr id="17500" name="Connector 17499"/>
          <p:cNvCxnSpPr/>
          <p:nvPr/>
        </p:nvCxnSpPr>
        <p:spPr>
          <a:xfrm>
            <a:off x="5897880" y="2926080"/>
            <a:ext cx="384048" cy="338328"/>
          </a:xfrm>
          <a:prstGeom prst="line">
            <a:avLst/>
          </a:prstGeom>
          <a:ln w="1905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1" name="Outcome EXPIRED"/>
          <p:cNvSpPr/>
          <p:nvPr/>
        </p:nvSpPr>
        <p:spPr>
          <a:xfrm>
            <a:off x="6309360" y="3657600"/>
            <a:ext cx="2240280" cy="566928"/>
          </a:xfrm>
          <a:prstGeom prst="roundRect">
            <a:avLst>
              <a:gd name="adj" fmla="val 16129"/>
            </a:avLst>
          </a:prstGeom>
          <a:solidFill>
            <a:srgbClr val="F3F4F6"/>
          </a:solidFill>
          <a:ln w="158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66928" tIns="18288" rIns="54864" bIns="18288">
            <a:no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Arial"/>
              </a:rPr>
              <a:t>EXPIRED</a:t>
            </a:r>
          </a:p>
          <a:p>
            <a:pPr algn="l"/>
            <a:r>
              <a:rPr sz="750" b="0" i="0">
                <a:solidFill>
                  <a:srgbClr val="1F2937"/>
                </a:solidFill>
                <a:latin typeface="Arial"/>
              </a:rPr>
              <a:t>no answer in time, or the acceptance lapsed</a:t>
            </a:r>
          </a:p>
        </p:txBody>
      </p:sp>
      <p:grpSp>
        <p:nvGrpSpPr>
          <p:cNvPr id="17" name="EXPIRED hospital"/>
          <p:cNvGrpSpPr/>
          <p:nvPr/>
        </p:nvGrpSpPr>
        <p:grpSpPr>
          <a:xfrm>
            <a:off x="6409212" y="3723437"/>
            <a:ext cx="455920" cy="391363"/>
            <a:chOff x="6409212" y="3723437"/>
            <a:chExt cx="455920" cy="391363"/>
          </a:xfrm>
        </p:grpSpPr>
        <p:sp>
          <p:nvSpPr>
            <p:cNvPr id="17502" name="Rectangle 17501"/>
            <p:cNvSpPr/>
            <p:nvPr/>
          </p:nvSpPr>
          <p:spPr>
            <a:xfrm>
              <a:off x="6409212" y="3880714"/>
              <a:ext cx="143012" cy="234086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03" name="Rectangle 17502"/>
            <p:cNvSpPr/>
            <p:nvPr/>
          </p:nvSpPr>
          <p:spPr>
            <a:xfrm>
              <a:off x="6669999" y="3880714"/>
              <a:ext cx="143012" cy="234086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04" name="Rectangle 17503"/>
            <p:cNvSpPr/>
            <p:nvPr/>
          </p:nvSpPr>
          <p:spPr>
            <a:xfrm>
              <a:off x="6526987" y="3778301"/>
              <a:ext cx="168250" cy="336499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05" name="Cross 17504"/>
            <p:cNvSpPr/>
            <p:nvPr/>
          </p:nvSpPr>
          <p:spPr>
            <a:xfrm>
              <a:off x="6565392" y="3802075"/>
              <a:ext cx="91440" cy="91440"/>
            </a:xfrm>
            <a:prstGeom prst="plus">
              <a:avLst>
                <a:gd name="adj" fmla="val 30000"/>
              </a:avLst>
            </a:prstGeom>
            <a:solidFill>
              <a:srgbClr val="9CA3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06" name="Rectangle 17505"/>
            <p:cNvSpPr/>
            <p:nvPr/>
          </p:nvSpPr>
          <p:spPr>
            <a:xfrm>
              <a:off x="6438656" y="3917290"/>
              <a:ext cx="84125" cy="40234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07" name="Rectangle 17506"/>
            <p:cNvSpPr/>
            <p:nvPr/>
          </p:nvSpPr>
          <p:spPr>
            <a:xfrm>
              <a:off x="6438656" y="3990442"/>
              <a:ext cx="84125" cy="40234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08" name="Rectangle 17507"/>
            <p:cNvSpPr/>
            <p:nvPr/>
          </p:nvSpPr>
          <p:spPr>
            <a:xfrm>
              <a:off x="6699443" y="3917290"/>
              <a:ext cx="84125" cy="40234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09" name="Rectangle 17508"/>
            <p:cNvSpPr/>
            <p:nvPr/>
          </p:nvSpPr>
          <p:spPr>
            <a:xfrm>
              <a:off x="6699443" y="3990442"/>
              <a:ext cx="84125" cy="40234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10" name="Rectangle 17509"/>
            <p:cNvSpPr/>
            <p:nvPr/>
          </p:nvSpPr>
          <p:spPr>
            <a:xfrm>
              <a:off x="6560637" y="3931920"/>
              <a:ext cx="100950" cy="36576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11" name="Rectangle 17510"/>
            <p:cNvSpPr/>
            <p:nvPr/>
          </p:nvSpPr>
          <p:spPr>
            <a:xfrm>
              <a:off x="6575359" y="4019702"/>
              <a:ext cx="71506" cy="95098"/>
            </a:xfrm>
            <a:prstGeom prst="rect">
              <a:avLst/>
            </a:prstGeom>
            <a:solidFill>
              <a:srgbClr val="9CA3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" name="Badge expired"/>
            <p:cNvGrpSpPr/>
            <p:nvPr/>
          </p:nvGrpSpPr>
          <p:grpSpPr>
            <a:xfrm>
              <a:off x="6718828" y="3723437"/>
              <a:ext cx="146304" cy="146304"/>
              <a:chOff x="6718828" y="3723437"/>
              <a:chExt cx="146304" cy="146304"/>
            </a:xfrm>
          </p:grpSpPr>
          <p:sp>
            <p:nvSpPr>
              <p:cNvPr id="17512" name="Oval 17511"/>
              <p:cNvSpPr/>
              <p:nvPr/>
            </p:nvSpPr>
            <p:spPr>
              <a:xfrm>
                <a:off x="6718828" y="3723437"/>
                <a:ext cx="146304" cy="146304"/>
              </a:xfrm>
              <a:prstGeom prst="ellipse">
                <a:avLst/>
              </a:prstGeom>
              <a:solidFill>
                <a:srgbClr val="9CA3AF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13" name="Oval 17512"/>
              <p:cNvSpPr/>
              <p:nvPr/>
            </p:nvSpPr>
            <p:spPr>
              <a:xfrm>
                <a:off x="6748089" y="3752698"/>
                <a:ext cx="87782" cy="87782"/>
              </a:xfrm>
              <a:prstGeom prst="ellipse">
                <a:avLst/>
              </a:prstGeom>
              <a:noFill/>
              <a:ln w="11582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7514" name="Connector 17513"/>
              <p:cNvCxnSpPr/>
              <p:nvPr/>
            </p:nvCxnSpPr>
            <p:spPr>
              <a:xfrm flipV="1">
                <a:off x="6791980" y="3768791"/>
                <a:ext cx="0" cy="27798"/>
              </a:xfrm>
              <a:prstGeom prst="line">
                <a:avLst/>
              </a:prstGeom>
              <a:ln w="11582">
                <a:solidFill>
                  <a:srgbClr val="FF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15" name="Connector 17514"/>
              <p:cNvCxnSpPr/>
              <p:nvPr/>
            </p:nvCxnSpPr>
            <p:spPr>
              <a:xfrm>
                <a:off x="6791980" y="3796589"/>
                <a:ext cx="20483" cy="0"/>
              </a:xfrm>
              <a:prstGeom prst="line">
                <a:avLst/>
              </a:prstGeom>
              <a:ln w="11582">
                <a:solidFill>
                  <a:srgbClr val="FF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516" name="Connector 17515"/>
          <p:cNvCxnSpPr/>
          <p:nvPr/>
        </p:nvCxnSpPr>
        <p:spPr>
          <a:xfrm>
            <a:off x="5897880" y="2926080"/>
            <a:ext cx="384048" cy="1014984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17" name="Destination confirmed"/>
          <p:cNvSpPr/>
          <p:nvPr/>
        </p:nvSpPr>
        <p:spPr>
          <a:xfrm>
            <a:off x="8961120" y="1627632"/>
            <a:ext cx="2468880" cy="868680"/>
          </a:xfrm>
          <a:prstGeom prst="roundRect">
            <a:avLst>
              <a:gd name="adj" fmla="val 12631"/>
            </a:avLst>
          </a:prstGeom>
          <a:solidFill>
            <a:srgbClr val="F0FDF4"/>
          </a:solidFill>
          <a:ln w="222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 bIns="36576">
            <a:noAutofit/>
          </a:bodyPr>
          <a:lstStyle/>
          <a:p>
            <a:pPr algn="l"/>
            <a:r>
              <a:rPr sz="950" b="1" i="0">
                <a:solidFill>
                  <a:srgbClr val="15803D"/>
                </a:solidFill>
                <a:latin typeface="Arial"/>
              </a:rPr>
              <a:t>DESTINATION CONFIRMED</a:t>
            </a:r>
          </a:p>
          <a:p>
            <a:pPr algn="l"/>
            <a:r>
              <a:rPr sz="750" b="0" i="0">
                <a:solidFill>
                  <a:srgbClr val="1F2937"/>
                </a:solidFill>
                <a:latin typeface="Arial"/>
              </a:rPr>
              <a:t>Best eligible hospital with a current acceptance; ETA only orders the choice. Route sent to the ambulance.</a:t>
            </a:r>
          </a:p>
        </p:txBody>
      </p:sp>
      <p:sp>
        <p:nvSpPr>
          <p:cNvPr id="17518" name="Re-evaluate"/>
          <p:cNvSpPr/>
          <p:nvPr/>
        </p:nvSpPr>
        <p:spPr>
          <a:xfrm>
            <a:off x="8961120" y="2761488"/>
            <a:ext cx="2468880" cy="841248"/>
          </a:xfrm>
          <a:prstGeom prst="roundRect">
            <a:avLst>
              <a:gd name="adj" fmla="val 13043"/>
            </a:avLst>
          </a:prstGeom>
          <a:solidFill>
            <a:srgbClr val="F4F8FC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rIns="73152" bIns="27432">
            <a:noAutofit/>
          </a:bodyPr>
          <a:lstStyle/>
          <a:p>
            <a:pPr algn="l"/>
            <a:r>
              <a:rPr sz="950" b="1" i="0">
                <a:solidFill>
                  <a:srgbClr val="0070C0"/>
                </a:solidFill>
                <a:latin typeface="Arial"/>
              </a:rPr>
              <a:t>RE-EVALUATE</a:t>
            </a:r>
          </a:p>
          <a:p>
            <a:pPr algn="l"/>
            <a:r>
              <a:rPr sz="750" b="1" i="0">
                <a:solidFill>
                  <a:srgbClr val="003366"/>
                </a:solidFill>
                <a:latin typeface="Arial"/>
              </a:rPr>
              <a:t>only when the current destination is lost:</a:t>
            </a:r>
          </a:p>
          <a:p>
            <a:pPr algn="l"/>
            <a:r>
              <a:rPr sz="750" b="0" i="0">
                <a:solidFill>
                  <a:srgbClr val="1F2937"/>
                </a:solidFill>
                <a:latin typeface="Arial"/>
              </a:rPr>
              <a:t>next eligible hospital with a current acceptance (existing routing rules)</a:t>
            </a:r>
          </a:p>
        </p:txBody>
      </p:sp>
      <p:sp>
        <p:nvSpPr>
          <p:cNvPr id="17519" name="No destination yet"/>
          <p:cNvSpPr/>
          <p:nvPr/>
        </p:nvSpPr>
        <p:spPr>
          <a:xfrm>
            <a:off x="8961120" y="3840480"/>
            <a:ext cx="2468880" cy="621792"/>
          </a:xfrm>
          <a:prstGeom prst="roundRect">
            <a:avLst>
              <a:gd name="adj" fmla="val 17647"/>
            </a:avLst>
          </a:prstGeom>
          <a:solidFill>
            <a:srgbClr val="F3F4F6"/>
          </a:solidFill>
          <a:ln w="1587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 bIns="36576">
            <a:noAutofit/>
          </a:bodyPr>
          <a:lstStyle/>
          <a:p>
            <a:pPr algn="l"/>
            <a:r>
              <a:rPr sz="950" b="1" i="0">
                <a:solidFill>
                  <a:srgbClr val="4B5563"/>
                </a:solidFill>
                <a:latin typeface="Arial"/>
              </a:rPr>
              <a:t>NO DESTINATION YET</a:t>
            </a:r>
          </a:p>
          <a:p>
            <a:pPr algn="l"/>
            <a:r>
              <a:rPr sz="750" b="0" i="0">
                <a:solidFill>
                  <a:srgbClr val="1F2937"/>
                </a:solidFill>
                <a:latin typeface="Arial"/>
              </a:rPr>
              <a:t>Nobody has accepted: route withdrawn, awaiting responses.</a:t>
            </a:r>
          </a:p>
        </p:txBody>
      </p:sp>
      <p:cxnSp>
        <p:nvCxnSpPr>
          <p:cNvPr id="17520" name="Connector 17519"/>
          <p:cNvCxnSpPr/>
          <p:nvPr/>
        </p:nvCxnSpPr>
        <p:spPr>
          <a:xfrm>
            <a:off x="8577072" y="1911096"/>
            <a:ext cx="356616" cy="0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21" name="Connector 17520"/>
          <p:cNvCxnSpPr/>
          <p:nvPr/>
        </p:nvCxnSpPr>
        <p:spPr>
          <a:xfrm>
            <a:off x="8577072" y="2587752"/>
            <a:ext cx="356616" cy="566928"/>
          </a:xfrm>
          <a:prstGeom prst="line">
            <a:avLst/>
          </a:prstGeom>
          <a:ln w="1905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22" name="Connector 17521"/>
          <p:cNvCxnSpPr/>
          <p:nvPr/>
        </p:nvCxnSpPr>
        <p:spPr>
          <a:xfrm flipV="1">
            <a:off x="8577072" y="3154680"/>
            <a:ext cx="356616" cy="109728"/>
          </a:xfrm>
          <a:prstGeom prst="line">
            <a:avLst/>
          </a:prstGeom>
          <a:ln w="1905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23" name="Connector 17522"/>
          <p:cNvCxnSpPr/>
          <p:nvPr/>
        </p:nvCxnSpPr>
        <p:spPr>
          <a:xfrm flipV="1">
            <a:off x="8577072" y="3154680"/>
            <a:ext cx="356616" cy="786384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24" name="Found"/>
          <p:cNvCxnSpPr/>
          <p:nvPr/>
        </p:nvCxnSpPr>
        <p:spPr>
          <a:xfrm flipV="1">
            <a:off x="9464040" y="2514600"/>
            <a:ext cx="0" cy="228600"/>
          </a:xfrm>
          <a:prstGeom prst="line">
            <a:avLst/>
          </a:prstGeom>
          <a:ln w="2222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25" name="TextBox 17524"/>
          <p:cNvSpPr txBox="1"/>
          <p:nvPr/>
        </p:nvSpPr>
        <p:spPr>
          <a:xfrm>
            <a:off x="9564624" y="251460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1">
                <a:solidFill>
                  <a:srgbClr val="0070C0"/>
                </a:solidFill>
                <a:latin typeface="Arial"/>
              </a:rPr>
              <a:t>found → destination changes, route recalculated</a:t>
            </a:r>
          </a:p>
        </p:txBody>
      </p:sp>
      <p:cxnSp>
        <p:nvCxnSpPr>
          <p:cNvPr id="17526" name="None"/>
          <p:cNvCxnSpPr/>
          <p:nvPr/>
        </p:nvCxnSpPr>
        <p:spPr>
          <a:xfrm>
            <a:off x="9464040" y="3621024"/>
            <a:ext cx="0" cy="201168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27" name="TextBox 17526"/>
          <p:cNvSpPr txBox="1"/>
          <p:nvPr/>
        </p:nvSpPr>
        <p:spPr>
          <a:xfrm>
            <a:off x="9564624" y="3611880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1">
                <a:solidFill>
                  <a:srgbClr val="4B5563"/>
                </a:solidFill>
                <a:latin typeface="Arial"/>
              </a:rPr>
              <a:t>none</a:t>
            </a:r>
          </a:p>
        </p:txBody>
      </p:sp>
      <p:sp>
        <p:nvSpPr>
          <p:cNvPr id="19" name="Wait for outstanding referrals"/>
          <p:cNvSpPr/>
          <p:nvPr/>
        </p:nvSpPr>
        <p:spPr>
          <a:xfrm>
            <a:off x="5166360" y="3630168"/>
            <a:ext cx="5577840" cy="960120"/>
          </a:xfrm>
          <a:custGeom>
            <a:avLst/>
            <a:gdLst/>
            <a:ahLst/>
            <a:cxnLst/>
            <a:rect l="l" t="t" r="r" b="b"/>
            <a:pathLst>
              <a:path w="5577840" h="960120">
                <a:moveTo>
                  <a:pt x="5577840" y="841248"/>
                </a:moveTo>
                <a:lnTo>
                  <a:pt x="5577840" y="960120"/>
                </a:lnTo>
                <a:lnTo>
                  <a:pt x="0" y="96012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9CA3AF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8" name="Loop label"/>
          <p:cNvSpPr txBox="1"/>
          <p:nvPr/>
        </p:nvSpPr>
        <p:spPr>
          <a:xfrm>
            <a:off x="5486400" y="434340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1">
                <a:solidFill>
                  <a:srgbClr val="4B5563"/>
                </a:solidFill>
                <a:latin typeface="Arial"/>
              </a:rPr>
              <a:t>outstanding referrals can still be answered</a:t>
            </a:r>
          </a:p>
        </p:txBody>
      </p:sp>
      <p:cxnSp>
        <p:nvCxnSpPr>
          <p:cNvPr id="17529" name="Connector 17528"/>
          <p:cNvCxnSpPr/>
          <p:nvPr/>
        </p:nvCxnSpPr>
        <p:spPr>
          <a:xfrm>
            <a:off x="777240" y="4736592"/>
            <a:ext cx="10634472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30" name="TextBox 17529"/>
          <p:cNvSpPr txBox="1"/>
          <p:nvPr/>
        </p:nvSpPr>
        <p:spPr>
          <a:xfrm>
            <a:off x="777240" y="4773168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1" i="0">
                <a:solidFill>
                  <a:srgbClr val="003366"/>
                </a:solidFill>
                <a:latin typeface="Arial"/>
              </a:rPr>
              <a:t>WHAT THE SCREENS SHOW</a:t>
            </a:r>
          </a:p>
        </p:txBody>
      </p:sp>
      <p:sp>
        <p:nvSpPr>
          <p:cNvPr id="17531" name="TextBox 17530"/>
          <p:cNvSpPr txBox="1"/>
          <p:nvPr/>
        </p:nvSpPr>
        <p:spPr>
          <a:xfrm>
            <a:off x="777240" y="4965192"/>
            <a:ext cx="1600200" cy="137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1">
                <a:solidFill>
                  <a:srgbClr val="4B5563"/>
                </a:solidFill>
                <a:latin typeface="Arial"/>
              </a:rPr>
              <a:t>example sequence, synthetic data</a:t>
            </a:r>
          </a:p>
        </p:txBody>
      </p:sp>
      <p:grpSp>
        <p:nvGrpSpPr>
          <p:cNvPr id="20" name="Ambulance illustration"/>
          <p:cNvGrpSpPr/>
          <p:nvPr/>
        </p:nvGrpSpPr>
        <p:grpSpPr>
          <a:xfrm>
            <a:off x="804672" y="5182088"/>
            <a:ext cx="384048" cy="205191"/>
            <a:chOff x="804672" y="5182088"/>
            <a:chExt cx="384048" cy="205191"/>
          </a:xfrm>
        </p:grpSpPr>
        <p:sp>
          <p:nvSpPr>
            <p:cNvPr id="17532" name="Rounded Rectangle 17531"/>
            <p:cNvSpPr/>
            <p:nvPr/>
          </p:nvSpPr>
          <p:spPr>
            <a:xfrm>
              <a:off x="916046" y="5182088"/>
              <a:ext cx="49926" cy="24140"/>
            </a:xfrm>
            <a:prstGeom prst="roundRect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3" name="Rounded Rectangle 17532"/>
            <p:cNvSpPr/>
            <p:nvPr/>
          </p:nvSpPr>
          <p:spPr>
            <a:xfrm>
              <a:off x="804672" y="5204033"/>
              <a:ext cx="247711" cy="147036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42782" y="5243535"/>
              <a:ext cx="145938" cy="107534"/>
            </a:xfrm>
            <a:custGeom>
              <a:avLst/>
              <a:gdLst/>
              <a:ahLst/>
              <a:cxnLst/>
              <a:rect l="l" t="t" r="r" b="b"/>
              <a:pathLst>
                <a:path w="145938" h="107534">
                  <a:moveTo>
                    <a:pt x="0" y="0"/>
                  </a:moveTo>
                  <a:lnTo>
                    <a:pt x="69128" y="0"/>
                  </a:lnTo>
                  <a:lnTo>
                    <a:pt x="128656" y="46086"/>
                  </a:lnTo>
                  <a:lnTo>
                    <a:pt x="145938" y="54864"/>
                  </a:lnTo>
                  <a:lnTo>
                    <a:pt x="145938" y="107534"/>
                  </a:lnTo>
                  <a:lnTo>
                    <a:pt x="0" y="107534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065825" y="5257800"/>
              <a:ext cx="82570" cy="34016"/>
            </a:xfrm>
            <a:custGeom>
              <a:avLst/>
              <a:gdLst/>
              <a:ahLst/>
              <a:cxnLst/>
              <a:rect l="l" t="t" r="r" b="b"/>
              <a:pathLst>
                <a:path w="82570" h="34016">
                  <a:moveTo>
                    <a:pt x="0" y="0"/>
                  </a:moveTo>
                  <a:lnTo>
                    <a:pt x="40325" y="0"/>
                  </a:lnTo>
                  <a:lnTo>
                    <a:pt x="82570" y="34016"/>
                  </a:lnTo>
                  <a:lnTo>
                    <a:pt x="0" y="34016"/>
                  </a:lnTo>
                  <a:close/>
                </a:path>
              </a:pathLst>
            </a:cu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4" name="Rectangle 17533"/>
            <p:cNvSpPr/>
            <p:nvPr/>
          </p:nvSpPr>
          <p:spPr>
            <a:xfrm>
              <a:off x="806976" y="5307178"/>
              <a:ext cx="379439" cy="1426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5" name="Cross 17534"/>
            <p:cNvSpPr/>
            <p:nvPr/>
          </p:nvSpPr>
          <p:spPr>
            <a:xfrm>
              <a:off x="894649" y="5223784"/>
              <a:ext cx="65837" cy="65837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6" name="Oval 17535"/>
            <p:cNvSpPr/>
            <p:nvPr/>
          </p:nvSpPr>
          <p:spPr>
            <a:xfrm>
              <a:off x="849660" y="5323637"/>
              <a:ext cx="63642" cy="63642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7" name="Oval 17536"/>
            <p:cNvSpPr/>
            <p:nvPr/>
          </p:nvSpPr>
          <p:spPr>
            <a:xfrm>
              <a:off x="869412" y="5343388"/>
              <a:ext cx="24140" cy="241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8" name="Oval 17537"/>
            <p:cNvSpPr/>
            <p:nvPr/>
          </p:nvSpPr>
          <p:spPr>
            <a:xfrm>
              <a:off x="1076249" y="5323637"/>
              <a:ext cx="63642" cy="63642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9" name="Oval 17538"/>
            <p:cNvSpPr/>
            <p:nvPr/>
          </p:nvSpPr>
          <p:spPr>
            <a:xfrm>
              <a:off x="1096000" y="5343388"/>
              <a:ext cx="24140" cy="241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540" name="TextBox 17539"/>
          <p:cNvSpPr txBox="1"/>
          <p:nvPr/>
        </p:nvSpPr>
        <p:spPr>
          <a:xfrm>
            <a:off x="1243584" y="5120640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1" i="0">
                <a:solidFill>
                  <a:srgbClr val="003366"/>
                </a:solidFill>
                <a:latin typeface="Arial"/>
              </a:rPr>
              <a:t>Ambulance app</a:t>
            </a:r>
          </a:p>
        </p:txBody>
      </p:sp>
      <p:grpSp>
        <p:nvGrpSpPr>
          <p:cNvPr id="23" name="Dashboard illustration"/>
          <p:cNvGrpSpPr/>
          <p:nvPr/>
        </p:nvGrpSpPr>
        <p:grpSpPr>
          <a:xfrm>
            <a:off x="829361" y="5637825"/>
            <a:ext cx="307238" cy="235550"/>
            <a:chOff x="829361" y="5637825"/>
            <a:chExt cx="307238" cy="235550"/>
          </a:xfrm>
        </p:grpSpPr>
        <p:sp>
          <p:nvSpPr>
            <p:cNvPr id="17541" name="Rounded Rectangle 17540"/>
            <p:cNvSpPr/>
            <p:nvPr/>
          </p:nvSpPr>
          <p:spPr>
            <a:xfrm>
              <a:off x="829361" y="5637825"/>
              <a:ext cx="307238" cy="184343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42" name="Rectangle 17541"/>
            <p:cNvSpPr/>
            <p:nvPr/>
          </p:nvSpPr>
          <p:spPr>
            <a:xfrm>
              <a:off x="848563" y="5658307"/>
              <a:ext cx="268834" cy="143378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43" name="Rectangle 17542"/>
            <p:cNvSpPr/>
            <p:nvPr/>
          </p:nvSpPr>
          <p:spPr>
            <a:xfrm>
              <a:off x="867766" y="5740237"/>
              <a:ext cx="25603" cy="46086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44" name="Rectangle 17543"/>
            <p:cNvSpPr/>
            <p:nvPr/>
          </p:nvSpPr>
          <p:spPr>
            <a:xfrm>
              <a:off x="906170" y="5709514"/>
              <a:ext cx="25603" cy="7681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45" name="Rectangle 17544"/>
            <p:cNvSpPr/>
            <p:nvPr/>
          </p:nvSpPr>
          <p:spPr>
            <a:xfrm>
              <a:off x="944575" y="5683910"/>
              <a:ext cx="25603" cy="102413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46" name="Oval 17545"/>
            <p:cNvSpPr/>
            <p:nvPr/>
          </p:nvSpPr>
          <p:spPr>
            <a:xfrm>
              <a:off x="1024585" y="5676229"/>
              <a:ext cx="51206" cy="5120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028682" y="5713098"/>
              <a:ext cx="43013" cy="37381"/>
            </a:xfrm>
            <a:custGeom>
              <a:avLst/>
              <a:gdLst/>
              <a:ahLst/>
              <a:cxnLst/>
              <a:rect l="l" t="t" r="r" b="b"/>
              <a:pathLst>
                <a:path w="43013" h="37381">
                  <a:moveTo>
                    <a:pt x="0" y="0"/>
                  </a:moveTo>
                  <a:lnTo>
                    <a:pt x="43013" y="0"/>
                  </a:lnTo>
                  <a:lnTo>
                    <a:pt x="21506" y="3738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47" name="Oval 17546"/>
            <p:cNvSpPr/>
            <p:nvPr/>
          </p:nvSpPr>
          <p:spPr>
            <a:xfrm>
              <a:off x="1040459" y="5692103"/>
              <a:ext cx="19458" cy="1945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48" name="Rectangle 17547"/>
            <p:cNvSpPr/>
            <p:nvPr/>
          </p:nvSpPr>
          <p:spPr>
            <a:xfrm>
              <a:off x="966978" y="5822168"/>
              <a:ext cx="32004" cy="30724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49" name="Rounded Rectangle 17548"/>
            <p:cNvSpPr/>
            <p:nvPr/>
          </p:nvSpPr>
          <p:spPr>
            <a:xfrm>
              <a:off x="918972" y="5852892"/>
              <a:ext cx="128016" cy="20483"/>
            </a:xfrm>
            <a:prstGeom prst="roundRect">
              <a:avLst>
                <a:gd name="adj" fmla="val 50000"/>
              </a:avLst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550" name="TextBox 17549"/>
          <p:cNvSpPr txBox="1"/>
          <p:nvPr/>
        </p:nvSpPr>
        <p:spPr>
          <a:xfrm>
            <a:off x="1243584" y="5586984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1" i="0">
                <a:solidFill>
                  <a:srgbClr val="003366"/>
                </a:solidFill>
                <a:latin typeface="Arial"/>
              </a:rPr>
              <a:t>Management</a:t>
            </a:r>
          </a:p>
        </p:txBody>
      </p:sp>
      <p:sp>
        <p:nvSpPr>
          <p:cNvPr id="17551" name="TextBox 17550"/>
          <p:cNvSpPr txBox="1"/>
          <p:nvPr/>
        </p:nvSpPr>
        <p:spPr>
          <a:xfrm>
            <a:off x="2395728" y="4791456"/>
            <a:ext cx="217627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>
                <a:solidFill>
                  <a:srgbClr val="0070C0"/>
                </a:solidFill>
                <a:latin typeface="Arial"/>
              </a:rPr>
              <a:t>1 · Referrals out</a:t>
            </a:r>
          </a:p>
        </p:txBody>
      </p:sp>
      <p:sp>
        <p:nvSpPr>
          <p:cNvPr id="17552" name="1 · Referrals out: Awaiting a hospital’"/>
          <p:cNvSpPr/>
          <p:nvPr/>
        </p:nvSpPr>
        <p:spPr>
          <a:xfrm>
            <a:off x="2395728" y="5029200"/>
            <a:ext cx="21762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>
            <a:noAutofit/>
          </a:bodyPr>
          <a:lstStyle/>
          <a:p>
            <a:pPr algn="ctr"/>
            <a:r>
              <a:rPr sz="750" b="0" i="0">
                <a:solidFill>
                  <a:srgbClr val="1F2937"/>
                </a:solidFill>
                <a:latin typeface="Arial"/>
              </a:rPr>
              <a:t>Awaiting a hospital’s acceptance</a:t>
            </a:r>
          </a:p>
        </p:txBody>
      </p:sp>
      <p:sp>
        <p:nvSpPr>
          <p:cNvPr id="17553" name="1 · Referrals out: Referral evidence: e"/>
          <p:cNvSpPr/>
          <p:nvPr/>
        </p:nvSpPr>
        <p:spPr>
          <a:xfrm>
            <a:off x="2395728" y="5522976"/>
            <a:ext cx="21762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>
            <a:noAutofit/>
          </a:bodyPr>
          <a:lstStyle/>
          <a:p>
            <a:pPr algn="ctr"/>
            <a:r>
              <a:rPr sz="750" b="0" i="0">
                <a:solidFill>
                  <a:srgbClr val="1F2937"/>
                </a:solidFill>
                <a:latin typeface="Arial"/>
              </a:rPr>
              <a:t>Referral evidence: each hospital outstanding until it answers or expires</a:t>
            </a:r>
          </a:p>
        </p:txBody>
      </p:sp>
      <p:cxnSp>
        <p:nvCxnSpPr>
          <p:cNvPr id="17554" name="Connector 17553"/>
          <p:cNvCxnSpPr/>
          <p:nvPr/>
        </p:nvCxnSpPr>
        <p:spPr>
          <a:xfrm>
            <a:off x="4576572" y="5257800"/>
            <a:ext cx="64008" cy="0"/>
          </a:xfrm>
          <a:prstGeom prst="line">
            <a:avLst/>
          </a:prstGeom>
          <a:ln w="12700">
            <a:solidFill>
              <a:srgbClr val="0070C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55" name="TextBox 17554"/>
          <p:cNvSpPr txBox="1"/>
          <p:nvPr/>
        </p:nvSpPr>
        <p:spPr>
          <a:xfrm>
            <a:off x="4645152" y="4791456"/>
            <a:ext cx="217627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>
                <a:solidFill>
                  <a:srgbClr val="15803D"/>
                </a:solidFill>
                <a:latin typeface="Arial"/>
              </a:rPr>
              <a:t>2 · Hospital A accepts</a:t>
            </a:r>
          </a:p>
        </p:txBody>
      </p:sp>
      <p:sp>
        <p:nvSpPr>
          <p:cNvPr id="17556" name="2 · Hospital A accepts: Destination: Hospita"/>
          <p:cNvSpPr/>
          <p:nvPr/>
        </p:nvSpPr>
        <p:spPr>
          <a:xfrm>
            <a:off x="4645152" y="5029200"/>
            <a:ext cx="2176272" cy="4572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>
            <a:noAutofit/>
          </a:bodyPr>
          <a:lstStyle/>
          <a:p>
            <a:pPr algn="ctr"/>
            <a:r>
              <a:rPr sz="750" b="0" i="0">
                <a:solidFill>
                  <a:srgbClr val="1F2937"/>
                </a:solidFill>
                <a:latin typeface="Arial"/>
              </a:rPr>
              <a:t>Destination: Hospital A — route ready</a:t>
            </a:r>
          </a:p>
        </p:txBody>
      </p:sp>
      <p:sp>
        <p:nvSpPr>
          <p:cNvPr id="17557" name="2 · Hospital A accepts: A answered ACCEPTED,"/>
          <p:cNvSpPr/>
          <p:nvPr/>
        </p:nvSpPr>
        <p:spPr>
          <a:xfrm>
            <a:off x="4645152" y="5522976"/>
            <a:ext cx="2176272" cy="4572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>
            <a:noAutofit/>
          </a:bodyPr>
          <a:lstStyle/>
          <a:p>
            <a:pPr algn="ctr"/>
            <a:r>
              <a:rPr sz="750" b="0" i="0">
                <a:solidFill>
                  <a:srgbClr val="1F2937"/>
                </a:solidFill>
                <a:latin typeface="Arial"/>
              </a:rPr>
              <a:t>A answered ACCEPTED, valid until a set time; case in transit</a:t>
            </a:r>
          </a:p>
        </p:txBody>
      </p:sp>
      <p:cxnSp>
        <p:nvCxnSpPr>
          <p:cNvPr id="17558" name="Connector 17557"/>
          <p:cNvCxnSpPr/>
          <p:nvPr/>
        </p:nvCxnSpPr>
        <p:spPr>
          <a:xfrm>
            <a:off x="6825996" y="5257800"/>
            <a:ext cx="64008" cy="0"/>
          </a:xfrm>
          <a:prstGeom prst="line">
            <a:avLst/>
          </a:prstGeom>
          <a:ln w="12700">
            <a:solidFill>
              <a:srgbClr val="0070C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59" name="TextBox 17558"/>
          <p:cNvSpPr txBox="1"/>
          <p:nvPr/>
        </p:nvSpPr>
        <p:spPr>
          <a:xfrm>
            <a:off x="6894576" y="4791456"/>
            <a:ext cx="217627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>
                <a:solidFill>
                  <a:srgbClr val="B45309"/>
                </a:solidFill>
                <a:latin typeface="Arial"/>
              </a:rPr>
              <a:t>3 · Hospital A reports unavailable</a:t>
            </a:r>
          </a:p>
        </p:txBody>
      </p:sp>
      <p:sp>
        <p:nvSpPr>
          <p:cNvPr id="17560" name="3 · Hospital A reports unavailable: Rerouted to Hospital"/>
          <p:cNvSpPr/>
          <p:nvPr/>
        </p:nvSpPr>
        <p:spPr>
          <a:xfrm>
            <a:off x="6894576" y="5029200"/>
            <a:ext cx="2176272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>
            <a:noAutofit/>
          </a:bodyPr>
          <a:lstStyle/>
          <a:p>
            <a:pPr algn="ctr"/>
            <a:r>
              <a:rPr sz="750" b="0" i="0">
                <a:solidFill>
                  <a:srgbClr val="1F2937"/>
                </a:solidFill>
                <a:latin typeface="Arial"/>
              </a:rPr>
              <a:t>Rerouted to Hospital B (it had accepted) — reason shown</a:t>
            </a:r>
          </a:p>
        </p:txBody>
      </p:sp>
      <p:sp>
        <p:nvSpPr>
          <p:cNvPr id="17561" name="3 · Hospital A reports unavailable: Destination changed,"/>
          <p:cNvSpPr/>
          <p:nvPr/>
        </p:nvSpPr>
        <p:spPr>
          <a:xfrm>
            <a:off x="6894576" y="5522976"/>
            <a:ext cx="2176272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>
            <a:noAutofit/>
          </a:bodyPr>
          <a:lstStyle/>
          <a:p>
            <a:pPr algn="ctr"/>
            <a:r>
              <a:rPr sz="750" b="0" i="0">
                <a:solidFill>
                  <a:srgbClr val="1F2937"/>
                </a:solidFill>
                <a:latin typeface="Arial"/>
              </a:rPr>
              <a:t>Destination changed, with the reason; A unavailable</a:t>
            </a:r>
          </a:p>
        </p:txBody>
      </p:sp>
      <p:sp>
        <p:nvSpPr>
          <p:cNvPr id="17562" name="TextBox 17561"/>
          <p:cNvSpPr txBox="1"/>
          <p:nvPr/>
        </p:nvSpPr>
        <p:spPr>
          <a:xfrm>
            <a:off x="9144000" y="4791456"/>
            <a:ext cx="217627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>
                <a:solidFill>
                  <a:srgbClr val="4B5563"/>
                </a:solidFill>
                <a:latin typeface="Arial"/>
              </a:rPr>
              <a:t>Alternative · nobody has accepted</a:t>
            </a:r>
          </a:p>
        </p:txBody>
      </p:sp>
      <p:sp>
        <p:nvSpPr>
          <p:cNvPr id="17563" name="Alternative · nobody has accepted: Destination withdraw"/>
          <p:cNvSpPr/>
          <p:nvPr/>
        </p:nvSpPr>
        <p:spPr>
          <a:xfrm>
            <a:off x="9144000" y="5029200"/>
            <a:ext cx="2176272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>
            <a:noAutofit/>
          </a:bodyPr>
          <a:lstStyle/>
          <a:p>
            <a:pPr algn="ctr"/>
            <a:r>
              <a:rPr sz="750" b="0" i="0">
                <a:solidFill>
                  <a:srgbClr val="1F2937"/>
                </a:solidFill>
                <a:latin typeface="Arial"/>
              </a:rPr>
              <a:t>Destination withdrawn — waiting for another hospital to accept</a:t>
            </a:r>
          </a:p>
        </p:txBody>
      </p:sp>
      <p:sp>
        <p:nvSpPr>
          <p:cNvPr id="17564" name="Alternative · nobody has accepted: Referral evidence sh"/>
          <p:cNvSpPr/>
          <p:nvPr/>
        </p:nvSpPr>
        <p:spPr>
          <a:xfrm>
            <a:off x="9144000" y="5522976"/>
            <a:ext cx="2176272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>
            <a:noAutofit/>
          </a:bodyPr>
          <a:lstStyle/>
          <a:p>
            <a:pPr algn="ctr"/>
            <a:r>
              <a:rPr sz="750" b="0" i="0">
                <a:solidFill>
                  <a:srgbClr val="1F2937"/>
                </a:solidFill>
                <a:latin typeface="Arial"/>
              </a:rPr>
              <a:t>Referral evidence shows who is still outstanding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THE DOCTOR WORKSPACE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410" name="Doctor workspace panel"/>
          <p:cNvSpPr/>
          <p:nvPr/>
        </p:nvSpPr>
        <p:spPr>
          <a:xfrm>
            <a:off x="548640" y="1097280"/>
            <a:ext cx="11091672" cy="5138928"/>
          </a:xfrm>
          <a:prstGeom prst="roundRect">
            <a:avLst>
              <a:gd name="adj" fmla="val 7473"/>
            </a:avLst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Panel heading"/>
          <p:cNvSpPr txBox="1"/>
          <p:nvPr/>
        </p:nvSpPr>
        <p:spPr>
          <a:xfrm>
            <a:off x="777240" y="1161288"/>
            <a:ext cx="7543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Arial"/>
              </a:rPr>
              <a:t>CLINICAL LAYER: from ambulance intake to clinician-authorised care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8412480" y="1179576"/>
            <a:ext cx="3017520" cy="21945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800" b="1" i="0">
                <a:solidFill>
                  <a:srgbClr val="B45309"/>
                </a:solidFill>
                <a:latin typeface="Arial"/>
              </a:rPr>
              <a:t>WORKING PROTOTYPE · IN DEVELOPMENT</a:t>
            </a:r>
          </a:p>
        </p:txBody>
      </p:sp>
      <p:sp>
        <p:nvSpPr>
          <p:cNvPr id="17413" name="Workspace step 1: Ambulance intake"/>
          <p:cNvSpPr/>
          <p:nvPr/>
        </p:nvSpPr>
        <p:spPr>
          <a:xfrm>
            <a:off x="777240" y="1554480"/>
            <a:ext cx="4069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32688" tIns="0" rIns="54864" bIns="0">
            <a:no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  <a:latin typeface="Arial"/>
              </a:rPr>
              <a:t>Ambulance intake</a:t>
            </a:r>
          </a:p>
          <a:p>
            <a:pPr algn="l"/>
            <a:r>
              <a:rPr sz="800" b="0" i="0">
                <a:solidFill>
                  <a:srgbClr val="4B5563"/>
                </a:solidFill>
                <a:latin typeface="Arial"/>
              </a:rPr>
              <a:t>symptoms, description, onset; vitals typed in</a:t>
            </a:r>
          </a:p>
        </p:txBody>
      </p:sp>
      <p:sp>
        <p:nvSpPr>
          <p:cNvPr id="17414" name="Step 1 number"/>
          <p:cNvSpPr/>
          <p:nvPr/>
        </p:nvSpPr>
        <p:spPr>
          <a:xfrm>
            <a:off x="841248" y="1664208"/>
            <a:ext cx="237744" cy="237744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grpSp>
        <p:nvGrpSpPr>
          <p:cNvPr id="2" name="Ambulance illustration"/>
          <p:cNvGrpSpPr/>
          <p:nvPr/>
        </p:nvGrpSpPr>
        <p:grpSpPr>
          <a:xfrm>
            <a:off x="1097280" y="1679936"/>
            <a:ext cx="384048" cy="205191"/>
            <a:chOff x="1097280" y="1679936"/>
            <a:chExt cx="384048" cy="205191"/>
          </a:xfrm>
        </p:grpSpPr>
        <p:sp>
          <p:nvSpPr>
            <p:cNvPr id="17415" name="Rounded Rectangle 17414"/>
            <p:cNvSpPr/>
            <p:nvPr/>
          </p:nvSpPr>
          <p:spPr>
            <a:xfrm>
              <a:off x="1208654" y="1679936"/>
              <a:ext cx="49926" cy="24140"/>
            </a:xfrm>
            <a:prstGeom prst="roundRect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16" name="Rounded Rectangle 17415"/>
            <p:cNvSpPr/>
            <p:nvPr/>
          </p:nvSpPr>
          <p:spPr>
            <a:xfrm>
              <a:off x="1097280" y="1701881"/>
              <a:ext cx="247711" cy="147036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Freeform 2"/>
            <p:cNvSpPr/>
            <p:nvPr/>
          </p:nvSpPr>
          <p:spPr>
            <a:xfrm>
              <a:off x="1335390" y="1741383"/>
              <a:ext cx="145938" cy="107534"/>
            </a:xfrm>
            <a:custGeom>
              <a:avLst/>
              <a:gdLst/>
              <a:ahLst/>
              <a:cxnLst/>
              <a:rect l="l" t="t" r="r" b="b"/>
              <a:pathLst>
                <a:path w="145938" h="107534">
                  <a:moveTo>
                    <a:pt x="0" y="0"/>
                  </a:moveTo>
                  <a:lnTo>
                    <a:pt x="69128" y="0"/>
                  </a:lnTo>
                  <a:lnTo>
                    <a:pt x="128656" y="46086"/>
                  </a:lnTo>
                  <a:lnTo>
                    <a:pt x="145938" y="54864"/>
                  </a:lnTo>
                  <a:lnTo>
                    <a:pt x="145938" y="107534"/>
                  </a:lnTo>
                  <a:lnTo>
                    <a:pt x="0" y="107534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1358433" y="1755648"/>
              <a:ext cx="82570" cy="34016"/>
            </a:xfrm>
            <a:custGeom>
              <a:avLst/>
              <a:gdLst/>
              <a:ahLst/>
              <a:cxnLst/>
              <a:rect l="l" t="t" r="r" b="b"/>
              <a:pathLst>
                <a:path w="82570" h="34016">
                  <a:moveTo>
                    <a:pt x="0" y="0"/>
                  </a:moveTo>
                  <a:lnTo>
                    <a:pt x="40325" y="0"/>
                  </a:lnTo>
                  <a:lnTo>
                    <a:pt x="82570" y="34016"/>
                  </a:lnTo>
                  <a:lnTo>
                    <a:pt x="0" y="34016"/>
                  </a:lnTo>
                  <a:close/>
                </a:path>
              </a:pathLst>
            </a:cu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17" name="Rectangle 17416"/>
            <p:cNvSpPr/>
            <p:nvPr/>
          </p:nvSpPr>
          <p:spPr>
            <a:xfrm>
              <a:off x="1099584" y="1805026"/>
              <a:ext cx="379439" cy="1426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18" name="Cross 17417"/>
            <p:cNvSpPr/>
            <p:nvPr/>
          </p:nvSpPr>
          <p:spPr>
            <a:xfrm>
              <a:off x="1187257" y="1721632"/>
              <a:ext cx="65837" cy="65837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19" name="Oval 17418"/>
            <p:cNvSpPr/>
            <p:nvPr/>
          </p:nvSpPr>
          <p:spPr>
            <a:xfrm>
              <a:off x="1142268" y="1821485"/>
              <a:ext cx="63642" cy="63642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0" name="Oval 17419"/>
            <p:cNvSpPr/>
            <p:nvPr/>
          </p:nvSpPr>
          <p:spPr>
            <a:xfrm>
              <a:off x="1162020" y="1841236"/>
              <a:ext cx="24140" cy="241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1" name="Oval 17420"/>
            <p:cNvSpPr/>
            <p:nvPr/>
          </p:nvSpPr>
          <p:spPr>
            <a:xfrm>
              <a:off x="1368857" y="1821485"/>
              <a:ext cx="63642" cy="63642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2" name="Oval 17421"/>
            <p:cNvSpPr/>
            <p:nvPr/>
          </p:nvSpPr>
          <p:spPr>
            <a:xfrm>
              <a:off x="1388608" y="1841236"/>
              <a:ext cx="24140" cy="241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423" name="Flow chevron"/>
          <p:cNvSpPr/>
          <p:nvPr/>
        </p:nvSpPr>
        <p:spPr>
          <a:xfrm rot="10800000">
            <a:off x="2747772" y="2034540"/>
            <a:ext cx="128016" cy="73152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Workspace step 2: Patient encounter"/>
          <p:cNvSpPr/>
          <p:nvPr/>
        </p:nvSpPr>
        <p:spPr>
          <a:xfrm>
            <a:off x="777240" y="2130552"/>
            <a:ext cx="4069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32688" tIns="0" rIns="54864" bIns="0">
            <a:no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  <a:latin typeface="Arial"/>
              </a:rPr>
              <a:t>Patient encounter</a:t>
            </a:r>
          </a:p>
          <a:p>
            <a:pPr algn="l"/>
            <a:r>
              <a:rPr sz="800" b="0" i="0">
                <a:solidFill>
                  <a:srgbClr val="4B5563"/>
                </a:solidFill>
                <a:latin typeface="Arial"/>
              </a:rPr>
              <a:t>opens when the hospital records arrival</a:t>
            </a:r>
          </a:p>
        </p:txBody>
      </p:sp>
      <p:sp>
        <p:nvSpPr>
          <p:cNvPr id="17425" name="Step 2 number"/>
          <p:cNvSpPr/>
          <p:nvPr/>
        </p:nvSpPr>
        <p:spPr>
          <a:xfrm>
            <a:off x="841248" y="2240280"/>
            <a:ext cx="237744" cy="237744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grpSp>
        <p:nvGrpSpPr>
          <p:cNvPr id="5" name="Encounter record illustration"/>
          <p:cNvGrpSpPr/>
          <p:nvPr/>
        </p:nvGrpSpPr>
        <p:grpSpPr>
          <a:xfrm>
            <a:off x="1143000" y="2221992"/>
            <a:ext cx="351130" cy="292608"/>
            <a:chOff x="1143000" y="2221992"/>
            <a:chExt cx="351130" cy="292608"/>
          </a:xfrm>
        </p:grpSpPr>
        <p:sp>
          <p:nvSpPr>
            <p:cNvPr id="17426" name="Rounded Rectangle 17425"/>
            <p:cNvSpPr/>
            <p:nvPr/>
          </p:nvSpPr>
          <p:spPr>
            <a:xfrm>
              <a:off x="1143000" y="2221992"/>
              <a:ext cx="351130" cy="292608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753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7" name="Rectangle 17426"/>
            <p:cNvSpPr/>
            <p:nvPr/>
          </p:nvSpPr>
          <p:spPr>
            <a:xfrm>
              <a:off x="1143000" y="2221992"/>
              <a:ext cx="351130" cy="64374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8" name="Oval 17427"/>
            <p:cNvSpPr/>
            <p:nvPr/>
          </p:nvSpPr>
          <p:spPr>
            <a:xfrm>
              <a:off x="1166116" y="2235159"/>
              <a:ext cx="38039" cy="3803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29" name="Rectangle 17428"/>
            <p:cNvSpPr/>
            <p:nvPr/>
          </p:nvSpPr>
          <p:spPr>
            <a:xfrm>
              <a:off x="1220249" y="2246864"/>
              <a:ext cx="147474" cy="146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0" name="Heart 17429"/>
            <p:cNvSpPr/>
            <p:nvPr/>
          </p:nvSpPr>
          <p:spPr>
            <a:xfrm>
              <a:off x="1168164" y="2318553"/>
              <a:ext cx="40965" cy="36869"/>
            </a:xfrm>
            <a:prstGeom prst="hear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1227271" y="2312700"/>
              <a:ext cx="217700" cy="52670"/>
            </a:xfrm>
            <a:custGeom>
              <a:avLst/>
              <a:gdLst/>
              <a:ahLst/>
              <a:cxnLst/>
              <a:rect l="l" t="t" r="r" b="b"/>
              <a:pathLst>
                <a:path w="217700" h="52670">
                  <a:moveTo>
                    <a:pt x="0" y="26335"/>
                  </a:moveTo>
                  <a:lnTo>
                    <a:pt x="49158" y="26335"/>
                  </a:lnTo>
                  <a:lnTo>
                    <a:pt x="66715" y="0"/>
                  </a:lnTo>
                  <a:lnTo>
                    <a:pt x="87783" y="52670"/>
                  </a:lnTo>
                  <a:lnTo>
                    <a:pt x="105339" y="26335"/>
                  </a:lnTo>
                  <a:lnTo>
                    <a:pt x="217700" y="26335"/>
                  </a:lnTo>
                </a:path>
              </a:pathLst>
            </a:custGeom>
            <a:noFill/>
            <a:ln w="9525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1" name="Rectangle 17430"/>
            <p:cNvSpPr/>
            <p:nvPr/>
          </p:nvSpPr>
          <p:spPr>
            <a:xfrm>
              <a:off x="1171090" y="2397557"/>
              <a:ext cx="217700" cy="17556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2" name="Rectangle 17431"/>
            <p:cNvSpPr/>
            <p:nvPr/>
          </p:nvSpPr>
          <p:spPr>
            <a:xfrm>
              <a:off x="1171090" y="2444374"/>
              <a:ext cx="168542" cy="17556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33" name="Oval 17432"/>
            <p:cNvSpPr/>
            <p:nvPr/>
          </p:nvSpPr>
          <p:spPr>
            <a:xfrm>
              <a:off x="1423026" y="2431207"/>
              <a:ext cx="43891" cy="4389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4B55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434" name="Connector 17433"/>
            <p:cNvCxnSpPr/>
            <p:nvPr/>
          </p:nvCxnSpPr>
          <p:spPr>
            <a:xfrm flipV="1">
              <a:off x="1444971" y="2439107"/>
              <a:ext cx="0" cy="14045"/>
            </a:xfrm>
            <a:prstGeom prst="line">
              <a:avLst/>
            </a:prstGeom>
            <a:ln w="9525">
              <a:solidFill>
                <a:srgbClr val="4B556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35" name="Connector 17434"/>
            <p:cNvCxnSpPr/>
            <p:nvPr/>
          </p:nvCxnSpPr>
          <p:spPr>
            <a:xfrm>
              <a:off x="1444971" y="2453152"/>
              <a:ext cx="11412" cy="0"/>
            </a:xfrm>
            <a:prstGeom prst="line">
              <a:avLst/>
            </a:prstGeom>
            <a:ln w="9525">
              <a:solidFill>
                <a:srgbClr val="4B556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36" name="Flow chevron"/>
          <p:cNvSpPr/>
          <p:nvPr/>
        </p:nvSpPr>
        <p:spPr>
          <a:xfrm rot="10800000">
            <a:off x="2747772" y="2610612"/>
            <a:ext cx="128016" cy="73152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Workspace step 3: Symptoms and vitals"/>
          <p:cNvSpPr/>
          <p:nvPr/>
        </p:nvSpPr>
        <p:spPr>
          <a:xfrm>
            <a:off x="777240" y="2706624"/>
            <a:ext cx="4069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32688" tIns="0" rIns="54864" bIns="0">
            <a:no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  <a:latin typeface="Arial"/>
              </a:rPr>
              <a:t>Symptoms and vitals</a:t>
            </a:r>
          </a:p>
          <a:p>
            <a:pPr algn="l"/>
            <a:r>
              <a:rPr sz="800" b="0" i="0">
                <a:solidFill>
                  <a:srgbClr val="4B5563"/>
                </a:solidFill>
                <a:latin typeface="Arial"/>
              </a:rPr>
              <a:t>each reading: time, source, quality flag</a:t>
            </a:r>
          </a:p>
        </p:txBody>
      </p:sp>
      <p:sp>
        <p:nvSpPr>
          <p:cNvPr id="17438" name="Step 3 number"/>
          <p:cNvSpPr/>
          <p:nvPr/>
        </p:nvSpPr>
        <p:spPr>
          <a:xfrm>
            <a:off x="841248" y="2816352"/>
            <a:ext cx="237744" cy="237744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grpSp>
        <p:nvGrpSpPr>
          <p:cNvPr id="8" name="Intake card illustration"/>
          <p:cNvGrpSpPr/>
          <p:nvPr/>
        </p:nvGrpSpPr>
        <p:grpSpPr>
          <a:xfrm>
            <a:off x="1209261" y="2761488"/>
            <a:ext cx="262133" cy="347472"/>
            <a:chOff x="1209261" y="2761488"/>
            <a:chExt cx="262133" cy="347472"/>
          </a:xfrm>
        </p:grpSpPr>
        <p:sp>
          <p:nvSpPr>
            <p:cNvPr id="17439" name="Rounded Rectangle 17438"/>
            <p:cNvSpPr/>
            <p:nvPr/>
          </p:nvSpPr>
          <p:spPr>
            <a:xfrm>
              <a:off x="1209261" y="2785811"/>
              <a:ext cx="262133" cy="323149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158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0" name="Rounded Rectangle 17439"/>
            <p:cNvSpPr/>
            <p:nvPr/>
          </p:nvSpPr>
          <p:spPr>
            <a:xfrm>
              <a:off x="1283342" y="2761488"/>
              <a:ext cx="113971" cy="48646"/>
            </a:xfrm>
            <a:prstGeom prst="roundRect">
              <a:avLst>
                <a:gd name="adj" fmla="val 30000"/>
              </a:avLst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1" name="Heart 17440"/>
            <p:cNvSpPr/>
            <p:nvPr/>
          </p:nvSpPr>
          <p:spPr>
            <a:xfrm>
              <a:off x="1236711" y="2846619"/>
              <a:ext cx="59070" cy="53163"/>
            </a:xfrm>
            <a:prstGeom prst="hear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1311835" y="2841407"/>
              <a:ext cx="131066" cy="72969"/>
            </a:xfrm>
            <a:custGeom>
              <a:avLst/>
              <a:gdLst/>
              <a:ahLst/>
              <a:cxnLst/>
              <a:rect l="l" t="t" r="r" b="b"/>
              <a:pathLst>
                <a:path w="131066" h="72969">
                  <a:moveTo>
                    <a:pt x="0" y="36484"/>
                  </a:moveTo>
                  <a:lnTo>
                    <a:pt x="28493" y="36484"/>
                  </a:lnTo>
                  <a:lnTo>
                    <a:pt x="42739" y="0"/>
                  </a:lnTo>
                  <a:lnTo>
                    <a:pt x="59834" y="72969"/>
                  </a:lnTo>
                  <a:lnTo>
                    <a:pt x="74081" y="36484"/>
                  </a:lnTo>
                  <a:lnTo>
                    <a:pt x="131066" y="36484"/>
                  </a:lnTo>
                </a:path>
              </a:pathLst>
            </a:custGeom>
            <a:noFill/>
            <a:ln w="10424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2" name="Rectangle 17441"/>
            <p:cNvSpPr/>
            <p:nvPr/>
          </p:nvSpPr>
          <p:spPr>
            <a:xfrm>
              <a:off x="1243452" y="2956072"/>
              <a:ext cx="193750" cy="17374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3" name="Rectangle 17442"/>
            <p:cNvSpPr/>
            <p:nvPr/>
          </p:nvSpPr>
          <p:spPr>
            <a:xfrm>
              <a:off x="1243452" y="3001244"/>
              <a:ext cx="159559" cy="17374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4" name="Rectangle 17443"/>
            <p:cNvSpPr/>
            <p:nvPr/>
          </p:nvSpPr>
          <p:spPr>
            <a:xfrm>
              <a:off x="1243452" y="3046415"/>
              <a:ext cx="176655" cy="17374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445" name="Flow chevron"/>
          <p:cNvSpPr/>
          <p:nvPr/>
        </p:nvSpPr>
        <p:spPr>
          <a:xfrm rot="10800000">
            <a:off x="2747772" y="3186684"/>
            <a:ext cx="128016" cy="73152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Workspace step 4: Clinical documents"/>
          <p:cNvSpPr/>
          <p:nvPr/>
        </p:nvSpPr>
        <p:spPr>
          <a:xfrm>
            <a:off x="777240" y="3282696"/>
            <a:ext cx="4069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32688" tIns="0" rIns="54864" bIns="0">
            <a:no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  <a:latin typeface="Arial"/>
              </a:rPr>
              <a:t>Clinical documents</a:t>
            </a:r>
          </a:p>
          <a:p>
            <a:pPr algn="l"/>
            <a:r>
              <a:rPr sz="800" b="0" i="0">
                <a:solidFill>
                  <a:srgbClr val="4B5563"/>
                </a:solidFill>
                <a:latin typeface="Arial"/>
              </a:rPr>
              <a:t>scans and reports, typed and versioned</a:t>
            </a:r>
          </a:p>
        </p:txBody>
      </p:sp>
      <p:sp>
        <p:nvSpPr>
          <p:cNvPr id="17447" name="Step 4 number"/>
          <p:cNvSpPr/>
          <p:nvPr/>
        </p:nvSpPr>
        <p:spPr>
          <a:xfrm>
            <a:off x="841248" y="3392424"/>
            <a:ext cx="237744" cy="237744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grpSp>
        <p:nvGrpSpPr>
          <p:cNvPr id="11" name="X-ray thumbnail"/>
          <p:cNvGrpSpPr/>
          <p:nvPr/>
        </p:nvGrpSpPr>
        <p:grpSpPr>
          <a:xfrm>
            <a:off x="1197864" y="3337560"/>
            <a:ext cx="284927" cy="347472"/>
            <a:chOff x="1197864" y="3337560"/>
            <a:chExt cx="284927" cy="347472"/>
          </a:xfrm>
        </p:grpSpPr>
        <p:sp>
          <p:nvSpPr>
            <p:cNvPr id="17448" name="Rounded Rectangle 17447"/>
            <p:cNvSpPr/>
            <p:nvPr/>
          </p:nvSpPr>
          <p:spPr>
            <a:xfrm>
              <a:off x="1197864" y="3337560"/>
              <a:ext cx="284927" cy="347472"/>
            </a:xfrm>
            <a:prstGeom prst="roundRect">
              <a:avLst>
                <a:gd name="adj" fmla="val 8000"/>
              </a:avLst>
            </a:prstGeom>
            <a:solidFill>
              <a:srgbClr val="0F2A47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49" name="Rectangle 17448"/>
            <p:cNvSpPr/>
            <p:nvPr/>
          </p:nvSpPr>
          <p:spPr>
            <a:xfrm>
              <a:off x="1331780" y="3382731"/>
              <a:ext cx="17096" cy="264079"/>
            </a:xfrm>
            <a:prstGeom prst="rect">
              <a:avLst/>
            </a:prstGeom>
            <a:solidFill>
              <a:srgbClr val="D6E2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450" name="Connector 17449"/>
            <p:cNvCxnSpPr/>
            <p:nvPr/>
          </p:nvCxnSpPr>
          <p:spPr>
            <a:xfrm flipH="1" flipV="1">
              <a:off x="1249151" y="3386206"/>
              <a:ext cx="76930" cy="10424"/>
            </a:xfrm>
            <a:prstGeom prst="line">
              <a:avLst/>
            </a:prstGeom>
            <a:ln w="9525">
              <a:solidFill>
                <a:srgbClr val="D6E2E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1" name="Connector 17450"/>
            <p:cNvCxnSpPr/>
            <p:nvPr/>
          </p:nvCxnSpPr>
          <p:spPr>
            <a:xfrm flipV="1">
              <a:off x="1354574" y="3386206"/>
              <a:ext cx="76930" cy="10424"/>
            </a:xfrm>
            <a:prstGeom prst="line">
              <a:avLst/>
            </a:prstGeom>
            <a:ln w="9525">
              <a:solidFill>
                <a:srgbClr val="D6E2E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 11"/>
            <p:cNvSpPr/>
            <p:nvPr/>
          </p:nvSpPr>
          <p:spPr>
            <a:xfrm>
              <a:off x="1249151" y="3427903"/>
              <a:ext cx="76930" cy="34747"/>
            </a:xfrm>
            <a:custGeom>
              <a:avLst/>
              <a:gdLst/>
              <a:ahLst/>
              <a:cxnLst/>
              <a:rect l="l" t="t" r="r" b="b"/>
              <a:pathLst>
                <a:path w="76930" h="34747">
                  <a:moveTo>
                    <a:pt x="76930" y="0"/>
                  </a:moveTo>
                  <a:lnTo>
                    <a:pt x="34191" y="10424"/>
                  </a:lnTo>
                  <a:lnTo>
                    <a:pt x="0" y="34747"/>
                  </a:lnTo>
                </a:path>
              </a:pathLst>
            </a:custGeom>
            <a:noFill/>
            <a:ln w="9525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1354574" y="3427903"/>
              <a:ext cx="76930" cy="34747"/>
            </a:xfrm>
            <a:custGeom>
              <a:avLst/>
              <a:gdLst/>
              <a:ahLst/>
              <a:cxnLst/>
              <a:rect l="l" t="t" r="r" b="b"/>
              <a:pathLst>
                <a:path w="76930" h="34747">
                  <a:moveTo>
                    <a:pt x="0" y="0"/>
                  </a:moveTo>
                  <a:lnTo>
                    <a:pt x="42739" y="10424"/>
                  </a:lnTo>
                  <a:lnTo>
                    <a:pt x="76930" y="34747"/>
                  </a:lnTo>
                </a:path>
              </a:pathLst>
            </a:custGeom>
            <a:noFill/>
            <a:ln w="9525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1249151" y="3473074"/>
              <a:ext cx="76930" cy="34747"/>
            </a:xfrm>
            <a:custGeom>
              <a:avLst/>
              <a:gdLst/>
              <a:ahLst/>
              <a:cxnLst/>
              <a:rect l="l" t="t" r="r" b="b"/>
              <a:pathLst>
                <a:path w="76930" h="34747">
                  <a:moveTo>
                    <a:pt x="76930" y="0"/>
                  </a:moveTo>
                  <a:lnTo>
                    <a:pt x="34191" y="10424"/>
                  </a:lnTo>
                  <a:lnTo>
                    <a:pt x="0" y="34747"/>
                  </a:lnTo>
                </a:path>
              </a:pathLst>
            </a:custGeom>
            <a:noFill/>
            <a:ln w="9525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1354574" y="3473074"/>
              <a:ext cx="76930" cy="34747"/>
            </a:xfrm>
            <a:custGeom>
              <a:avLst/>
              <a:gdLst/>
              <a:ahLst/>
              <a:cxnLst/>
              <a:rect l="l" t="t" r="r" b="b"/>
              <a:pathLst>
                <a:path w="76930" h="34747">
                  <a:moveTo>
                    <a:pt x="0" y="0"/>
                  </a:moveTo>
                  <a:lnTo>
                    <a:pt x="42739" y="10424"/>
                  </a:lnTo>
                  <a:lnTo>
                    <a:pt x="76930" y="34747"/>
                  </a:lnTo>
                </a:path>
              </a:pathLst>
            </a:custGeom>
            <a:noFill/>
            <a:ln w="9525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1249151" y="3518245"/>
              <a:ext cx="76930" cy="34748"/>
            </a:xfrm>
            <a:custGeom>
              <a:avLst/>
              <a:gdLst/>
              <a:ahLst/>
              <a:cxnLst/>
              <a:rect l="l" t="t" r="r" b="b"/>
              <a:pathLst>
                <a:path w="76930" h="34748">
                  <a:moveTo>
                    <a:pt x="76930" y="0"/>
                  </a:moveTo>
                  <a:lnTo>
                    <a:pt x="34191" y="10425"/>
                  </a:lnTo>
                  <a:lnTo>
                    <a:pt x="0" y="34748"/>
                  </a:lnTo>
                </a:path>
              </a:pathLst>
            </a:custGeom>
            <a:noFill/>
            <a:ln w="9525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354574" y="3518245"/>
              <a:ext cx="76930" cy="34748"/>
            </a:xfrm>
            <a:custGeom>
              <a:avLst/>
              <a:gdLst/>
              <a:ahLst/>
              <a:cxnLst/>
              <a:rect l="l" t="t" r="r" b="b"/>
              <a:pathLst>
                <a:path w="76930" h="34748">
                  <a:moveTo>
                    <a:pt x="0" y="0"/>
                  </a:moveTo>
                  <a:lnTo>
                    <a:pt x="42739" y="10425"/>
                  </a:lnTo>
                  <a:lnTo>
                    <a:pt x="76930" y="34748"/>
                  </a:lnTo>
                </a:path>
              </a:pathLst>
            </a:custGeom>
            <a:noFill/>
            <a:ln w="9525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249151" y="3563417"/>
              <a:ext cx="76930" cy="34747"/>
            </a:xfrm>
            <a:custGeom>
              <a:avLst/>
              <a:gdLst/>
              <a:ahLst/>
              <a:cxnLst/>
              <a:rect l="l" t="t" r="r" b="b"/>
              <a:pathLst>
                <a:path w="76930" h="34747">
                  <a:moveTo>
                    <a:pt x="76930" y="0"/>
                  </a:moveTo>
                  <a:lnTo>
                    <a:pt x="34191" y="10424"/>
                  </a:lnTo>
                  <a:lnTo>
                    <a:pt x="0" y="34747"/>
                  </a:lnTo>
                </a:path>
              </a:pathLst>
            </a:custGeom>
            <a:noFill/>
            <a:ln w="9525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354574" y="3563417"/>
              <a:ext cx="76930" cy="34747"/>
            </a:xfrm>
            <a:custGeom>
              <a:avLst/>
              <a:gdLst/>
              <a:ahLst/>
              <a:cxnLst/>
              <a:rect l="l" t="t" r="r" b="b"/>
              <a:pathLst>
                <a:path w="76930" h="34747">
                  <a:moveTo>
                    <a:pt x="0" y="0"/>
                  </a:moveTo>
                  <a:lnTo>
                    <a:pt x="42739" y="10424"/>
                  </a:lnTo>
                  <a:lnTo>
                    <a:pt x="76930" y="34747"/>
                  </a:lnTo>
                </a:path>
              </a:pathLst>
            </a:custGeom>
            <a:noFill/>
            <a:ln w="9525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452" name="Flow chevron"/>
          <p:cNvSpPr/>
          <p:nvPr/>
        </p:nvSpPr>
        <p:spPr>
          <a:xfrm rot="10800000">
            <a:off x="2747772" y="3762756"/>
            <a:ext cx="128016" cy="73152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Workspace step 5: Doctor review"/>
          <p:cNvSpPr/>
          <p:nvPr/>
        </p:nvSpPr>
        <p:spPr>
          <a:xfrm>
            <a:off x="777240" y="3858768"/>
            <a:ext cx="4069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32688" tIns="0" rIns="54864" bIns="0">
            <a:no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  <a:latin typeface="Arial"/>
              </a:rPr>
              <a:t>Doctor review</a:t>
            </a:r>
          </a:p>
          <a:p>
            <a:pPr algn="l"/>
            <a:r>
              <a:rPr sz="800" b="0" i="0">
                <a:solidFill>
                  <a:srgbClr val="4B5563"/>
                </a:solidFill>
                <a:latin typeface="Arial"/>
              </a:rPr>
              <a:t>only the assigned doctor sees the record</a:t>
            </a:r>
          </a:p>
        </p:txBody>
      </p:sp>
      <p:sp>
        <p:nvSpPr>
          <p:cNvPr id="17454" name="Step 5 number"/>
          <p:cNvSpPr/>
          <p:nvPr/>
        </p:nvSpPr>
        <p:spPr>
          <a:xfrm>
            <a:off x="841248" y="3968496"/>
            <a:ext cx="237744" cy="237744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grpSp>
        <p:nvGrpSpPr>
          <p:cNvPr id="20" name="Doctor illustration"/>
          <p:cNvGrpSpPr/>
          <p:nvPr/>
        </p:nvGrpSpPr>
        <p:grpSpPr>
          <a:xfrm>
            <a:off x="1190549" y="3922776"/>
            <a:ext cx="307238" cy="347472"/>
            <a:chOff x="1190549" y="3922776"/>
            <a:chExt cx="307238" cy="347472"/>
          </a:xfrm>
        </p:grpSpPr>
        <p:sp>
          <p:nvSpPr>
            <p:cNvPr id="21" name="Freeform 20"/>
            <p:cNvSpPr/>
            <p:nvPr/>
          </p:nvSpPr>
          <p:spPr>
            <a:xfrm>
              <a:off x="1190549" y="4096512"/>
              <a:ext cx="307238" cy="173736"/>
            </a:xfrm>
            <a:custGeom>
              <a:avLst/>
              <a:gdLst/>
              <a:ahLst/>
              <a:cxnLst/>
              <a:rect l="l" t="t" r="r" b="b"/>
              <a:pathLst>
                <a:path w="307238" h="173736">
                  <a:moveTo>
                    <a:pt x="0" y="173736"/>
                  </a:moveTo>
                  <a:lnTo>
                    <a:pt x="7315" y="100584"/>
                  </a:lnTo>
                  <a:lnTo>
                    <a:pt x="29261" y="51206"/>
                  </a:lnTo>
                  <a:lnTo>
                    <a:pt x="65837" y="18288"/>
                  </a:lnTo>
                  <a:lnTo>
                    <a:pt x="117043" y="0"/>
                  </a:lnTo>
                  <a:lnTo>
                    <a:pt x="190195" y="0"/>
                  </a:lnTo>
                  <a:lnTo>
                    <a:pt x="241401" y="18288"/>
                  </a:lnTo>
                  <a:lnTo>
                    <a:pt x="277977" y="51206"/>
                  </a:lnTo>
                  <a:lnTo>
                    <a:pt x="299923" y="100584"/>
                  </a:lnTo>
                  <a:lnTo>
                    <a:pt x="307238" y="173736"/>
                  </a:lnTo>
                  <a:close/>
                </a:path>
              </a:pathLst>
            </a:custGeom>
            <a:solidFill>
              <a:srgbClr val="FFFFFF"/>
            </a:solidFill>
            <a:ln w="1219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309421" y="4098341"/>
              <a:ext cx="69494" cy="65837"/>
            </a:xfrm>
            <a:custGeom>
              <a:avLst/>
              <a:gdLst/>
              <a:ahLst/>
              <a:cxnLst/>
              <a:rect l="l" t="t" r="r" b="b"/>
              <a:pathLst>
                <a:path w="69494" h="65837">
                  <a:moveTo>
                    <a:pt x="0" y="0"/>
                  </a:moveTo>
                  <a:lnTo>
                    <a:pt x="69494" y="0"/>
                  </a:lnTo>
                  <a:lnTo>
                    <a:pt x="34747" y="65837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455" name="Connector 17454"/>
            <p:cNvCxnSpPr/>
            <p:nvPr/>
          </p:nvCxnSpPr>
          <p:spPr>
            <a:xfrm>
              <a:off x="1307592" y="4098341"/>
              <a:ext cx="25603" cy="120701"/>
            </a:xfrm>
            <a:prstGeom prst="line">
              <a:avLst/>
            </a:prstGeom>
            <a:ln w="7315">
              <a:solidFill>
                <a:srgbClr val="003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6" name="Connector 17455"/>
            <p:cNvCxnSpPr/>
            <p:nvPr/>
          </p:nvCxnSpPr>
          <p:spPr>
            <a:xfrm flipH="1">
              <a:off x="1355141" y="4098341"/>
              <a:ext cx="25603" cy="120701"/>
            </a:xfrm>
            <a:prstGeom prst="line">
              <a:avLst/>
            </a:prstGeom>
            <a:ln w="7315">
              <a:solidFill>
                <a:srgbClr val="003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reeform 22"/>
            <p:cNvSpPr/>
            <p:nvPr/>
          </p:nvSpPr>
          <p:spPr>
            <a:xfrm>
              <a:off x="1265530" y="4105656"/>
              <a:ext cx="31089" cy="91440"/>
            </a:xfrm>
            <a:custGeom>
              <a:avLst/>
              <a:gdLst/>
              <a:ahLst/>
              <a:cxnLst/>
              <a:rect l="l" t="t" r="r" b="b"/>
              <a:pathLst>
                <a:path w="31089" h="91440">
                  <a:moveTo>
                    <a:pt x="31089" y="0"/>
                  </a:moveTo>
                  <a:lnTo>
                    <a:pt x="5486" y="32918"/>
                  </a:lnTo>
                  <a:lnTo>
                    <a:pt x="0" y="69494"/>
                  </a:lnTo>
                  <a:lnTo>
                    <a:pt x="9144" y="91440"/>
                  </a:lnTo>
                </a:path>
              </a:pathLst>
            </a:custGeom>
            <a:noFill/>
            <a:ln w="1219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7" name="Oval 17456"/>
            <p:cNvSpPr/>
            <p:nvPr/>
          </p:nvSpPr>
          <p:spPr>
            <a:xfrm>
              <a:off x="1256386" y="4187952"/>
              <a:ext cx="40234" cy="40234"/>
            </a:xfrm>
            <a:prstGeom prst="ellipse">
              <a:avLst/>
            </a:prstGeom>
            <a:solidFill>
              <a:srgbClr val="0070C0"/>
            </a:solidFill>
            <a:ln w="731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8" name="Cross 17457"/>
            <p:cNvSpPr/>
            <p:nvPr/>
          </p:nvSpPr>
          <p:spPr>
            <a:xfrm>
              <a:off x="1400861" y="4176979"/>
              <a:ext cx="40234" cy="40234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59" name="Oval 17458"/>
            <p:cNvSpPr/>
            <p:nvPr/>
          </p:nvSpPr>
          <p:spPr>
            <a:xfrm>
              <a:off x="1278331" y="3922776"/>
              <a:ext cx="131674" cy="149962"/>
            </a:xfrm>
            <a:prstGeom prst="ellipse">
              <a:avLst/>
            </a:prstGeom>
            <a:solidFill>
              <a:srgbClr val="FFFFFF"/>
            </a:solidFill>
            <a:ln w="1219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460" name="Flow chevron"/>
          <p:cNvSpPr/>
          <p:nvPr/>
        </p:nvSpPr>
        <p:spPr>
          <a:xfrm rot="10800000">
            <a:off x="2747772" y="4338828"/>
            <a:ext cx="128016" cy="73152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Workspace step 6: Clinical assessment"/>
          <p:cNvSpPr/>
          <p:nvPr/>
        </p:nvSpPr>
        <p:spPr>
          <a:xfrm>
            <a:off x="777240" y="4434840"/>
            <a:ext cx="4069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32688" tIns="0" rIns="54864" bIns="0">
            <a:no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  <a:latin typeface="Arial"/>
              </a:rPr>
              <a:t>Clinical assessment</a:t>
            </a:r>
          </a:p>
          <a:p>
            <a:pPr algn="l"/>
            <a:r>
              <a:rPr sz="800" b="0" i="0">
                <a:solidFill>
                  <a:srgbClr val="4B5563"/>
                </a:solidFill>
                <a:latin typeface="Arial"/>
              </a:rPr>
              <a:t>the doctor's own reports and notes, versioned</a:t>
            </a:r>
          </a:p>
        </p:txBody>
      </p:sp>
      <p:sp>
        <p:nvSpPr>
          <p:cNvPr id="17462" name="Step 6 number"/>
          <p:cNvSpPr/>
          <p:nvPr/>
        </p:nvSpPr>
        <p:spPr>
          <a:xfrm>
            <a:off x="841248" y="4544568"/>
            <a:ext cx="237744" cy="237744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grpSp>
        <p:nvGrpSpPr>
          <p:cNvPr id="24" name="Clinical note illustration"/>
          <p:cNvGrpSpPr/>
          <p:nvPr/>
        </p:nvGrpSpPr>
        <p:grpSpPr>
          <a:xfrm>
            <a:off x="1197864" y="4489704"/>
            <a:ext cx="284927" cy="347472"/>
            <a:chOff x="1197864" y="4489704"/>
            <a:chExt cx="284927" cy="347472"/>
          </a:xfrm>
        </p:grpSpPr>
        <p:sp>
          <p:nvSpPr>
            <p:cNvPr id="17463" name="Rounded Rectangle 17462"/>
            <p:cNvSpPr/>
            <p:nvPr/>
          </p:nvSpPr>
          <p:spPr>
            <a:xfrm>
              <a:off x="1197864" y="4489704"/>
              <a:ext cx="284927" cy="347472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158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4" name="Rectangle 17463"/>
            <p:cNvSpPr/>
            <p:nvPr/>
          </p:nvSpPr>
          <p:spPr>
            <a:xfrm>
              <a:off x="1237754" y="4531401"/>
              <a:ext cx="142464" cy="27798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5" name="Rectangle 17464"/>
            <p:cNvSpPr/>
            <p:nvPr/>
          </p:nvSpPr>
          <p:spPr>
            <a:xfrm>
              <a:off x="1237754" y="4593946"/>
              <a:ext cx="205147" cy="15636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6" name="Rectangle 17465"/>
            <p:cNvSpPr/>
            <p:nvPr/>
          </p:nvSpPr>
          <p:spPr>
            <a:xfrm>
              <a:off x="1237754" y="4635642"/>
              <a:ext cx="182353" cy="15636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7" name="Rectangle 17466"/>
            <p:cNvSpPr/>
            <p:nvPr/>
          </p:nvSpPr>
          <p:spPr>
            <a:xfrm>
              <a:off x="1237754" y="4677339"/>
              <a:ext cx="199449" cy="15636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68" name="Rectangle 17467"/>
            <p:cNvSpPr/>
            <p:nvPr/>
          </p:nvSpPr>
          <p:spPr>
            <a:xfrm>
              <a:off x="1237754" y="4719036"/>
              <a:ext cx="148162" cy="15636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340328" y="4691238"/>
              <a:ext cx="125367" cy="152887"/>
            </a:xfrm>
            <a:custGeom>
              <a:avLst/>
              <a:gdLst/>
              <a:ahLst/>
              <a:cxnLst/>
              <a:rect l="l" t="t" r="r" b="b"/>
              <a:pathLst>
                <a:path w="125367" h="152887">
                  <a:moveTo>
                    <a:pt x="5698" y="118140"/>
                  </a:moveTo>
                  <a:lnTo>
                    <a:pt x="102573" y="0"/>
                  </a:lnTo>
                  <a:lnTo>
                    <a:pt x="125367" y="27798"/>
                  </a:lnTo>
                  <a:lnTo>
                    <a:pt x="28492" y="145938"/>
                  </a:lnTo>
                  <a:lnTo>
                    <a:pt x="0" y="152887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469" name="Flow chevron"/>
          <p:cNvSpPr/>
          <p:nvPr/>
        </p:nvSpPr>
        <p:spPr>
          <a:xfrm rot="10800000">
            <a:off x="2747772" y="4914900"/>
            <a:ext cx="128016" cy="73152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0" name="Workspace step 7: Prescription draft"/>
          <p:cNvSpPr/>
          <p:nvPr/>
        </p:nvSpPr>
        <p:spPr>
          <a:xfrm>
            <a:off x="777240" y="5010912"/>
            <a:ext cx="4069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32688" tIns="0" rIns="54864" bIns="0">
            <a:no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  <a:latin typeface="Arial"/>
              </a:rPr>
              <a:t>Prescription draft</a:t>
            </a:r>
          </a:p>
          <a:p>
            <a:pPr algn="l"/>
            <a:r>
              <a:rPr sz="800" b="0" i="0">
                <a:solidFill>
                  <a:srgbClr val="4B5563"/>
                </a:solidFill>
                <a:latin typeface="Arial"/>
              </a:rPr>
              <a:t>catalogue product; dose and timing by the doctor</a:t>
            </a:r>
          </a:p>
        </p:txBody>
      </p:sp>
      <p:sp>
        <p:nvSpPr>
          <p:cNvPr id="17471" name="Step 7 number"/>
          <p:cNvSpPr/>
          <p:nvPr/>
        </p:nvSpPr>
        <p:spPr>
          <a:xfrm>
            <a:off x="841248" y="5120640"/>
            <a:ext cx="237744" cy="237744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grpSp>
        <p:nvGrpSpPr>
          <p:cNvPr id="26" name="Prescription draft illustration"/>
          <p:cNvGrpSpPr/>
          <p:nvPr/>
        </p:nvGrpSpPr>
        <p:grpSpPr>
          <a:xfrm>
            <a:off x="1197864" y="5065776"/>
            <a:ext cx="284927" cy="347472"/>
            <a:chOff x="1197864" y="5065776"/>
            <a:chExt cx="284927" cy="347472"/>
          </a:xfrm>
        </p:grpSpPr>
        <p:sp>
          <p:nvSpPr>
            <p:cNvPr id="17472" name="Rounded Rectangle 17471"/>
            <p:cNvSpPr/>
            <p:nvPr/>
          </p:nvSpPr>
          <p:spPr>
            <a:xfrm>
              <a:off x="1197864" y="5065776"/>
              <a:ext cx="284927" cy="347472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1582">
              <a:solidFill>
                <a:srgbClr val="D9770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3" name="TextBox 17472"/>
            <p:cNvSpPr txBox="1"/>
            <p:nvPr/>
          </p:nvSpPr>
          <p:spPr>
            <a:xfrm>
              <a:off x="1220658" y="5072725"/>
              <a:ext cx="176655" cy="13898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800" b="1" i="1">
                  <a:solidFill>
                    <a:srgbClr val="003366"/>
                  </a:solidFill>
                  <a:latin typeface="Times New Roman"/>
                </a:rPr>
                <a:t>Rx</a:t>
              </a:r>
            </a:p>
          </p:txBody>
        </p:sp>
        <p:sp>
          <p:nvSpPr>
            <p:cNvPr id="17474" name="Rectangle 17473"/>
            <p:cNvSpPr/>
            <p:nvPr/>
          </p:nvSpPr>
          <p:spPr>
            <a:xfrm>
              <a:off x="1232055" y="5211714"/>
              <a:ext cx="205147" cy="15636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5" name="Rectangle 17474"/>
            <p:cNvSpPr/>
            <p:nvPr/>
          </p:nvSpPr>
          <p:spPr>
            <a:xfrm>
              <a:off x="1232055" y="5249936"/>
              <a:ext cx="170956" cy="15636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6" name="Rectangle 17475"/>
            <p:cNvSpPr/>
            <p:nvPr/>
          </p:nvSpPr>
          <p:spPr>
            <a:xfrm>
              <a:off x="1232055" y="5288158"/>
              <a:ext cx="188052" cy="15636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77" name="Draft tag"/>
            <p:cNvSpPr/>
            <p:nvPr/>
          </p:nvSpPr>
          <p:spPr>
            <a:xfrm>
              <a:off x="1217809" y="5322905"/>
              <a:ext cx="245037" cy="79919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 w="9525">
              <a:solidFill>
                <a:srgbClr val="D9770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 lIns="0" tIns="0" rIns="0" bIns="0">
              <a:noAutofit/>
            </a:bodyPr>
            <a:lstStyle/>
            <a:p>
              <a:pPr algn="ctr"/>
              <a:r>
                <a:rPr sz="500" b="1" i="0">
                  <a:solidFill>
                    <a:srgbClr val="B45309"/>
                  </a:solidFill>
                  <a:latin typeface="Arial"/>
                </a:rPr>
                <a:t>DRAFT</a:t>
              </a:r>
            </a:p>
          </p:txBody>
        </p:sp>
      </p:grpSp>
      <p:sp>
        <p:nvSpPr>
          <p:cNvPr id="17478" name="Flow chevron"/>
          <p:cNvSpPr/>
          <p:nvPr/>
        </p:nvSpPr>
        <p:spPr>
          <a:xfrm rot="10800000">
            <a:off x="2747772" y="5490972"/>
            <a:ext cx="128016" cy="73152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9" name="Workspace step 8: Clinician authorisation"/>
          <p:cNvSpPr/>
          <p:nvPr/>
        </p:nvSpPr>
        <p:spPr>
          <a:xfrm>
            <a:off x="777240" y="5586984"/>
            <a:ext cx="4069080" cy="4572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32688" tIns="0" rIns="54864" bIns="0">
            <a:no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  <a:latin typeface="Arial"/>
              </a:rPr>
              <a:t>Clinician authorisation</a:t>
            </a:r>
          </a:p>
          <a:p>
            <a:pPr algn="l"/>
            <a:r>
              <a:rPr sz="800" b="0" i="0">
                <a:solidFill>
                  <a:srgbClr val="4B5563"/>
                </a:solidFill>
                <a:latin typeface="Arial"/>
              </a:rPr>
              <a:t>explicit attestation of the reviewed version</a:t>
            </a:r>
          </a:p>
        </p:txBody>
      </p:sp>
      <p:sp>
        <p:nvSpPr>
          <p:cNvPr id="17480" name="Step 8 number"/>
          <p:cNvSpPr/>
          <p:nvPr/>
        </p:nvSpPr>
        <p:spPr>
          <a:xfrm>
            <a:off x="841248" y="5696712"/>
            <a:ext cx="237744" cy="237744"/>
          </a:xfrm>
          <a:prstGeom prst="ellipse">
            <a:avLst/>
          </a:prstGeom>
          <a:solidFill>
            <a:srgbClr val="0070C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grpSp>
        <p:nvGrpSpPr>
          <p:cNvPr id="27" name="Prescription authorised illustration"/>
          <p:cNvGrpSpPr/>
          <p:nvPr/>
        </p:nvGrpSpPr>
        <p:grpSpPr>
          <a:xfrm>
            <a:off x="1197864" y="5641848"/>
            <a:ext cx="287011" cy="347472"/>
            <a:chOff x="1197864" y="5641848"/>
            <a:chExt cx="287011" cy="347472"/>
          </a:xfrm>
        </p:grpSpPr>
        <p:sp>
          <p:nvSpPr>
            <p:cNvPr id="17481" name="Rounded Rectangle 17480"/>
            <p:cNvSpPr/>
            <p:nvPr/>
          </p:nvSpPr>
          <p:spPr>
            <a:xfrm>
              <a:off x="1197864" y="5641848"/>
              <a:ext cx="284927" cy="347472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158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82" name="TextBox 17481"/>
            <p:cNvSpPr txBox="1"/>
            <p:nvPr/>
          </p:nvSpPr>
          <p:spPr>
            <a:xfrm>
              <a:off x="1220658" y="5648797"/>
              <a:ext cx="176655" cy="13898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800" b="1" i="1">
                  <a:solidFill>
                    <a:srgbClr val="003366"/>
                  </a:solidFill>
                  <a:latin typeface="Times New Roman"/>
                </a:rPr>
                <a:t>Rx</a:t>
              </a:r>
            </a:p>
          </p:txBody>
        </p:sp>
        <p:sp>
          <p:nvSpPr>
            <p:cNvPr id="17483" name="Rectangle 17482"/>
            <p:cNvSpPr/>
            <p:nvPr/>
          </p:nvSpPr>
          <p:spPr>
            <a:xfrm>
              <a:off x="1232055" y="5787786"/>
              <a:ext cx="205147" cy="15636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84" name="Rectangle 17483"/>
            <p:cNvSpPr/>
            <p:nvPr/>
          </p:nvSpPr>
          <p:spPr>
            <a:xfrm>
              <a:off x="1232055" y="5826008"/>
              <a:ext cx="170956" cy="15636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85" name="Rectangle 17484"/>
            <p:cNvSpPr/>
            <p:nvPr/>
          </p:nvSpPr>
          <p:spPr>
            <a:xfrm>
              <a:off x="1232055" y="5864230"/>
              <a:ext cx="188052" cy="15636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1232055" y="5912876"/>
              <a:ext cx="113971" cy="34747"/>
            </a:xfrm>
            <a:custGeom>
              <a:avLst/>
              <a:gdLst/>
              <a:ahLst/>
              <a:cxnLst/>
              <a:rect l="l" t="t" r="r" b="b"/>
              <a:pathLst>
                <a:path w="113971" h="34747">
                  <a:moveTo>
                    <a:pt x="0" y="27798"/>
                  </a:moveTo>
                  <a:lnTo>
                    <a:pt x="22794" y="0"/>
                  </a:lnTo>
                  <a:lnTo>
                    <a:pt x="39890" y="34747"/>
                  </a:lnTo>
                  <a:lnTo>
                    <a:pt x="59835" y="3475"/>
                  </a:lnTo>
                  <a:lnTo>
                    <a:pt x="79780" y="31273"/>
                  </a:lnTo>
                  <a:lnTo>
                    <a:pt x="113971" y="13899"/>
                  </a:lnTo>
                </a:path>
              </a:pathLst>
            </a:custGeom>
            <a:noFill/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486" name="Connector 17485"/>
            <p:cNvCxnSpPr/>
            <p:nvPr/>
          </p:nvCxnSpPr>
          <p:spPr>
            <a:xfrm>
              <a:off x="1226357" y="5958048"/>
              <a:ext cx="148162" cy="0"/>
            </a:xfrm>
            <a:prstGeom prst="line">
              <a:avLst/>
            </a:prstGeom>
            <a:ln w="6350">
              <a:solidFill>
                <a:srgbClr val="4B556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Badge ok"/>
            <p:cNvGrpSpPr/>
            <p:nvPr/>
          </p:nvGrpSpPr>
          <p:grpSpPr>
            <a:xfrm>
              <a:off x="1366735" y="5867705"/>
              <a:ext cx="118140" cy="118140"/>
              <a:chOff x="1366735" y="5867705"/>
              <a:chExt cx="118140" cy="118140"/>
            </a:xfrm>
          </p:grpSpPr>
          <p:sp>
            <p:nvSpPr>
              <p:cNvPr id="17487" name="Oval 17486"/>
              <p:cNvSpPr/>
              <p:nvPr/>
            </p:nvSpPr>
            <p:spPr>
              <a:xfrm>
                <a:off x="1366735" y="5867705"/>
                <a:ext cx="118140" cy="118140"/>
              </a:xfrm>
              <a:prstGeom prst="ellipse">
                <a:avLst/>
              </a:prstGeom>
              <a:solidFill>
                <a:srgbClr val="16A34A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Freeform 29"/>
              <p:cNvSpPr/>
              <p:nvPr/>
            </p:nvSpPr>
            <p:spPr>
              <a:xfrm>
                <a:off x="1397452" y="5906691"/>
                <a:ext cx="57889" cy="43712"/>
              </a:xfrm>
              <a:custGeom>
                <a:avLst/>
                <a:gdLst/>
                <a:ahLst/>
                <a:cxnLst/>
                <a:rect l="l" t="t" r="r" b="b"/>
                <a:pathLst>
                  <a:path w="57889" h="43712">
                    <a:moveTo>
                      <a:pt x="0" y="23628"/>
                    </a:moveTo>
                    <a:lnTo>
                      <a:pt x="20084" y="43712"/>
                    </a:lnTo>
                    <a:lnTo>
                      <a:pt x="57889" y="0"/>
                    </a:lnTo>
                  </a:path>
                </a:pathLst>
              </a:custGeom>
              <a:noFill/>
              <a:ln w="15587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17488" name="Pre-hospital record detail"/>
          <p:cNvSpPr/>
          <p:nvPr/>
        </p:nvSpPr>
        <p:spPr>
          <a:xfrm>
            <a:off x="5303520" y="1554480"/>
            <a:ext cx="6108192" cy="1609344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81328" tIns="54864" bIns="54864">
            <a:noAutofit/>
          </a:bodyPr>
          <a:lstStyle/>
          <a:p>
            <a:pPr algn="l"/>
            <a:r>
              <a:rPr sz="900" b="1" i="0">
                <a:solidFill>
                  <a:srgbClr val="003366"/>
                </a:solidFill>
                <a:latin typeface="Arial"/>
              </a:rPr>
              <a:t>PRE-HOSPITAL RECORD</a:t>
            </a:r>
            <a:r>
              <a:rPr sz="800" b="0" i="0">
                <a:solidFill>
                  <a:srgbClr val="4B5563"/>
                </a:solidFill>
                <a:latin typeface="Arial"/>
              </a:rPr>
              <a:t>  written by the attending crew</a:t>
            </a:r>
          </a:p>
          <a:p>
            <a:pPr algn="l">
              <a:spcBef>
                <a:spcPts val="300"/>
              </a:spcBef>
            </a:pPr>
            <a:r>
              <a:rPr sz="850" b="0" i="0">
                <a:solidFill>
                  <a:srgbClr val="1F2937"/>
                </a:solidFill>
                <a:latin typeface="Arial"/>
              </a:rPr>
              <a:t>• Symptoms, free-text description and onset time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1F2937"/>
                </a:solidFill>
                <a:latin typeface="Arial"/>
              </a:rPr>
              <a:t>• Vital signs typed in with time, source and a quality flag; a reason for any not taken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1F2937"/>
                </a:solidFill>
                <a:latin typeface="Arial"/>
              </a:rPr>
              <a:t>• Goes to the assigned doctor and the patient only — never to dispatch or routing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1F2937"/>
                </a:solidFill>
                <a:latin typeface="Arial"/>
              </a:rPr>
              <a:t>• No device integration; a labelled simulator exists in demo mode only</a:t>
            </a:r>
          </a:p>
        </p:txBody>
      </p:sp>
      <p:grpSp>
        <p:nvGrpSpPr>
          <p:cNvPr id="31" name="Ambulance illustration"/>
          <p:cNvGrpSpPr/>
          <p:nvPr/>
        </p:nvGrpSpPr>
        <p:grpSpPr>
          <a:xfrm>
            <a:off x="5468112" y="2231868"/>
            <a:ext cx="576072" cy="307786"/>
            <a:chOff x="5468112" y="2231868"/>
            <a:chExt cx="576072" cy="307786"/>
          </a:xfrm>
        </p:grpSpPr>
        <p:sp>
          <p:nvSpPr>
            <p:cNvPr id="17489" name="Rounded Rectangle 17488"/>
            <p:cNvSpPr/>
            <p:nvPr/>
          </p:nvSpPr>
          <p:spPr>
            <a:xfrm>
              <a:off x="5635173" y="2231868"/>
              <a:ext cx="74889" cy="36210"/>
            </a:xfrm>
            <a:prstGeom prst="roundRect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0" name="Rounded Rectangle 17489"/>
            <p:cNvSpPr/>
            <p:nvPr/>
          </p:nvSpPr>
          <p:spPr>
            <a:xfrm>
              <a:off x="5468112" y="2264786"/>
              <a:ext cx="371566" cy="220553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097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5825277" y="2324039"/>
              <a:ext cx="218907" cy="161300"/>
            </a:xfrm>
            <a:custGeom>
              <a:avLst/>
              <a:gdLst/>
              <a:ahLst/>
              <a:cxnLst/>
              <a:rect l="l" t="t" r="r" b="b"/>
              <a:pathLst>
                <a:path w="218907" h="161300">
                  <a:moveTo>
                    <a:pt x="0" y="0"/>
                  </a:moveTo>
                  <a:lnTo>
                    <a:pt x="103693" y="0"/>
                  </a:lnTo>
                  <a:lnTo>
                    <a:pt x="192984" y="69129"/>
                  </a:lnTo>
                  <a:lnTo>
                    <a:pt x="218907" y="82296"/>
                  </a:lnTo>
                  <a:lnTo>
                    <a:pt x="218907" y="161300"/>
                  </a:lnTo>
                  <a:lnTo>
                    <a:pt x="0" y="161300"/>
                  </a:lnTo>
                  <a:close/>
                </a:path>
              </a:pathLst>
            </a:custGeom>
            <a:solidFill>
              <a:srgbClr val="FFFFFF"/>
            </a:solidFill>
            <a:ln w="10972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5859841" y="2345436"/>
              <a:ext cx="123855" cy="51024"/>
            </a:xfrm>
            <a:custGeom>
              <a:avLst/>
              <a:gdLst/>
              <a:ahLst/>
              <a:cxnLst/>
              <a:rect l="l" t="t" r="r" b="b"/>
              <a:pathLst>
                <a:path w="123855" h="51024">
                  <a:moveTo>
                    <a:pt x="0" y="0"/>
                  </a:moveTo>
                  <a:lnTo>
                    <a:pt x="60488" y="0"/>
                  </a:lnTo>
                  <a:lnTo>
                    <a:pt x="123855" y="51024"/>
                  </a:lnTo>
                  <a:lnTo>
                    <a:pt x="0" y="51024"/>
                  </a:lnTo>
                  <a:close/>
                </a:path>
              </a:pathLst>
            </a:cu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1" name="Rectangle 17490"/>
            <p:cNvSpPr/>
            <p:nvPr/>
          </p:nvSpPr>
          <p:spPr>
            <a:xfrm>
              <a:off x="5471568" y="2419502"/>
              <a:ext cx="569159" cy="2139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2" name="Cross 17491"/>
            <p:cNvSpPr/>
            <p:nvPr/>
          </p:nvSpPr>
          <p:spPr>
            <a:xfrm>
              <a:off x="5603077" y="2294412"/>
              <a:ext cx="98755" cy="98755"/>
            </a:xfrm>
            <a:prstGeom prst="plus">
              <a:avLst>
                <a:gd name="adj" fmla="val 30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3" name="Oval 17492"/>
            <p:cNvSpPr/>
            <p:nvPr/>
          </p:nvSpPr>
          <p:spPr>
            <a:xfrm>
              <a:off x="5535595" y="2444191"/>
              <a:ext cx="95463" cy="95463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4" name="Oval 17493"/>
            <p:cNvSpPr/>
            <p:nvPr/>
          </p:nvSpPr>
          <p:spPr>
            <a:xfrm>
              <a:off x="5565221" y="2473818"/>
              <a:ext cx="36210" cy="362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5" name="Oval 17494"/>
            <p:cNvSpPr/>
            <p:nvPr/>
          </p:nvSpPr>
          <p:spPr>
            <a:xfrm>
              <a:off x="5875477" y="2444191"/>
              <a:ext cx="95463" cy="95463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6" name="Oval 17495"/>
            <p:cNvSpPr/>
            <p:nvPr/>
          </p:nvSpPr>
          <p:spPr>
            <a:xfrm>
              <a:off x="5905104" y="2473818"/>
              <a:ext cx="36210" cy="362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" name="Intake card illustration"/>
          <p:cNvGrpSpPr/>
          <p:nvPr/>
        </p:nvGrpSpPr>
        <p:grpSpPr>
          <a:xfrm>
            <a:off x="6126787" y="2084832"/>
            <a:ext cx="427690" cy="566928"/>
            <a:chOff x="6126787" y="2084832"/>
            <a:chExt cx="427690" cy="566928"/>
          </a:xfrm>
        </p:grpSpPr>
        <p:sp>
          <p:nvSpPr>
            <p:cNvPr id="17497" name="Rounded Rectangle 17496"/>
            <p:cNvSpPr/>
            <p:nvPr/>
          </p:nvSpPr>
          <p:spPr>
            <a:xfrm>
              <a:off x="6126787" y="2124517"/>
              <a:ext cx="427690" cy="527243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8897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8" name="Rounded Rectangle 17497"/>
            <p:cNvSpPr/>
            <p:nvPr/>
          </p:nvSpPr>
          <p:spPr>
            <a:xfrm>
              <a:off x="6247656" y="2084832"/>
              <a:ext cx="185952" cy="79370"/>
            </a:xfrm>
            <a:prstGeom prst="roundRect">
              <a:avLst>
                <a:gd name="adj" fmla="val 30000"/>
              </a:avLst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99" name="Heart 17498"/>
            <p:cNvSpPr/>
            <p:nvPr/>
          </p:nvSpPr>
          <p:spPr>
            <a:xfrm>
              <a:off x="6171575" y="2223729"/>
              <a:ext cx="96378" cy="86740"/>
            </a:xfrm>
            <a:prstGeom prst="hear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6294144" y="2215225"/>
              <a:ext cx="213846" cy="119055"/>
            </a:xfrm>
            <a:custGeom>
              <a:avLst/>
              <a:gdLst/>
              <a:ahLst/>
              <a:cxnLst/>
              <a:rect l="l" t="t" r="r" b="b"/>
              <a:pathLst>
                <a:path w="213846" h="119055">
                  <a:moveTo>
                    <a:pt x="0" y="59528"/>
                  </a:moveTo>
                  <a:lnTo>
                    <a:pt x="46488" y="59528"/>
                  </a:lnTo>
                  <a:lnTo>
                    <a:pt x="69733" y="0"/>
                  </a:lnTo>
                  <a:lnTo>
                    <a:pt x="97625" y="119055"/>
                  </a:lnTo>
                  <a:lnTo>
                    <a:pt x="120869" y="59528"/>
                  </a:lnTo>
                  <a:lnTo>
                    <a:pt x="213846" y="59528"/>
                  </a:lnTo>
                </a:path>
              </a:pathLst>
            </a:custGeom>
            <a:noFill/>
            <a:ln w="17007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00" name="Rectangle 17499"/>
            <p:cNvSpPr/>
            <p:nvPr/>
          </p:nvSpPr>
          <p:spPr>
            <a:xfrm>
              <a:off x="6182573" y="2402312"/>
              <a:ext cx="316119" cy="28346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01" name="Rectangle 17500"/>
            <p:cNvSpPr/>
            <p:nvPr/>
          </p:nvSpPr>
          <p:spPr>
            <a:xfrm>
              <a:off x="6182573" y="2476012"/>
              <a:ext cx="260333" cy="28346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02" name="Rectangle 17501"/>
            <p:cNvSpPr/>
            <p:nvPr/>
          </p:nvSpPr>
          <p:spPr>
            <a:xfrm>
              <a:off x="6182573" y="2549713"/>
              <a:ext cx="288226" cy="28346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7503" name="Connector 17502"/>
          <p:cNvCxnSpPr/>
          <p:nvPr/>
        </p:nvCxnSpPr>
        <p:spPr>
          <a:xfrm>
            <a:off x="4864608" y="1783080"/>
            <a:ext cx="420624" cy="0"/>
          </a:xfrm>
          <a:prstGeom prst="line">
            <a:avLst/>
          </a:prstGeom>
          <a:ln w="1587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04" name="Connector 17503"/>
          <p:cNvCxnSpPr/>
          <p:nvPr/>
        </p:nvCxnSpPr>
        <p:spPr>
          <a:xfrm>
            <a:off x="4864608" y="2935224"/>
            <a:ext cx="420624" cy="0"/>
          </a:xfrm>
          <a:prstGeom prst="line">
            <a:avLst/>
          </a:prstGeom>
          <a:ln w="15875">
            <a:solidFill>
              <a:srgbClr val="0070C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5" name="Clinical documents detail"/>
          <p:cNvSpPr/>
          <p:nvPr/>
        </p:nvSpPr>
        <p:spPr>
          <a:xfrm>
            <a:off x="5303520" y="3282696"/>
            <a:ext cx="6108192" cy="1271016"/>
          </a:xfrm>
          <a:prstGeom prst="roundRect">
            <a:avLst>
              <a:gd name="adj" fmla="val 10071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6" name="TextBox 17505"/>
          <p:cNvSpPr txBox="1"/>
          <p:nvPr/>
        </p:nvSpPr>
        <p:spPr>
          <a:xfrm>
            <a:off x="5449824" y="3328416"/>
            <a:ext cx="57607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003366"/>
                </a:solidFill>
                <a:latin typeface="Arial"/>
              </a:rPr>
              <a:t>CLINICAL DOCUMENTS</a:t>
            </a:r>
            <a:r>
              <a:rPr sz="800" b="0" i="0">
                <a:solidFill>
                  <a:srgbClr val="4B5563"/>
                </a:solidFill>
                <a:latin typeface="Arial"/>
              </a:rPr>
              <a:t>  typed uploads, verified by size, SHA-256 and file type; new versions keep the old one</a:t>
            </a:r>
          </a:p>
        </p:txBody>
      </p:sp>
      <p:grpSp>
        <p:nvGrpSpPr>
          <p:cNvPr id="36" name="X-ray thumbnail"/>
          <p:cNvGrpSpPr/>
          <p:nvPr/>
        </p:nvGrpSpPr>
        <p:grpSpPr>
          <a:xfrm>
            <a:off x="5855452" y="3593592"/>
            <a:ext cx="389900" cy="475488"/>
            <a:chOff x="5855452" y="3593592"/>
            <a:chExt cx="389900" cy="475488"/>
          </a:xfrm>
        </p:grpSpPr>
        <p:sp>
          <p:nvSpPr>
            <p:cNvPr id="17507" name="Rounded Rectangle 17506"/>
            <p:cNvSpPr/>
            <p:nvPr/>
          </p:nvSpPr>
          <p:spPr>
            <a:xfrm>
              <a:off x="5855452" y="3593592"/>
              <a:ext cx="389900" cy="475488"/>
            </a:xfrm>
            <a:prstGeom prst="roundRect">
              <a:avLst>
                <a:gd name="adj" fmla="val 8000"/>
              </a:avLst>
            </a:prstGeom>
            <a:solidFill>
              <a:srgbClr val="0F2A47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08" name="Rectangle 17507"/>
            <p:cNvSpPr/>
            <p:nvPr/>
          </p:nvSpPr>
          <p:spPr>
            <a:xfrm>
              <a:off x="6038705" y="3655405"/>
              <a:ext cx="23394" cy="361371"/>
            </a:xfrm>
            <a:prstGeom prst="rect">
              <a:avLst/>
            </a:prstGeom>
            <a:solidFill>
              <a:srgbClr val="D6E2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509" name="Connector 17508"/>
            <p:cNvCxnSpPr/>
            <p:nvPr/>
          </p:nvCxnSpPr>
          <p:spPr>
            <a:xfrm flipH="1" flipV="1">
              <a:off x="5925634" y="3660160"/>
              <a:ext cx="105273" cy="14265"/>
            </a:xfrm>
            <a:prstGeom prst="line">
              <a:avLst/>
            </a:prstGeom>
            <a:ln w="10566">
              <a:solidFill>
                <a:srgbClr val="D6E2E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0" name="Connector 17509"/>
            <p:cNvCxnSpPr/>
            <p:nvPr/>
          </p:nvCxnSpPr>
          <p:spPr>
            <a:xfrm flipV="1">
              <a:off x="6069897" y="3660160"/>
              <a:ext cx="105273" cy="14265"/>
            </a:xfrm>
            <a:prstGeom prst="line">
              <a:avLst/>
            </a:prstGeom>
            <a:ln w="10566">
              <a:solidFill>
                <a:srgbClr val="D6E2E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reeform 36"/>
            <p:cNvSpPr/>
            <p:nvPr/>
          </p:nvSpPr>
          <p:spPr>
            <a:xfrm>
              <a:off x="5925634" y="3717219"/>
              <a:ext cx="105273" cy="47549"/>
            </a:xfrm>
            <a:custGeom>
              <a:avLst/>
              <a:gdLst/>
              <a:ahLst/>
              <a:cxnLst/>
              <a:rect l="l" t="t" r="r" b="b"/>
              <a:pathLst>
                <a:path w="105273" h="47549">
                  <a:moveTo>
                    <a:pt x="105273" y="0"/>
                  </a:moveTo>
                  <a:lnTo>
                    <a:pt x="46788" y="14265"/>
                  </a:lnTo>
                  <a:lnTo>
                    <a:pt x="0" y="47549"/>
                  </a:lnTo>
                </a:path>
              </a:pathLst>
            </a:custGeom>
            <a:noFill/>
            <a:ln w="10566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6069897" y="3717219"/>
              <a:ext cx="105273" cy="47549"/>
            </a:xfrm>
            <a:custGeom>
              <a:avLst/>
              <a:gdLst/>
              <a:ahLst/>
              <a:cxnLst/>
              <a:rect l="l" t="t" r="r" b="b"/>
              <a:pathLst>
                <a:path w="105273" h="47549">
                  <a:moveTo>
                    <a:pt x="0" y="0"/>
                  </a:moveTo>
                  <a:lnTo>
                    <a:pt x="58485" y="14265"/>
                  </a:lnTo>
                  <a:lnTo>
                    <a:pt x="105273" y="47549"/>
                  </a:lnTo>
                </a:path>
              </a:pathLst>
            </a:custGeom>
            <a:noFill/>
            <a:ln w="10566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5925634" y="3779032"/>
              <a:ext cx="105273" cy="47549"/>
            </a:xfrm>
            <a:custGeom>
              <a:avLst/>
              <a:gdLst/>
              <a:ahLst/>
              <a:cxnLst/>
              <a:rect l="l" t="t" r="r" b="b"/>
              <a:pathLst>
                <a:path w="105273" h="47549">
                  <a:moveTo>
                    <a:pt x="105273" y="0"/>
                  </a:moveTo>
                  <a:lnTo>
                    <a:pt x="46788" y="14265"/>
                  </a:lnTo>
                  <a:lnTo>
                    <a:pt x="0" y="47549"/>
                  </a:lnTo>
                </a:path>
              </a:pathLst>
            </a:custGeom>
            <a:noFill/>
            <a:ln w="10566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6069897" y="3779032"/>
              <a:ext cx="105273" cy="47549"/>
            </a:xfrm>
            <a:custGeom>
              <a:avLst/>
              <a:gdLst/>
              <a:ahLst/>
              <a:cxnLst/>
              <a:rect l="l" t="t" r="r" b="b"/>
              <a:pathLst>
                <a:path w="105273" h="47549">
                  <a:moveTo>
                    <a:pt x="0" y="0"/>
                  </a:moveTo>
                  <a:lnTo>
                    <a:pt x="58485" y="14265"/>
                  </a:lnTo>
                  <a:lnTo>
                    <a:pt x="105273" y="47549"/>
                  </a:lnTo>
                </a:path>
              </a:pathLst>
            </a:custGeom>
            <a:noFill/>
            <a:ln w="10566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5925634" y="3840846"/>
              <a:ext cx="105273" cy="47549"/>
            </a:xfrm>
            <a:custGeom>
              <a:avLst/>
              <a:gdLst/>
              <a:ahLst/>
              <a:cxnLst/>
              <a:rect l="l" t="t" r="r" b="b"/>
              <a:pathLst>
                <a:path w="105273" h="47549">
                  <a:moveTo>
                    <a:pt x="105273" y="0"/>
                  </a:moveTo>
                  <a:lnTo>
                    <a:pt x="46788" y="14264"/>
                  </a:lnTo>
                  <a:lnTo>
                    <a:pt x="0" y="47549"/>
                  </a:lnTo>
                </a:path>
              </a:pathLst>
            </a:custGeom>
            <a:noFill/>
            <a:ln w="10566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6069897" y="3840846"/>
              <a:ext cx="105273" cy="47549"/>
            </a:xfrm>
            <a:custGeom>
              <a:avLst/>
              <a:gdLst/>
              <a:ahLst/>
              <a:cxnLst/>
              <a:rect l="l" t="t" r="r" b="b"/>
              <a:pathLst>
                <a:path w="105273" h="47549">
                  <a:moveTo>
                    <a:pt x="0" y="0"/>
                  </a:moveTo>
                  <a:lnTo>
                    <a:pt x="58485" y="14264"/>
                  </a:lnTo>
                  <a:lnTo>
                    <a:pt x="105273" y="47549"/>
                  </a:lnTo>
                </a:path>
              </a:pathLst>
            </a:custGeom>
            <a:noFill/>
            <a:ln w="10566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5925634" y="3902659"/>
              <a:ext cx="105273" cy="47549"/>
            </a:xfrm>
            <a:custGeom>
              <a:avLst/>
              <a:gdLst/>
              <a:ahLst/>
              <a:cxnLst/>
              <a:rect l="l" t="t" r="r" b="b"/>
              <a:pathLst>
                <a:path w="105273" h="47549">
                  <a:moveTo>
                    <a:pt x="105273" y="0"/>
                  </a:moveTo>
                  <a:lnTo>
                    <a:pt x="46788" y="14265"/>
                  </a:lnTo>
                  <a:lnTo>
                    <a:pt x="0" y="47549"/>
                  </a:lnTo>
                </a:path>
              </a:pathLst>
            </a:custGeom>
            <a:noFill/>
            <a:ln w="10566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6069897" y="3902659"/>
              <a:ext cx="105273" cy="47549"/>
            </a:xfrm>
            <a:custGeom>
              <a:avLst/>
              <a:gdLst/>
              <a:ahLst/>
              <a:cxnLst/>
              <a:rect l="l" t="t" r="r" b="b"/>
              <a:pathLst>
                <a:path w="105273" h="47549">
                  <a:moveTo>
                    <a:pt x="0" y="0"/>
                  </a:moveTo>
                  <a:lnTo>
                    <a:pt x="58485" y="14265"/>
                  </a:lnTo>
                  <a:lnTo>
                    <a:pt x="105273" y="47549"/>
                  </a:lnTo>
                </a:path>
              </a:pathLst>
            </a:custGeom>
            <a:noFill/>
            <a:ln w="10566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CT / MRI thumbnail"/>
          <p:cNvGrpSpPr/>
          <p:nvPr/>
        </p:nvGrpSpPr>
        <p:grpSpPr>
          <a:xfrm>
            <a:off x="6300216" y="3593592"/>
            <a:ext cx="389900" cy="475488"/>
            <a:chOff x="6300216" y="3593592"/>
            <a:chExt cx="389900" cy="475488"/>
          </a:xfrm>
        </p:grpSpPr>
        <p:sp>
          <p:nvSpPr>
            <p:cNvPr id="17511" name="Rounded Rectangle 17510"/>
            <p:cNvSpPr/>
            <p:nvPr/>
          </p:nvSpPr>
          <p:spPr>
            <a:xfrm>
              <a:off x="6300216" y="3593592"/>
              <a:ext cx="389900" cy="475488"/>
            </a:xfrm>
            <a:prstGeom prst="roundRect">
              <a:avLst>
                <a:gd name="adj" fmla="val 8000"/>
              </a:avLst>
            </a:prstGeom>
            <a:solidFill>
              <a:srgbClr val="0F2A47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12" name="Oval 17511"/>
            <p:cNvSpPr/>
            <p:nvPr/>
          </p:nvSpPr>
          <p:spPr>
            <a:xfrm>
              <a:off x="6374297" y="3686293"/>
              <a:ext cx="241738" cy="290086"/>
            </a:xfrm>
            <a:prstGeom prst="ellipse">
              <a:avLst/>
            </a:prstGeom>
            <a:solidFill>
              <a:srgbClr val="7F97B2"/>
            </a:solidFill>
            <a:ln w="19812">
              <a:solidFill>
                <a:srgbClr val="D6E2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513" name="Connector 17512"/>
            <p:cNvCxnSpPr/>
            <p:nvPr/>
          </p:nvCxnSpPr>
          <p:spPr>
            <a:xfrm>
              <a:off x="6495166" y="3722554"/>
              <a:ext cx="0" cy="217564"/>
            </a:xfrm>
            <a:prstGeom prst="line">
              <a:avLst/>
            </a:prstGeom>
            <a:ln w="7924">
              <a:solidFill>
                <a:srgbClr val="0F2A4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514" name="Oval 17513"/>
            <p:cNvSpPr/>
            <p:nvPr/>
          </p:nvSpPr>
          <p:spPr>
            <a:xfrm>
              <a:off x="6420227" y="3804745"/>
              <a:ext cx="53182" cy="69137"/>
            </a:xfrm>
            <a:prstGeom prst="ellipse">
              <a:avLst/>
            </a:prstGeom>
            <a:solidFill>
              <a:srgbClr val="0F2A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15" name="Oval 17514"/>
            <p:cNvSpPr/>
            <p:nvPr/>
          </p:nvSpPr>
          <p:spPr>
            <a:xfrm>
              <a:off x="6516923" y="3804745"/>
              <a:ext cx="53182" cy="69137"/>
            </a:xfrm>
            <a:prstGeom prst="ellipse">
              <a:avLst/>
            </a:prstGeom>
            <a:solidFill>
              <a:srgbClr val="0F2A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516" name="TextBox 17515"/>
          <p:cNvSpPr txBox="1"/>
          <p:nvPr/>
        </p:nvSpPr>
        <p:spPr>
          <a:xfrm>
            <a:off x="5577840" y="4096512"/>
            <a:ext cx="1389888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>
                <a:solidFill>
                  <a:srgbClr val="003366"/>
                </a:solidFill>
                <a:latin typeface="Arial"/>
              </a:rPr>
              <a:t>X-ray / CT / MRI</a:t>
            </a:r>
          </a:p>
        </p:txBody>
      </p:sp>
      <p:grpSp>
        <p:nvGrpSpPr>
          <p:cNvPr id="46" name="ECG strip thumbnail"/>
          <p:cNvGrpSpPr/>
          <p:nvPr/>
        </p:nvGrpSpPr>
        <p:grpSpPr>
          <a:xfrm>
            <a:off x="7353605" y="3593592"/>
            <a:ext cx="618134" cy="475488"/>
            <a:chOff x="7353605" y="3593592"/>
            <a:chExt cx="618134" cy="475488"/>
          </a:xfrm>
        </p:grpSpPr>
        <p:sp>
          <p:nvSpPr>
            <p:cNvPr id="17517" name="Rounded Rectangle 17516"/>
            <p:cNvSpPr/>
            <p:nvPr/>
          </p:nvSpPr>
          <p:spPr>
            <a:xfrm>
              <a:off x="7353605" y="3593592"/>
              <a:ext cx="618134" cy="475488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518" name="Connector 17517"/>
            <p:cNvCxnSpPr/>
            <p:nvPr/>
          </p:nvCxnSpPr>
          <p:spPr>
            <a:xfrm>
              <a:off x="7508138" y="3622121"/>
              <a:ext cx="0" cy="418430"/>
            </a:xfrm>
            <a:prstGeom prst="line">
              <a:avLst/>
            </a:prstGeom>
            <a:ln w="6350">
              <a:solidFill>
                <a:srgbClr val="E2E8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9" name="Connector 17518"/>
            <p:cNvCxnSpPr/>
            <p:nvPr/>
          </p:nvCxnSpPr>
          <p:spPr>
            <a:xfrm>
              <a:off x="7662672" y="3622121"/>
              <a:ext cx="0" cy="418430"/>
            </a:xfrm>
            <a:prstGeom prst="line">
              <a:avLst/>
            </a:prstGeom>
            <a:ln w="6350">
              <a:solidFill>
                <a:srgbClr val="E2E8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20" name="Connector 17519"/>
            <p:cNvCxnSpPr/>
            <p:nvPr/>
          </p:nvCxnSpPr>
          <p:spPr>
            <a:xfrm>
              <a:off x="7817206" y="3622121"/>
              <a:ext cx="0" cy="418430"/>
            </a:xfrm>
            <a:prstGeom prst="line">
              <a:avLst/>
            </a:prstGeom>
            <a:ln w="6350">
              <a:solidFill>
                <a:srgbClr val="E2E8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21" name="Connector 17520"/>
            <p:cNvCxnSpPr/>
            <p:nvPr/>
          </p:nvCxnSpPr>
          <p:spPr>
            <a:xfrm>
              <a:off x="7378330" y="3750503"/>
              <a:ext cx="568684" cy="0"/>
            </a:xfrm>
            <a:prstGeom prst="line">
              <a:avLst/>
            </a:prstGeom>
            <a:ln w="6350">
              <a:solidFill>
                <a:srgbClr val="E2E8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22" name="Connector 17521"/>
            <p:cNvCxnSpPr/>
            <p:nvPr/>
          </p:nvCxnSpPr>
          <p:spPr>
            <a:xfrm>
              <a:off x="7378330" y="3907414"/>
              <a:ext cx="568684" cy="0"/>
            </a:xfrm>
            <a:prstGeom prst="line">
              <a:avLst/>
            </a:prstGeom>
            <a:ln w="6350">
              <a:solidFill>
                <a:srgbClr val="E2E8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Freeform 46"/>
            <p:cNvSpPr/>
            <p:nvPr/>
          </p:nvSpPr>
          <p:spPr>
            <a:xfrm>
              <a:off x="7378330" y="3679180"/>
              <a:ext cx="568684" cy="304312"/>
            </a:xfrm>
            <a:custGeom>
              <a:avLst/>
              <a:gdLst/>
              <a:ahLst/>
              <a:cxnLst/>
              <a:rect l="l" t="t" r="r" b="b"/>
              <a:pathLst>
                <a:path w="568684" h="304312">
                  <a:moveTo>
                    <a:pt x="0" y="190195"/>
                  </a:moveTo>
                  <a:lnTo>
                    <a:pt x="67995" y="190195"/>
                  </a:lnTo>
                  <a:lnTo>
                    <a:pt x="92720" y="152156"/>
                  </a:lnTo>
                  <a:lnTo>
                    <a:pt x="117446" y="190195"/>
                  </a:lnTo>
                  <a:lnTo>
                    <a:pt x="154534" y="190195"/>
                  </a:lnTo>
                  <a:lnTo>
                    <a:pt x="173078" y="228234"/>
                  </a:lnTo>
                  <a:lnTo>
                    <a:pt x="197803" y="0"/>
                  </a:lnTo>
                  <a:lnTo>
                    <a:pt x="222529" y="304312"/>
                  </a:lnTo>
                  <a:lnTo>
                    <a:pt x="247254" y="190195"/>
                  </a:lnTo>
                  <a:lnTo>
                    <a:pt x="309067" y="190195"/>
                  </a:lnTo>
                  <a:lnTo>
                    <a:pt x="339974" y="128382"/>
                  </a:lnTo>
                  <a:lnTo>
                    <a:pt x="377062" y="190195"/>
                  </a:lnTo>
                  <a:lnTo>
                    <a:pt x="445057" y="190195"/>
                  </a:lnTo>
                  <a:lnTo>
                    <a:pt x="463601" y="228234"/>
                  </a:lnTo>
                  <a:lnTo>
                    <a:pt x="488326" y="9510"/>
                  </a:lnTo>
                  <a:lnTo>
                    <a:pt x="513052" y="294802"/>
                  </a:lnTo>
                  <a:lnTo>
                    <a:pt x="537777" y="190195"/>
                  </a:lnTo>
                  <a:lnTo>
                    <a:pt x="568684" y="190195"/>
                  </a:lnTo>
                </a:path>
              </a:pathLst>
            </a:custGeom>
            <a:noFill/>
            <a:ln w="1717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523" name="TextBox 17522"/>
          <p:cNvSpPr txBox="1"/>
          <p:nvPr/>
        </p:nvSpPr>
        <p:spPr>
          <a:xfrm>
            <a:off x="6967728" y="4096512"/>
            <a:ext cx="1389888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>
                <a:solidFill>
                  <a:srgbClr val="003366"/>
                </a:solidFill>
                <a:latin typeface="Arial"/>
              </a:rPr>
              <a:t>ECG reports</a:t>
            </a:r>
          </a:p>
        </p:txBody>
      </p:sp>
      <p:grpSp>
        <p:nvGrpSpPr>
          <p:cNvPr id="48" name="Ultrasound thumbnail"/>
          <p:cNvGrpSpPr/>
          <p:nvPr/>
        </p:nvGrpSpPr>
        <p:grpSpPr>
          <a:xfrm>
            <a:off x="8857610" y="3593592"/>
            <a:ext cx="389900" cy="475488"/>
            <a:chOff x="8857610" y="3593592"/>
            <a:chExt cx="389900" cy="475488"/>
          </a:xfrm>
        </p:grpSpPr>
        <p:sp>
          <p:nvSpPr>
            <p:cNvPr id="17524" name="Rounded Rectangle 17523"/>
            <p:cNvSpPr/>
            <p:nvPr/>
          </p:nvSpPr>
          <p:spPr>
            <a:xfrm>
              <a:off x="8857610" y="3593592"/>
              <a:ext cx="389900" cy="475488"/>
            </a:xfrm>
            <a:prstGeom prst="roundRect">
              <a:avLst>
                <a:gd name="adj" fmla="val 8000"/>
              </a:avLst>
            </a:prstGeom>
            <a:solidFill>
              <a:srgbClr val="0F2A47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8866102" y="3650651"/>
              <a:ext cx="372916" cy="351861"/>
            </a:xfrm>
            <a:custGeom>
              <a:avLst/>
              <a:gdLst/>
              <a:ahLst/>
              <a:cxnLst/>
              <a:rect l="l" t="t" r="r" b="b"/>
              <a:pathLst>
                <a:path w="372916" h="351861">
                  <a:moveTo>
                    <a:pt x="186458" y="0"/>
                  </a:moveTo>
                  <a:lnTo>
                    <a:pt x="372916" y="298395"/>
                  </a:lnTo>
                  <a:lnTo>
                    <a:pt x="344373" y="314434"/>
                  </a:lnTo>
                  <a:lnTo>
                    <a:pt x="314463" y="327751"/>
                  </a:lnTo>
                  <a:lnTo>
                    <a:pt x="283444" y="338230"/>
                  </a:lnTo>
                  <a:lnTo>
                    <a:pt x="251586" y="345781"/>
                  </a:lnTo>
                  <a:lnTo>
                    <a:pt x="219163" y="350337"/>
                  </a:lnTo>
                  <a:lnTo>
                    <a:pt x="186458" y="351861"/>
                  </a:lnTo>
                  <a:lnTo>
                    <a:pt x="153753" y="350337"/>
                  </a:lnTo>
                  <a:lnTo>
                    <a:pt x="121330" y="345781"/>
                  </a:lnTo>
                  <a:lnTo>
                    <a:pt x="89472" y="338230"/>
                  </a:lnTo>
                  <a:lnTo>
                    <a:pt x="58453" y="327751"/>
                  </a:lnTo>
                  <a:lnTo>
                    <a:pt x="28543" y="314434"/>
                  </a:lnTo>
                  <a:lnTo>
                    <a:pt x="0" y="298395"/>
                  </a:lnTo>
                  <a:close/>
                </a:path>
              </a:pathLst>
            </a:custGeom>
            <a:solidFill>
              <a:srgbClr val="9FB4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25" name="Oval 17524"/>
            <p:cNvSpPr/>
            <p:nvPr/>
          </p:nvSpPr>
          <p:spPr>
            <a:xfrm>
              <a:off x="9001873" y="3845601"/>
              <a:ext cx="101374" cy="71323"/>
            </a:xfrm>
            <a:prstGeom prst="ellipse">
              <a:avLst/>
            </a:prstGeom>
            <a:solidFill>
              <a:srgbClr val="0F2A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526" name="TextBox 17525"/>
          <p:cNvSpPr txBox="1"/>
          <p:nvPr/>
        </p:nvSpPr>
        <p:spPr>
          <a:xfrm>
            <a:off x="8357616" y="4096512"/>
            <a:ext cx="1389888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>
                <a:solidFill>
                  <a:srgbClr val="003366"/>
                </a:solidFill>
                <a:latin typeface="Arial"/>
              </a:rPr>
              <a:t>Ultrasound examples</a:t>
            </a:r>
          </a:p>
        </p:txBody>
      </p:sp>
      <p:grpSp>
        <p:nvGrpSpPr>
          <p:cNvPr id="50" name="Laboratory report thumbnail"/>
          <p:cNvGrpSpPr/>
          <p:nvPr/>
        </p:nvGrpSpPr>
        <p:grpSpPr>
          <a:xfrm>
            <a:off x="10247498" y="3593592"/>
            <a:ext cx="389900" cy="475488"/>
            <a:chOff x="10247498" y="3593592"/>
            <a:chExt cx="389900" cy="475488"/>
          </a:xfrm>
        </p:grpSpPr>
        <p:sp>
          <p:nvSpPr>
            <p:cNvPr id="17527" name="Folded Corner 17526"/>
            <p:cNvSpPr/>
            <p:nvPr/>
          </p:nvSpPr>
          <p:spPr>
            <a:xfrm>
              <a:off x="10247498" y="3593592"/>
              <a:ext cx="389900" cy="475488"/>
            </a:xfrm>
            <a:prstGeom prst="foldedCorner">
              <a:avLst/>
            </a:prstGeom>
            <a:solidFill>
              <a:srgbClr val="FFFFFF"/>
            </a:solidFill>
            <a:ln w="9525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28" name="Rectangle 17527"/>
            <p:cNvSpPr/>
            <p:nvPr/>
          </p:nvSpPr>
          <p:spPr>
            <a:xfrm>
              <a:off x="10294286" y="3636386"/>
              <a:ext cx="218344" cy="3803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29" name="Rectangle 17528"/>
            <p:cNvSpPr/>
            <p:nvPr/>
          </p:nvSpPr>
          <p:spPr>
            <a:xfrm>
              <a:off x="10294286" y="3712464"/>
              <a:ext cx="288526" cy="21397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0" name="Rectangle 17529"/>
            <p:cNvSpPr/>
            <p:nvPr/>
          </p:nvSpPr>
          <p:spPr>
            <a:xfrm>
              <a:off x="10294286" y="3755258"/>
              <a:ext cx="233940" cy="21397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1" name="Rectangle 17530"/>
            <p:cNvSpPr/>
            <p:nvPr/>
          </p:nvSpPr>
          <p:spPr>
            <a:xfrm>
              <a:off x="10294286" y="3798052"/>
              <a:ext cx="272930" cy="21397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2" name="Rectangle 17531"/>
            <p:cNvSpPr/>
            <p:nvPr/>
          </p:nvSpPr>
          <p:spPr>
            <a:xfrm>
              <a:off x="10302084" y="3878885"/>
              <a:ext cx="35091" cy="85588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3" name="Rectangle 17532"/>
            <p:cNvSpPr/>
            <p:nvPr/>
          </p:nvSpPr>
          <p:spPr>
            <a:xfrm>
              <a:off x="10352771" y="3840846"/>
              <a:ext cx="35091" cy="12362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34" name="Rectangle 17533"/>
            <p:cNvSpPr/>
            <p:nvPr/>
          </p:nvSpPr>
          <p:spPr>
            <a:xfrm>
              <a:off x="10403458" y="3897904"/>
              <a:ext cx="35091" cy="66568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535" name="Connector 17534"/>
            <p:cNvCxnSpPr/>
            <p:nvPr/>
          </p:nvCxnSpPr>
          <p:spPr>
            <a:xfrm>
              <a:off x="10294286" y="3964473"/>
              <a:ext cx="171556" cy="0"/>
            </a:xfrm>
            <a:prstGeom prst="line">
              <a:avLst/>
            </a:prstGeom>
            <a:ln w="6350">
              <a:solidFill>
                <a:srgbClr val="4B556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536" name="TextBox 17535"/>
          <p:cNvSpPr txBox="1"/>
          <p:nvPr/>
        </p:nvSpPr>
        <p:spPr>
          <a:xfrm>
            <a:off x="9747504" y="4096512"/>
            <a:ext cx="1389888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>
                <a:solidFill>
                  <a:srgbClr val="003366"/>
                </a:solidFill>
                <a:latin typeface="Arial"/>
              </a:rPr>
              <a:t>Laboratory reports</a:t>
            </a:r>
          </a:p>
        </p:txBody>
      </p:sp>
      <p:sp>
        <p:nvSpPr>
          <p:cNvPr id="17537" name="TextBox 17536"/>
          <p:cNvSpPr txBox="1"/>
          <p:nvPr/>
        </p:nvSpPr>
        <p:spPr>
          <a:xfrm>
            <a:off x="5449824" y="4297680"/>
            <a:ext cx="581558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1">
                <a:solidFill>
                  <a:srgbClr val="4B5563"/>
                </a:solidFill>
                <a:latin typeface="Arial"/>
              </a:rPr>
              <a:t>Never interpreted automatically · demo samples are synthetic and labelled “not this patient”</a:t>
            </a:r>
          </a:p>
        </p:txBody>
      </p:sp>
      <p:cxnSp>
        <p:nvCxnSpPr>
          <p:cNvPr id="17538" name="Connector 17537"/>
          <p:cNvCxnSpPr/>
          <p:nvPr/>
        </p:nvCxnSpPr>
        <p:spPr>
          <a:xfrm>
            <a:off x="4864608" y="3511296"/>
            <a:ext cx="420624" cy="0"/>
          </a:xfrm>
          <a:prstGeom prst="line">
            <a:avLst/>
          </a:prstGeom>
          <a:ln w="1587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39" name="Clinical catalogue detail"/>
          <p:cNvSpPr/>
          <p:nvPr/>
        </p:nvSpPr>
        <p:spPr>
          <a:xfrm>
            <a:off x="5303520" y="4672584"/>
            <a:ext cx="6108192" cy="1371600"/>
          </a:xfrm>
          <a:prstGeom prst="roundRect">
            <a:avLst>
              <a:gd name="adj" fmla="val 9333"/>
            </a:avLst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73152" rIns="109728" bIns="36576">
            <a:noAutofit/>
          </a:bodyPr>
          <a:lstStyle/>
          <a:p>
            <a:pPr algn="l"/>
            <a:r>
              <a:rPr sz="900" b="1" i="0">
                <a:solidFill>
                  <a:srgbClr val="B45309"/>
                </a:solidFill>
                <a:latin typeface="Arial"/>
              </a:rPr>
              <a:t>CLINICAL CATALOGUE (JSON / CSV)</a:t>
            </a:r>
            <a:r>
              <a:rPr sz="800" b="0" i="0">
                <a:solidFill>
                  <a:srgbClr val="4B5563"/>
                </a:solidFill>
                <a:latin typeface="Arial"/>
              </a:rPr>
              <a:t>  illustrative, versioned</a:t>
            </a:r>
          </a:p>
          <a:p>
            <a:pPr algn="l">
              <a:spcBef>
                <a:spcPts val="200"/>
              </a:spcBef>
            </a:pPr>
            <a:r>
              <a:rPr sz="800" b="0" i="0">
                <a:solidFill>
                  <a:srgbClr val="1F2937"/>
                </a:solidFill>
                <a:latin typeface="Arial"/>
              </a:rPr>
              <a:t>Medication products (name, strength, form — no doses) and the synthetic sample library. Administrators import with a preview and explicit confirmation; nothing is overwritten silently.</a:t>
            </a:r>
          </a:p>
        </p:txBody>
      </p:sp>
      <p:sp>
        <p:nvSpPr>
          <p:cNvPr id="17540" name="Import step: JSON / CSV file"/>
          <p:cNvSpPr/>
          <p:nvPr/>
        </p:nvSpPr>
        <p:spPr>
          <a:xfrm>
            <a:off x="5449824" y="5358384"/>
            <a:ext cx="859536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750" b="0" i="0">
                <a:solidFill>
                  <a:srgbClr val="003366"/>
                </a:solidFill>
                <a:latin typeface="Arial"/>
              </a:rPr>
              <a:t>JSON / CSV file</a:t>
            </a:r>
          </a:p>
        </p:txBody>
      </p:sp>
      <p:cxnSp>
        <p:nvCxnSpPr>
          <p:cNvPr id="17541" name="Connector 17540"/>
          <p:cNvCxnSpPr/>
          <p:nvPr/>
        </p:nvCxnSpPr>
        <p:spPr>
          <a:xfrm>
            <a:off x="6336792" y="5468112"/>
            <a:ext cx="128016" cy="0"/>
          </a:xfrm>
          <a:prstGeom prst="line">
            <a:avLst/>
          </a:prstGeom>
          <a:ln w="15875">
            <a:solidFill>
              <a:srgbClr val="D9770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42" name="Import step: Preview (changes, invalid, duplicates)"/>
          <p:cNvSpPr/>
          <p:nvPr/>
        </p:nvSpPr>
        <p:spPr>
          <a:xfrm>
            <a:off x="6492240" y="5358384"/>
            <a:ext cx="195315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750" b="0" i="0">
                <a:solidFill>
                  <a:srgbClr val="003366"/>
                </a:solidFill>
                <a:latin typeface="Arial"/>
              </a:rPr>
              <a:t>Preview (changes, invalid, duplicates)</a:t>
            </a:r>
          </a:p>
        </p:txBody>
      </p:sp>
      <p:cxnSp>
        <p:nvCxnSpPr>
          <p:cNvPr id="17543" name="Connector 17542"/>
          <p:cNvCxnSpPr/>
          <p:nvPr/>
        </p:nvCxnSpPr>
        <p:spPr>
          <a:xfrm>
            <a:off x="8472830" y="5468112"/>
            <a:ext cx="128016" cy="0"/>
          </a:xfrm>
          <a:prstGeom prst="line">
            <a:avLst/>
          </a:prstGeom>
          <a:ln w="15875">
            <a:solidFill>
              <a:srgbClr val="D9770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44" name="Import step: Admin confirms"/>
          <p:cNvSpPr/>
          <p:nvPr/>
        </p:nvSpPr>
        <p:spPr>
          <a:xfrm>
            <a:off x="8628278" y="5358384"/>
            <a:ext cx="81198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750" b="0" i="0">
                <a:solidFill>
                  <a:srgbClr val="003366"/>
                </a:solidFill>
                <a:latin typeface="Arial"/>
              </a:rPr>
              <a:t>Admin confirms</a:t>
            </a:r>
          </a:p>
        </p:txBody>
      </p:sp>
      <p:cxnSp>
        <p:nvCxnSpPr>
          <p:cNvPr id="17545" name="Connector 17544"/>
          <p:cNvCxnSpPr/>
          <p:nvPr/>
        </p:nvCxnSpPr>
        <p:spPr>
          <a:xfrm>
            <a:off x="9467698" y="5468112"/>
            <a:ext cx="128016" cy="0"/>
          </a:xfrm>
          <a:prstGeom prst="line">
            <a:avLst/>
          </a:prstGeom>
          <a:ln w="15875">
            <a:solidFill>
              <a:srgbClr val="D9770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46" name="Import step: Catalogue version +1"/>
          <p:cNvSpPr/>
          <p:nvPr/>
        </p:nvSpPr>
        <p:spPr>
          <a:xfrm>
            <a:off x="9623146" y="5358384"/>
            <a:ext cx="1170432" cy="21945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750" b="1" i="0">
                <a:solidFill>
                  <a:srgbClr val="15803D"/>
                </a:solidFill>
                <a:latin typeface="Arial"/>
              </a:rPr>
              <a:t>Catalogue version +1</a:t>
            </a:r>
          </a:p>
        </p:txBody>
      </p:sp>
      <p:sp>
        <p:nvSpPr>
          <p:cNvPr id="17547" name="Safeguard: Never diagnoses"/>
          <p:cNvSpPr/>
          <p:nvPr/>
        </p:nvSpPr>
        <p:spPr>
          <a:xfrm>
            <a:off x="5449824" y="5687568"/>
            <a:ext cx="103327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750" b="1" i="0">
                <a:solidFill>
                  <a:srgbClr val="B45309"/>
                </a:solidFill>
                <a:latin typeface="Arial"/>
              </a:rPr>
              <a:t>Never diagnoses</a:t>
            </a:r>
          </a:p>
        </p:txBody>
      </p:sp>
      <p:sp>
        <p:nvSpPr>
          <p:cNvPr id="17548" name="Safeguard: Never suggests a dose"/>
          <p:cNvSpPr/>
          <p:nvPr/>
        </p:nvSpPr>
        <p:spPr>
          <a:xfrm>
            <a:off x="6574536" y="5687568"/>
            <a:ext cx="1373429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750" b="1" i="0">
                <a:solidFill>
                  <a:srgbClr val="B45309"/>
                </a:solidFill>
                <a:latin typeface="Arial"/>
              </a:rPr>
              <a:t>Never suggests a dose</a:t>
            </a:r>
          </a:p>
        </p:txBody>
      </p:sp>
      <p:sp>
        <p:nvSpPr>
          <p:cNvPr id="17549" name="Safeguard: Never authorises"/>
          <p:cNvSpPr/>
          <p:nvPr/>
        </p:nvSpPr>
        <p:spPr>
          <a:xfrm>
            <a:off x="8039405" y="5687568"/>
            <a:ext cx="1089965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750" b="1" i="0">
                <a:solidFill>
                  <a:srgbClr val="B45309"/>
                </a:solidFill>
                <a:latin typeface="Arial"/>
              </a:rPr>
              <a:t>Never authorises</a:t>
            </a:r>
          </a:p>
        </p:txBody>
      </p:sp>
      <p:sp>
        <p:nvSpPr>
          <p:cNvPr id="17550" name="Safeguard: Drafts never reach the patient"/>
          <p:cNvSpPr/>
          <p:nvPr/>
        </p:nvSpPr>
        <p:spPr>
          <a:xfrm>
            <a:off x="9220810" y="5687568"/>
            <a:ext cx="188366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tIns="0" rIns="27432" bIns="0">
            <a:noAutofit/>
          </a:bodyPr>
          <a:lstStyle/>
          <a:p>
            <a:pPr algn="ctr"/>
            <a:r>
              <a:rPr sz="750" b="1" i="0">
                <a:solidFill>
                  <a:srgbClr val="B45309"/>
                </a:solidFill>
                <a:latin typeface="Arial"/>
              </a:rPr>
              <a:t>Drafts never reach the patient</a:t>
            </a:r>
          </a:p>
        </p:txBody>
      </p:sp>
      <p:cxnSp>
        <p:nvCxnSpPr>
          <p:cNvPr id="17551" name="Medication picker"/>
          <p:cNvCxnSpPr/>
          <p:nvPr/>
        </p:nvCxnSpPr>
        <p:spPr>
          <a:xfrm flipH="1">
            <a:off x="4864608" y="5239512"/>
            <a:ext cx="420624" cy="0"/>
          </a:xfrm>
          <a:prstGeom prst="line">
            <a:avLst/>
          </a:prstGeom>
          <a:ln w="15875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52" name="TextBox 17551"/>
          <p:cNvSpPr txBox="1"/>
          <p:nvPr/>
        </p:nvSpPr>
        <p:spPr>
          <a:xfrm>
            <a:off x="4882896" y="505663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50" b="0" i="1">
                <a:solidFill>
                  <a:srgbClr val="B45309"/>
                </a:solidFill>
                <a:latin typeface="Arial"/>
              </a:rPr>
              <a:t>picker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200" b="1">
                <a:solidFill>
                  <a:srgbClr val="003366"/>
                </a:solidFill>
                <a:latin typeface="Times New Roman"/>
              </a:defRPr>
            </a:pPr>
            <a:r>
              <a:t>AWS ARCHITECTURE (DEFINED IN CDK)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410" name="AWS panel"/>
          <p:cNvSpPr/>
          <p:nvPr/>
        </p:nvSpPr>
        <p:spPr>
          <a:xfrm>
            <a:off x="548640" y="1097280"/>
            <a:ext cx="11091672" cy="5138928"/>
          </a:xfrm>
          <a:prstGeom prst="roundRect">
            <a:avLst>
              <a:gd name="adj" fmla="val 7473"/>
            </a:avLst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Panel heading"/>
          <p:cNvSpPr txBox="1"/>
          <p:nvPr/>
        </p:nvSpPr>
        <p:spPr>
          <a:xfrm>
            <a:off x="777240" y="11612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  <a:latin typeface="Arial"/>
              </a:rPr>
              <a:t>CLOUD TARGET: the local mesh mapped to serverless AWS — synthesized with CDK, never deployed</a:t>
            </a:r>
          </a:p>
        </p:txBody>
      </p:sp>
      <p:grpSp>
        <p:nvGrpSpPr>
          <p:cNvPr id="2" name="Web apps"/>
          <p:cNvGrpSpPr/>
          <p:nvPr/>
        </p:nvGrpSpPr>
        <p:grpSpPr>
          <a:xfrm>
            <a:off x="852678" y="2798064"/>
            <a:ext cx="548640" cy="420624"/>
            <a:chOff x="852678" y="2798064"/>
            <a:chExt cx="548640" cy="420624"/>
          </a:xfrm>
        </p:grpSpPr>
        <p:sp>
          <p:nvSpPr>
            <p:cNvPr id="17412" name="Rounded Rectangle 17411"/>
            <p:cNvSpPr/>
            <p:nvPr/>
          </p:nvSpPr>
          <p:spPr>
            <a:xfrm>
              <a:off x="852678" y="2798064"/>
              <a:ext cx="548640" cy="329184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5240">
              <a:solidFill>
                <a:srgbClr val="0033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13" name="Rectangle 17412"/>
            <p:cNvSpPr/>
            <p:nvPr/>
          </p:nvSpPr>
          <p:spPr>
            <a:xfrm>
              <a:off x="886968" y="2834640"/>
              <a:ext cx="480060" cy="256032"/>
            </a:xfrm>
            <a:prstGeom prst="rect">
              <a:avLst/>
            </a:prstGeom>
            <a:solidFill>
              <a:srgbClr val="E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14" name="Rectangle 17413"/>
            <p:cNvSpPr/>
            <p:nvPr/>
          </p:nvSpPr>
          <p:spPr>
            <a:xfrm>
              <a:off x="932688" y="2880360"/>
              <a:ext cx="342900" cy="27432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15" name="Rectangle 17414"/>
            <p:cNvSpPr/>
            <p:nvPr/>
          </p:nvSpPr>
          <p:spPr>
            <a:xfrm>
              <a:off x="932688" y="2935224"/>
              <a:ext cx="400050" cy="27432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16" name="Rectangle 17415"/>
            <p:cNvSpPr/>
            <p:nvPr/>
          </p:nvSpPr>
          <p:spPr>
            <a:xfrm>
              <a:off x="932688" y="2990088"/>
              <a:ext cx="285750" cy="27432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17" name="Rectangle 17416"/>
            <p:cNvSpPr/>
            <p:nvPr/>
          </p:nvSpPr>
          <p:spPr>
            <a:xfrm>
              <a:off x="1098423" y="3127248"/>
              <a:ext cx="57150" cy="54864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18" name="Rounded Rectangle 17417"/>
            <p:cNvSpPr/>
            <p:nvPr/>
          </p:nvSpPr>
          <p:spPr>
            <a:xfrm>
              <a:off x="1012698" y="3182112"/>
              <a:ext cx="228600" cy="36576"/>
            </a:xfrm>
            <a:prstGeom prst="roundRect">
              <a:avLst>
                <a:gd name="adj" fmla="val 50000"/>
              </a:avLst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419" name="TextBox 17418"/>
          <p:cNvSpPr txBox="1"/>
          <p:nvPr/>
        </p:nvSpPr>
        <p:spPr>
          <a:xfrm>
            <a:off x="694944" y="327355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>
                <a:solidFill>
                  <a:srgbClr val="003366"/>
                </a:solidFill>
                <a:latin typeface="Arial"/>
              </a:rPr>
              <a:t>Web apps</a:t>
            </a:r>
          </a:p>
          <a:p>
            <a:pPr algn="ctr"/>
            <a:r>
              <a:rPr sz="800" b="1" i="0">
                <a:solidFill>
                  <a:srgbClr val="003366"/>
                </a:solidFill>
                <a:latin typeface="Arial"/>
              </a:rPr>
              <a:t>React + Vite</a:t>
            </a:r>
          </a:p>
        </p:txBody>
      </p:sp>
      <p:sp>
        <p:nvSpPr>
          <p:cNvPr id="17420" name="AWS account boundary"/>
          <p:cNvSpPr/>
          <p:nvPr/>
        </p:nvSpPr>
        <p:spPr>
          <a:xfrm>
            <a:off x="1783080" y="1554480"/>
            <a:ext cx="6949440" cy="4526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1920240" y="1591056"/>
            <a:ext cx="658368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1" i="0">
                <a:solidFill>
                  <a:srgbClr val="0070C0"/>
                </a:solidFill>
                <a:latin typeface="Arial"/>
              </a:rPr>
              <a:t>AWS ACCOUNT</a:t>
            </a:r>
            <a:r>
              <a:rPr sz="850" b="0" i="0">
                <a:solidFill>
                  <a:srgbClr val="4B5563"/>
                </a:solidFill>
                <a:latin typeface="Arial"/>
              </a:rPr>
              <a:t>  ·  one CDK stack  ·  cdk synth passes  ·  nothing deployed</a:t>
            </a:r>
          </a:p>
        </p:txBody>
      </p:sp>
      <p:sp>
        <p:nvSpPr>
          <p:cNvPr id="17422" name="API Gateway · REST"/>
          <p:cNvSpPr/>
          <p:nvPr/>
        </p:nvSpPr>
        <p:spPr>
          <a:xfrm>
            <a:off x="1938528" y="1938528"/>
            <a:ext cx="1389888" cy="713232"/>
          </a:xfrm>
          <a:prstGeom prst="roundRect">
            <a:avLst>
              <a:gd name="adj" fmla="val 10256"/>
            </a:avLst>
          </a:prstGeom>
          <a:solidFill>
            <a:srgbClr val="F4F8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36576" bIns="18288">
            <a:noAutofit/>
          </a:bodyPr>
          <a:lstStyle/>
          <a:p>
            <a:pPr algn="l"/>
            <a:r>
              <a:rPr sz="850" b="1" i="0">
                <a:solidFill>
                  <a:srgbClr val="003366"/>
                </a:solidFill>
                <a:latin typeface="Arial"/>
              </a:rPr>
              <a:t>API Gateway · REST</a:t>
            </a:r>
          </a:p>
          <a:p>
            <a:pPr algn="l"/>
            <a:r>
              <a:rPr sz="700" b="0" i="0">
                <a:solidFill>
                  <a:srgbClr val="4B5563"/>
                </a:solidFill>
                <a:latin typeface="Arial"/>
              </a:rPr>
              <a:t>POST /api/events</a:t>
            </a:r>
          </a:p>
          <a:p>
            <a:pPr algn="l"/>
            <a:r>
              <a:rPr sz="650" b="0" i="1">
                <a:solidFill>
                  <a:srgbClr val="15803D"/>
                </a:solidFill>
                <a:latin typeface="Arial"/>
              </a:rPr>
              <a:t>local: Express REST</a:t>
            </a:r>
          </a:p>
        </p:txBody>
      </p:sp>
      <p:sp>
        <p:nvSpPr>
          <p:cNvPr id="17423" name="Lambda · ingestion"/>
          <p:cNvSpPr/>
          <p:nvPr/>
        </p:nvSpPr>
        <p:spPr>
          <a:xfrm>
            <a:off x="3511296" y="1938528"/>
            <a:ext cx="1243584" cy="713232"/>
          </a:xfrm>
          <a:prstGeom prst="roundRect">
            <a:avLst>
              <a:gd name="adj" fmla="val 10256"/>
            </a:avLst>
          </a:prstGeom>
          <a:solidFill>
            <a:srgbClr val="F4F8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36576" bIns="18288">
            <a:noAutofit/>
          </a:bodyPr>
          <a:lstStyle/>
          <a:p>
            <a:pPr algn="l"/>
            <a:r>
              <a:rPr sz="850" b="1" i="0">
                <a:solidFill>
                  <a:srgbClr val="003366"/>
                </a:solidFill>
                <a:latin typeface="Arial"/>
              </a:rPr>
              <a:t>Lambda · ingestion</a:t>
            </a:r>
          </a:p>
          <a:p>
            <a:pPr algn="l"/>
            <a:r>
              <a:rPr sz="700" b="0" i="0">
                <a:solidFill>
                  <a:srgbClr val="4B5563"/>
                </a:solidFill>
                <a:latin typeface="Arial"/>
              </a:rPr>
              <a:t>validates, puts events</a:t>
            </a:r>
          </a:p>
        </p:txBody>
      </p:sp>
      <p:sp>
        <p:nvSpPr>
          <p:cNvPr id="17424" name="Amazon Cognito"/>
          <p:cNvSpPr/>
          <p:nvPr/>
        </p:nvSpPr>
        <p:spPr>
          <a:xfrm>
            <a:off x="1938528" y="2907792"/>
            <a:ext cx="1389888" cy="566928"/>
          </a:xfrm>
          <a:prstGeom prst="roundRect">
            <a:avLst>
              <a:gd name="adj" fmla="val 12903"/>
            </a:avLst>
          </a:prstGeom>
          <a:solidFill>
            <a:srgbClr val="F4F8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36576" bIns="18288">
            <a:noAutofit/>
          </a:bodyPr>
          <a:lstStyle/>
          <a:p>
            <a:pPr algn="l"/>
            <a:r>
              <a:rPr sz="850" b="1" i="0">
                <a:solidFill>
                  <a:srgbClr val="003366"/>
                </a:solidFill>
                <a:latin typeface="Arial"/>
              </a:rPr>
              <a:t>Amazon Cognito</a:t>
            </a:r>
          </a:p>
          <a:p>
            <a:pPr algn="l"/>
            <a:r>
              <a:rPr sz="700" b="0" i="0">
                <a:solidFill>
                  <a:srgbClr val="4B5563"/>
                </a:solidFill>
                <a:latin typeface="Arial"/>
              </a:rPr>
              <a:t>user pool · role groups</a:t>
            </a:r>
          </a:p>
        </p:txBody>
      </p:sp>
      <p:sp>
        <p:nvSpPr>
          <p:cNvPr id="17425" name="Amazon EventBridge"/>
          <p:cNvSpPr/>
          <p:nvPr/>
        </p:nvSpPr>
        <p:spPr>
          <a:xfrm>
            <a:off x="4937760" y="1874520"/>
            <a:ext cx="932688" cy="3017520"/>
          </a:xfrm>
          <a:prstGeom prst="roundRect">
            <a:avLst>
              <a:gd name="adj" fmla="val 9803"/>
            </a:avLst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 rIns="54864" bIns="36576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Amazon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EventBridge</a:t>
            </a:r>
          </a:p>
          <a:p>
            <a:pPr algn="ctr">
              <a:spcBef>
                <a:spcPts val="300"/>
              </a:spcBef>
            </a:pPr>
            <a:r>
              <a:rPr sz="700" b="0" i="0">
                <a:solidFill>
                  <a:srgbClr val="D6E2EF"/>
                </a:solidFill>
                <a:latin typeface="Arial"/>
              </a:rPr>
              <a:t>jiva-healthcare-mesh bus · 6 rules</a:t>
            </a:r>
          </a:p>
          <a:p>
            <a:pPr algn="ctr">
              <a:spcBef>
                <a:spcPts val="300"/>
              </a:spcBef>
            </a:pPr>
            <a:r>
              <a:rPr sz="650" b="0" i="1">
                <a:solidFill>
                  <a:srgbClr val="BBF7D0"/>
                </a:solidFill>
                <a:latin typeface="Arial"/>
              </a:rPr>
              <a:t>local: in-process event bus</a:t>
            </a:r>
          </a:p>
        </p:txBody>
      </p:sp>
      <p:sp>
        <p:nvSpPr>
          <p:cNvPr id="17426" name="Lambda · processors ×5"/>
          <p:cNvSpPr/>
          <p:nvPr/>
        </p:nvSpPr>
        <p:spPr>
          <a:xfrm>
            <a:off x="6053328" y="1938528"/>
            <a:ext cx="1280160" cy="1783080"/>
          </a:xfrm>
          <a:prstGeom prst="roundRect">
            <a:avLst>
              <a:gd name="adj" fmla="val 5714"/>
            </a:avLst>
          </a:prstGeom>
          <a:solidFill>
            <a:srgbClr val="F4F8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36576" bIns="18288">
            <a:noAutofit/>
          </a:bodyPr>
          <a:lstStyle/>
          <a:p>
            <a:pPr algn="l"/>
            <a:r>
              <a:rPr sz="850" b="1" i="0">
                <a:solidFill>
                  <a:srgbClr val="003366"/>
                </a:solidFill>
                <a:latin typeface="Arial"/>
              </a:rPr>
              <a:t>Lambda · processors ×5</a:t>
            </a:r>
          </a:p>
          <a:p>
            <a:pPr algn="l"/>
            <a:r>
              <a:rPr sz="700" b="0" i="0">
                <a:solidFill>
                  <a:srgbClr val="4B5563"/>
                </a:solidFill>
                <a:latin typeface="Arial"/>
              </a:rPr>
              <a:t>emergency · hospital · ambulance · routing · AI sidecar</a:t>
            </a:r>
          </a:p>
          <a:p>
            <a:pPr algn="l"/>
            <a:r>
              <a:rPr sz="650" b="0" i="1">
                <a:solidFill>
                  <a:srgbClr val="15803D"/>
                </a:solidFill>
                <a:latin typeface="Arial"/>
              </a:rPr>
              <a:t>local: state engines</a:t>
            </a:r>
          </a:p>
        </p:txBody>
      </p:sp>
      <p:sp>
        <p:nvSpPr>
          <p:cNvPr id="17427" name="Amazon DynamoDB"/>
          <p:cNvSpPr/>
          <p:nvPr/>
        </p:nvSpPr>
        <p:spPr>
          <a:xfrm>
            <a:off x="7479792" y="1938528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F4F8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36576" bIns="18288">
            <a:noAutofit/>
          </a:bodyPr>
          <a:lstStyle/>
          <a:p>
            <a:pPr algn="l"/>
            <a:r>
              <a:rPr sz="850" b="1" i="0">
                <a:solidFill>
                  <a:srgbClr val="003366"/>
                </a:solidFill>
                <a:latin typeface="Arial"/>
              </a:rPr>
              <a:t>Amazon DynamoDB</a:t>
            </a:r>
          </a:p>
          <a:p>
            <a:pPr algn="l"/>
            <a:r>
              <a:rPr sz="700" b="0" i="0">
                <a:solidFill>
                  <a:srgbClr val="4B5563"/>
                </a:solidFill>
                <a:latin typeface="Arial"/>
              </a:rPr>
              <a:t>single table · PITR</a:t>
            </a:r>
          </a:p>
          <a:p>
            <a:pPr algn="l"/>
            <a:r>
              <a:rPr sz="650" b="0" i="1">
                <a:solidFill>
                  <a:srgbClr val="15803D"/>
                </a:solidFill>
                <a:latin typeface="Arial"/>
              </a:rPr>
              <a:t>local: in-memory stores</a:t>
            </a:r>
          </a:p>
        </p:txBody>
      </p:sp>
      <p:sp>
        <p:nvSpPr>
          <p:cNvPr id="17428" name="Amazon S3"/>
          <p:cNvSpPr/>
          <p:nvPr/>
        </p:nvSpPr>
        <p:spPr>
          <a:xfrm>
            <a:off x="7479792" y="2596896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F4F8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36576" bIns="18288">
            <a:noAutofit/>
          </a:bodyPr>
          <a:lstStyle/>
          <a:p>
            <a:pPr algn="l"/>
            <a:r>
              <a:rPr sz="850" b="1" i="0">
                <a:solidFill>
                  <a:srgbClr val="003366"/>
                </a:solidFill>
                <a:latin typeface="Arial"/>
              </a:rPr>
              <a:t>Amazon S3</a:t>
            </a:r>
          </a:p>
          <a:p>
            <a:pPr algn="l"/>
            <a:r>
              <a:rPr sz="700" b="0" i="0">
                <a:solidFill>
                  <a:srgbClr val="4B5563"/>
                </a:solidFill>
                <a:latin typeface="Arial"/>
              </a:rPr>
              <a:t>audit reports · private</a:t>
            </a:r>
          </a:p>
        </p:txBody>
      </p:sp>
      <p:sp>
        <p:nvSpPr>
          <p:cNvPr id="17429" name="Amazon Bedrock"/>
          <p:cNvSpPr/>
          <p:nvPr/>
        </p:nvSpPr>
        <p:spPr>
          <a:xfrm>
            <a:off x="7479792" y="3145536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F4F8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36576" bIns="18288">
            <a:noAutofit/>
          </a:bodyPr>
          <a:lstStyle/>
          <a:p>
            <a:pPr algn="l"/>
            <a:r>
              <a:rPr sz="850" b="1" i="0">
                <a:solidFill>
                  <a:srgbClr val="003366"/>
                </a:solidFill>
                <a:latin typeface="Arial"/>
              </a:rPr>
              <a:t>Amazon Bedrock</a:t>
            </a:r>
          </a:p>
          <a:p>
            <a:pPr algn="l"/>
            <a:r>
              <a:rPr sz="700" b="0" i="0">
                <a:solidFill>
                  <a:srgbClr val="4B5563"/>
                </a:solidFill>
                <a:latin typeface="Arial"/>
              </a:rPr>
              <a:t>advisory summaries only</a:t>
            </a:r>
          </a:p>
          <a:p>
            <a:pPr algn="l"/>
            <a:r>
              <a:rPr sz="650" b="0" i="1">
                <a:solidFill>
                  <a:srgbClr val="15803D"/>
                </a:solidFill>
                <a:latin typeface="Arial"/>
              </a:rPr>
              <a:t>local: mock templates</a:t>
            </a:r>
          </a:p>
        </p:txBody>
      </p:sp>
      <p:sp>
        <p:nvSpPr>
          <p:cNvPr id="17430" name="Amazon SQS · dead-letter queue"/>
          <p:cNvSpPr/>
          <p:nvPr/>
        </p:nvSpPr>
        <p:spPr>
          <a:xfrm>
            <a:off x="6053328" y="4041648"/>
            <a:ext cx="2569464" cy="457200"/>
          </a:xfrm>
          <a:prstGeom prst="roundRect">
            <a:avLst>
              <a:gd name="adj" fmla="val 16000"/>
            </a:avLst>
          </a:prstGeom>
          <a:solidFill>
            <a:srgbClr val="F4F8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36576" bIns="18288">
            <a:noAutofit/>
          </a:bodyPr>
          <a:lstStyle/>
          <a:p>
            <a:pPr algn="l"/>
            <a:r>
              <a:rPr sz="850" b="1" i="0">
                <a:solidFill>
                  <a:srgbClr val="003366"/>
                </a:solidFill>
                <a:latin typeface="Arial"/>
              </a:rPr>
              <a:t>Amazon SQS · dead-letter queue</a:t>
            </a:r>
          </a:p>
          <a:p>
            <a:pPr algn="l"/>
            <a:r>
              <a:rPr sz="700" b="0" i="0">
                <a:solidFill>
                  <a:srgbClr val="4B5563"/>
                </a:solidFill>
                <a:latin typeface="Arial"/>
              </a:rPr>
              <a:t>failed rule targets after 2 retries</a:t>
            </a:r>
          </a:p>
        </p:txBody>
      </p:sp>
      <p:sp>
        <p:nvSpPr>
          <p:cNvPr id="17431" name="Lambda · realtime fan-out"/>
          <p:cNvSpPr/>
          <p:nvPr/>
        </p:nvSpPr>
        <p:spPr>
          <a:xfrm>
            <a:off x="3511296" y="4114800"/>
            <a:ext cx="1243584" cy="713232"/>
          </a:xfrm>
          <a:prstGeom prst="roundRect">
            <a:avLst>
              <a:gd name="adj" fmla="val 10256"/>
            </a:avLst>
          </a:prstGeom>
          <a:solidFill>
            <a:srgbClr val="F4F8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36576" bIns="18288">
            <a:noAutofit/>
          </a:bodyPr>
          <a:lstStyle/>
          <a:p>
            <a:pPr algn="l"/>
            <a:r>
              <a:rPr sz="850" b="1" i="0">
                <a:solidFill>
                  <a:srgbClr val="003366"/>
                </a:solidFill>
                <a:latin typeface="Arial"/>
              </a:rPr>
              <a:t>Lambda · realtime fan-out</a:t>
            </a:r>
          </a:p>
          <a:p>
            <a:pPr algn="l"/>
            <a:r>
              <a:rPr sz="700" b="0" i="0">
                <a:solidFill>
                  <a:srgbClr val="4B5563"/>
                </a:solidFill>
                <a:latin typeface="Arial"/>
              </a:rPr>
              <a:t>per-recipient delivery</a:t>
            </a:r>
          </a:p>
        </p:txBody>
      </p:sp>
      <p:sp>
        <p:nvSpPr>
          <p:cNvPr id="17432" name="API Gateway · WebSocket"/>
          <p:cNvSpPr/>
          <p:nvPr/>
        </p:nvSpPr>
        <p:spPr>
          <a:xfrm>
            <a:off x="1938528" y="4114800"/>
            <a:ext cx="1389888" cy="713232"/>
          </a:xfrm>
          <a:prstGeom prst="roundRect">
            <a:avLst>
              <a:gd name="adj" fmla="val 10256"/>
            </a:avLst>
          </a:prstGeom>
          <a:solidFill>
            <a:srgbClr val="F4F8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36576" bIns="18288">
            <a:noAutofit/>
          </a:bodyPr>
          <a:lstStyle/>
          <a:p>
            <a:pPr algn="l"/>
            <a:r>
              <a:rPr sz="850" b="1" i="0">
                <a:solidFill>
                  <a:srgbClr val="003366"/>
                </a:solidFill>
                <a:latin typeface="Arial"/>
              </a:rPr>
              <a:t>API Gateway · WebSocket</a:t>
            </a:r>
          </a:p>
          <a:p>
            <a:pPr algn="l"/>
            <a:r>
              <a:rPr sz="700" b="0" i="0">
                <a:solidFill>
                  <a:srgbClr val="4B5563"/>
                </a:solidFill>
                <a:latin typeface="Arial"/>
              </a:rPr>
              <a:t>IAM-authorised connect</a:t>
            </a:r>
          </a:p>
          <a:p>
            <a:pPr algn="l"/>
            <a:r>
              <a:rPr sz="650" b="0" i="1">
                <a:solidFill>
                  <a:srgbClr val="15803D"/>
                </a:solidFill>
                <a:latin typeface="Arial"/>
              </a:rPr>
              <a:t>local: Socket.IO</a:t>
            </a:r>
          </a:p>
        </p:txBody>
      </p:sp>
      <p:sp>
        <p:nvSpPr>
          <p:cNvPr id="17433" name="Amazon CloudWatch"/>
          <p:cNvSpPr/>
          <p:nvPr/>
        </p:nvSpPr>
        <p:spPr>
          <a:xfrm>
            <a:off x="1938528" y="5084064"/>
            <a:ext cx="6684264" cy="384048"/>
          </a:xfrm>
          <a:prstGeom prst="roundRect">
            <a:avLst>
              <a:gd name="adj" fmla="val 19047"/>
            </a:avLst>
          </a:prstGeom>
          <a:solidFill>
            <a:srgbClr val="F4F8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36576" bIns="0">
            <a:noAutofit/>
          </a:bodyPr>
          <a:lstStyle/>
          <a:p>
            <a:pPr algn="l"/>
            <a:r>
              <a:rPr sz="850" b="1" i="0">
                <a:solidFill>
                  <a:srgbClr val="003366"/>
                </a:solidFill>
                <a:latin typeface="Arial"/>
              </a:rPr>
              <a:t>Amazon CloudWatch</a:t>
            </a:r>
            <a:r>
              <a:rPr sz="700" b="0" i="0">
                <a:solidFill>
                  <a:srgbClr val="4B5563"/>
                </a:solidFill>
                <a:latin typeface="Arial"/>
              </a:rPr>
              <a:t>   metrics, dashboard and two alarms for the operational event mesh</a:t>
            </a:r>
          </a:p>
        </p:txBody>
      </p:sp>
      <p:sp>
        <p:nvSpPr>
          <p:cNvPr id="17434" name="Clinical records not in the stack"/>
          <p:cNvSpPr/>
          <p:nvPr/>
        </p:nvSpPr>
        <p:spPr>
          <a:xfrm>
            <a:off x="1938528" y="5559552"/>
            <a:ext cx="6684264" cy="384048"/>
          </a:xfrm>
          <a:prstGeom prst="roundRect">
            <a:avLst>
              <a:gd name="adj" fmla="val 19047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36576" bIns="0">
            <a:noAutofit/>
          </a:bodyPr>
          <a:lstStyle/>
          <a:p>
            <a:pPr algn="l"/>
            <a:r>
              <a:rPr sz="750" b="1" i="0">
                <a:solidFill>
                  <a:srgbClr val="B45309"/>
                </a:solidFill>
                <a:latin typeface="Arial"/>
              </a:rPr>
              <a:t>Not in this stack: </a:t>
            </a:r>
            <a:r>
              <a:rPr sz="750" b="0" i="0">
                <a:solidFill>
                  <a:srgbClr val="1F2937"/>
                </a:solidFill>
                <a:latin typeface="Arial"/>
              </a:rPr>
              <a:t>clinical records, documents and the doctor workspace exist only in the local API today.</a:t>
            </a:r>
          </a:p>
        </p:txBody>
      </p:sp>
      <p:cxnSp>
        <p:nvCxnSpPr>
          <p:cNvPr id="17435" name="Commands in"/>
          <p:cNvCxnSpPr/>
          <p:nvPr/>
        </p:nvCxnSpPr>
        <p:spPr>
          <a:xfrm flipV="1">
            <a:off x="1481328" y="2395728"/>
            <a:ext cx="438912" cy="438912"/>
          </a:xfrm>
          <a:prstGeom prst="line">
            <a:avLst/>
          </a:prstGeom>
          <a:ln w="1905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6" name="Connector 17435"/>
          <p:cNvCxnSpPr/>
          <p:nvPr/>
        </p:nvCxnSpPr>
        <p:spPr>
          <a:xfrm>
            <a:off x="3346704" y="2295144"/>
            <a:ext cx="146304" cy="0"/>
          </a:xfrm>
          <a:prstGeom prst="line">
            <a:avLst/>
          </a:prstGeom>
          <a:ln w="1905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7" name="Put events"/>
          <p:cNvCxnSpPr/>
          <p:nvPr/>
        </p:nvCxnSpPr>
        <p:spPr>
          <a:xfrm>
            <a:off x="4773168" y="2295144"/>
            <a:ext cx="146304" cy="0"/>
          </a:xfrm>
          <a:prstGeom prst="line">
            <a:avLst/>
          </a:prstGeom>
          <a:ln w="1905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8" name="Authorizer"/>
          <p:cNvCxnSpPr/>
          <p:nvPr/>
        </p:nvCxnSpPr>
        <p:spPr>
          <a:xfrm flipV="1">
            <a:off x="2633472" y="2670048"/>
            <a:ext cx="0" cy="219456"/>
          </a:xfrm>
          <a:prstGeom prst="line">
            <a:avLst/>
          </a:prstGeom>
          <a:ln w="12700">
            <a:solidFill>
              <a:srgbClr val="4B556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TextBox 17438"/>
          <p:cNvSpPr txBox="1"/>
          <p:nvPr/>
        </p:nvSpPr>
        <p:spPr>
          <a:xfrm>
            <a:off x="2688336" y="267004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50" b="0" i="1">
                <a:solidFill>
                  <a:srgbClr val="4B5563"/>
                </a:solidFill>
                <a:latin typeface="Arial"/>
              </a:rPr>
              <a:t>authorizer</a:t>
            </a:r>
          </a:p>
        </p:txBody>
      </p:sp>
      <p:cxnSp>
        <p:nvCxnSpPr>
          <p:cNvPr id="17440" name="Rules to processors"/>
          <p:cNvCxnSpPr/>
          <p:nvPr/>
        </p:nvCxnSpPr>
        <p:spPr>
          <a:xfrm>
            <a:off x="5888736" y="2834640"/>
            <a:ext cx="146304" cy="0"/>
          </a:xfrm>
          <a:prstGeom prst="line">
            <a:avLst/>
          </a:prstGeom>
          <a:ln w="1905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1" name="Connector 17440"/>
          <p:cNvCxnSpPr/>
          <p:nvPr/>
        </p:nvCxnSpPr>
        <p:spPr>
          <a:xfrm>
            <a:off x="7351776" y="2221992"/>
            <a:ext cx="109728" cy="0"/>
          </a:xfrm>
          <a:prstGeom prst="line">
            <a:avLst/>
          </a:prstGeom>
          <a:ln w="1587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2" name="Connector 17441"/>
          <p:cNvCxnSpPr/>
          <p:nvPr/>
        </p:nvCxnSpPr>
        <p:spPr>
          <a:xfrm>
            <a:off x="7351776" y="2825496"/>
            <a:ext cx="109728" cy="0"/>
          </a:xfrm>
          <a:prstGeom prst="line">
            <a:avLst/>
          </a:prstGeom>
          <a:ln w="1587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3" name="Connector 17442"/>
          <p:cNvCxnSpPr/>
          <p:nvPr/>
        </p:nvCxnSpPr>
        <p:spPr>
          <a:xfrm>
            <a:off x="7351776" y="3429000"/>
            <a:ext cx="109728" cy="0"/>
          </a:xfrm>
          <a:prstGeom prst="line">
            <a:avLst/>
          </a:prstGeom>
          <a:ln w="1587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4" name="Failed targets"/>
          <p:cNvCxnSpPr/>
          <p:nvPr/>
        </p:nvCxnSpPr>
        <p:spPr>
          <a:xfrm>
            <a:off x="5888736" y="4270248"/>
            <a:ext cx="146304" cy="0"/>
          </a:xfrm>
          <a:prstGeom prst="line">
            <a:avLst/>
          </a:prstGeom>
          <a:ln w="1587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5" name="Realtime broadcast rule"/>
          <p:cNvCxnSpPr/>
          <p:nvPr/>
        </p:nvCxnSpPr>
        <p:spPr>
          <a:xfrm flipH="1">
            <a:off x="4773168" y="4471416"/>
            <a:ext cx="146304" cy="0"/>
          </a:xfrm>
          <a:prstGeom prst="line">
            <a:avLst/>
          </a:prstGeom>
          <a:ln w="1905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6" name="Push to sockets"/>
          <p:cNvCxnSpPr/>
          <p:nvPr/>
        </p:nvCxnSpPr>
        <p:spPr>
          <a:xfrm flipH="1">
            <a:off x="3346704" y="4471416"/>
            <a:ext cx="146304" cy="0"/>
          </a:xfrm>
          <a:prstGeom prst="line">
            <a:avLst/>
          </a:prstGeom>
          <a:ln w="1905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7" name="Live events out"/>
          <p:cNvCxnSpPr/>
          <p:nvPr/>
        </p:nvCxnSpPr>
        <p:spPr>
          <a:xfrm flipH="1" flipV="1">
            <a:off x="1371600" y="3657600"/>
            <a:ext cx="548640" cy="685800"/>
          </a:xfrm>
          <a:prstGeom prst="line">
            <a:avLst/>
          </a:prstGeom>
          <a:ln w="19050">
            <a:solidFill>
              <a:srgbClr val="0070C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TextBox 17447"/>
          <p:cNvSpPr txBox="1"/>
          <p:nvPr/>
        </p:nvSpPr>
        <p:spPr>
          <a:xfrm>
            <a:off x="3657600" y="3767328"/>
            <a:ext cx="1261872" cy="29260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650" b="0" i="1">
                <a:solidFill>
                  <a:srgbClr val="4B5563"/>
                </a:solidFill>
                <a:latin typeface="Arial"/>
              </a:rPr>
              <a:t>realtime rule (never the</a:t>
            </a:r>
          </a:p>
          <a:p>
            <a:pPr algn="r"/>
            <a:r>
              <a:rPr sz="650" b="0" i="1">
                <a:solidFill>
                  <a:srgbClr val="4B5563"/>
                </a:solidFill>
                <a:latin typeface="Arial"/>
              </a:rPr>
              <a:t>feasibility trace)</a:t>
            </a:r>
          </a:p>
        </p:txBody>
      </p:sp>
      <p:sp>
        <p:nvSpPr>
          <p:cNvPr id="17449" name="Status: ✓ IMPLEMENTED &amp; VERIFIED LOCALLY"/>
          <p:cNvSpPr/>
          <p:nvPr/>
        </p:nvSpPr>
        <p:spPr>
          <a:xfrm>
            <a:off x="8942832" y="1554480"/>
            <a:ext cx="2514600" cy="1078992"/>
          </a:xfrm>
          <a:prstGeom prst="roundRect">
            <a:avLst>
              <a:gd name="adj" fmla="val 10169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36576">
            <a:noAutofit/>
          </a:bodyPr>
          <a:lstStyle/>
          <a:p>
            <a:pPr algn="l"/>
            <a:r>
              <a:rPr sz="850" b="1" i="0">
                <a:solidFill>
                  <a:srgbClr val="15803D"/>
                </a:solidFill>
                <a:latin typeface="Arial"/>
              </a:rPr>
              <a:t>✓ IMPLEMENTED &amp; VERIFIED LOCALLY</a:t>
            </a:r>
          </a:p>
          <a:p>
            <a:pPr algn="l">
              <a:spcBef>
                <a:spcPts val="200"/>
              </a:spcBef>
            </a:pPr>
            <a:r>
              <a:rPr sz="800" b="0" i="0">
                <a:solidFill>
                  <a:srgbClr val="1F2937"/>
                </a:solidFill>
                <a:latin typeface="Arial"/>
              </a:rPr>
              <a:t>The same logic runs in the local API (green “local” notes); the 7 Lambda bundles build and load; cdk synth passes.</a:t>
            </a:r>
          </a:p>
        </p:txBody>
      </p:sp>
      <p:sp>
        <p:nvSpPr>
          <p:cNvPr id="17450" name="Status: DEFINED IN CODE (CDK)"/>
          <p:cNvSpPr/>
          <p:nvPr/>
        </p:nvSpPr>
        <p:spPr>
          <a:xfrm>
            <a:off x="8942832" y="2743200"/>
            <a:ext cx="2514600" cy="841248"/>
          </a:xfrm>
          <a:prstGeom prst="roundRect">
            <a:avLst>
              <a:gd name="adj" fmla="val 13043"/>
            </a:avLst>
          </a:prstGeom>
          <a:solidFill>
            <a:srgbClr val="E8F1FA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36576">
            <a:noAutofit/>
          </a:bodyPr>
          <a:lstStyle/>
          <a:p>
            <a:pPr algn="l"/>
            <a:r>
              <a:rPr sz="850" b="1" i="0">
                <a:solidFill>
                  <a:srgbClr val="0070C0"/>
                </a:solidFill>
                <a:latin typeface="Arial"/>
              </a:rPr>
              <a:t>DEFINED IN CODE (CDK)</a:t>
            </a:r>
          </a:p>
          <a:p>
            <a:pPr algn="l">
              <a:spcBef>
                <a:spcPts val="200"/>
              </a:spcBef>
            </a:pPr>
            <a:r>
              <a:rPr sz="800" b="0" i="0">
                <a:solidFill>
                  <a:srgbClr val="1F2937"/>
                </a:solidFill>
                <a:latin typeface="Arial"/>
              </a:rPr>
              <a:t>Every AWS resource on this slide — synthesized, never deployed.</a:t>
            </a:r>
          </a:p>
        </p:txBody>
      </p:sp>
      <p:sp>
        <p:nvSpPr>
          <p:cNvPr id="17451" name="Status: NOT TESTED AGAINST LIVE AWS"/>
          <p:cNvSpPr/>
          <p:nvPr/>
        </p:nvSpPr>
        <p:spPr>
          <a:xfrm>
            <a:off x="8942832" y="3694176"/>
            <a:ext cx="2514600" cy="1078992"/>
          </a:xfrm>
          <a:prstGeom prst="roundRect">
            <a:avLst>
              <a:gd name="adj" fmla="val 10169"/>
            </a:avLst>
          </a:prstGeom>
          <a:solidFill>
            <a:srgbClr val="F3F4F6"/>
          </a:solidFill>
          <a:ln w="1587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36576">
            <a:noAutofit/>
          </a:bodyPr>
          <a:lstStyle/>
          <a:p>
            <a:pPr algn="l"/>
            <a:r>
              <a:rPr sz="850" b="1" i="0">
                <a:solidFill>
                  <a:srgbClr val="4B5563"/>
                </a:solidFill>
                <a:latin typeface="Arial"/>
              </a:rPr>
              <a:t>NOT TESTED AGAINST LIVE AWS</a:t>
            </a:r>
          </a:p>
          <a:p>
            <a:pPr algn="l">
              <a:spcBef>
                <a:spcPts val="200"/>
              </a:spcBef>
            </a:pPr>
            <a:r>
              <a:rPr sz="800" b="0" i="0">
                <a:solidFill>
                  <a:srgbClr val="1F2937"/>
                </a:solidFill>
                <a:latin typeface="Arial"/>
              </a:rPr>
              <a:t>Cognito tokens (fixtures only) · DynamoDB store · WebSocket fan-out · Bedrock (failure path only).</a:t>
            </a:r>
          </a:p>
        </p:txBody>
      </p:sp>
      <p:sp>
        <p:nvSpPr>
          <p:cNvPr id="17452" name="Status: PLANNED"/>
          <p:cNvSpPr/>
          <p:nvPr/>
        </p:nvSpPr>
        <p:spPr>
          <a:xfrm>
            <a:off x="8942832" y="4882896"/>
            <a:ext cx="2514600" cy="1188720"/>
          </a:xfrm>
          <a:prstGeom prst="roundRect">
            <a:avLst>
              <a:gd name="adj" fmla="val 9230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36576">
            <a:noAutofit/>
          </a:bodyPr>
          <a:lstStyle/>
          <a:p>
            <a:pPr algn="l"/>
            <a:r>
              <a:rPr sz="850" b="1" i="0">
                <a:solidFill>
                  <a:srgbClr val="B45309"/>
                </a:solidFill>
                <a:latin typeface="Arial"/>
              </a:rPr>
              <a:t>PLANNED</a:t>
            </a:r>
          </a:p>
          <a:p>
            <a:pPr algn="l">
              <a:spcBef>
                <a:spcPts val="200"/>
              </a:spcBef>
            </a:pPr>
            <a:r>
              <a:rPr sz="800" b="0" i="0">
                <a:solidFill>
                  <a:srgbClr val="1F2937"/>
                </a:solidFill>
                <a:latin typeface="Arial"/>
              </a:rPr>
              <a:t>Clinical records on AWS (APIs, tables, S3 document storage) · deployment and live end-to-end tests · monitoring of clinical paths.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7494</TotalTime>
  <Words>144</Words>
  <Application>Microsoft Office PowerPoint</Application>
  <PresentationFormat>Widescreen</PresentationFormat>
  <Paragraphs>37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IDE BOOTCAMP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Saikat Shil</cp:lastModifiedBy>
  <cp:revision>149</cp:revision>
  <dcterms:created xsi:type="dcterms:W3CDTF">2013-12-12T18:46:50Z</dcterms:created>
  <dcterms:modified xsi:type="dcterms:W3CDTF">2026-10-13T07:04:02Z</dcterms:modified>
  <cp:category/>
</cp:coreProperties>
</file>